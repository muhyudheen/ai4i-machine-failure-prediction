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4b00388-cc96-7686-db87-18cdc7c248cf}">
          <p14:sldIdLst>
            <p14:sldId id="256"/>
          </p14:sldIdLst>
        </p14:section>
        <p14:section name="Problem and data" id="{0e9572da-e4b8-9f7a-9509-c93c7384c751}">
          <p14:sldIdLst>
            <p14:sldId id="257"/>
            <p14:sldId id="258"/>
          </p14:sldIdLst>
        </p14:section>
        <p14:section name="Method" id="{7d8b0075-b957-e982-0a47-68d7b4d6bf7d}">
          <p14:sldIdLst>
            <p14:sldId id="259"/>
          </p14:sldIdLst>
        </p14:section>
        <p14:section name="Results" id="{0aa2a0b8-9605-38d1-19da-9a1eabb9a4eb}">
          <p14:sldIdLst>
            <p14:sldId id="260"/>
            <p14:sldId id="261"/>
          </p14:sldIdLst>
        </p14:section>
        <p14:section name="Close" id="{dc6645ad-1e86-4a3f-64dd-922d8115d3b3}">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1A2B"/>
                </a:solidFill>
                <a:latin typeface="+mn-lt"/>
              </a:defRPr>
            </a:pPr>
            <a:r>
              <a:rPr sz="1400" b="0" i="0" u="none" strike="noStrike">
                <a:solidFill>
                  <a:srgbClr val="0E1A2B"/>
                </a:solidFill>
                <a:latin typeface="+mn-lt"/>
              </a:rPr>
              <a:t>Failure types (a run can have two)</a:t>
            </a:r>
          </a:p>
        </c:rich>
      </c:tx>
      <c:layout/>
      <c:overlay val="0"/>
    </c:title>
    <c:autoTitleDeleted val="0"/>
    <c:plotArea>
      <c:layout/>
      <c:barChart>
        <c:barDir val="bar"/>
        <c:grouping val="clustered"/>
        <c:varyColors val="0"/>
        <c:ser>
          <c:idx val="0"/>
          <c:order val="0"/>
          <c:tx>
            <c:strRef>
              <c:f>Sheet1!$B$1</c:f>
              <c:strCache>
                <c:ptCount val="1"/>
                <c:pt idx="0">
                  <c:v>Runs</c:v>
                </c:pt>
              </c:strCache>
            </c:strRef>
          </c:tx>
          <c:spPr>
            <a:solidFill>
              <a:srgbClr val="2A78D6"/>
            </a:solidFill>
            <a:effectLst/>
          </c:spPr>
          <c:invertIfNegative val="0"/>
          <c:dLbls>
            <c:numFmt formatCode="#,##0" sourceLinked="0"/>
            <c:txPr>
              <a:bodyPr/>
              <a:lstStyle/>
              <a:p>
                <a:pPr>
                  <a:defRPr b="0" i="0" strike="noStrike" sz="1200" u="none">
                    <a:solidFill>
                      <a:srgbClr val="0E1A2B"/>
                    </a:solidFill>
                    <a:latin typeface="+mn-lt"/>
                  </a:defRPr>
                </a:pPr>
              </a:p>
            </c:txPr>
            <c:showLegendKey val="0"/>
            <c:showVal val="1"/>
            <c:showCatName val="0"/>
            <c:showSerName val="0"/>
            <c:showPercent val="0"/>
            <c:showBubbleSize val="0"/>
            <c:showLeaderLines val="0"/>
          </c:dLbls>
          <c:cat>
            <c:multiLvlStrRef>
              <c:f>Sheet1!$A$2:$A$6</c:f>
              <c:multiLvlStrCache>
                <c:ptCount val="5"/>
                <c:lvl>
                  <c:pt idx="0">
                    <c:v>Heat dissipation</c:v>
                  </c:pt>
                  <c:pt idx="1">
                    <c:v>Overstrain</c:v>
                  </c:pt>
                  <c:pt idx="2">
                    <c:v>Power</c:v>
                  </c:pt>
                  <c:pt idx="3">
                    <c:v>Tool wear</c:v>
                  </c:pt>
                  <c:pt idx="4">
                    <c:v>Random</c:v>
                  </c:pt>
                </c:lvl>
              </c:multiLvlStrCache>
            </c:multiLvlStrRef>
          </c:cat>
          <c:val>
            <c:numRef>
              <c:f>Sheet1!$B$2:$B$6</c:f>
              <c:numCache>
                <c:formatCode>General</c:formatCode>
                <c:ptCount val="5"/>
                <c:pt idx="0">
                  <c:v>115</c:v>
                </c:pt>
                <c:pt idx="1">
                  <c:v>98</c:v>
                </c:pt>
                <c:pt idx="2">
                  <c:v>95</c:v>
                </c:pt>
                <c:pt idx="3">
                  <c:v>46</c:v>
                </c:pt>
                <c:pt idx="4">
                  <c:v>19</c:v>
                </c:pt>
              </c:numCache>
            </c:numRef>
          </c:val>
        </c:ser>
        <c:dLbls>
          <c:numFmt formatCode="#,##0" sourceLinked="0"/>
          <c:txPr>
            <a:bodyPr/>
            <a:lstStyle/>
            <a:p>
              <a:pPr>
                <a:defRPr b="0" i="0" strike="noStrike" sz="1200" u="none">
                  <a:solidFill>
                    <a:srgbClr val="0E1A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E6B7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1A2B"/>
                </a:solidFill>
                <a:latin typeface="+mn-lt"/>
              </a:defRPr>
            </a:pPr>
            <a:r>
              <a:rPr sz="1400" b="0" i="0" u="none" strike="noStrike">
                <a:solidFill>
                  <a:srgbClr val="0E1A2B"/>
                </a:solidFill>
                <a:latin typeface="+mn-lt"/>
              </a:rPr>
              <a:t>Precision–recall: the score we use</a:t>
            </a:r>
          </a:p>
        </c:rich>
      </c:tx>
      <c:layout/>
      <c:overlay val="0"/>
    </c:title>
    <c:autoTitleDeleted val="0"/>
    <c:plotArea>
      <c:layout/>
      <c:scatterChart>
        <c:scatterStyle val="lineMarker"/>
        <c:varyColors val="0"/>
        <c:ser>
          <c:idx val="0"/>
          <c:order val="0"/>
          <c:tx>
            <c:strRef>
              <c:f>Sheet1!$B$1</c:f>
              <c:strCache>
                <c:ptCount val="1"/>
                <c:pt idx="0">
                  <c:v>Random Forest  (0.913)</c:v>
                </c:pt>
              </c:strCache>
            </c:strRef>
          </c:tx>
          <c:spPr>
            <a:solidFill>
              <a:srgbClr val="EB6834"/>
            </a:solidFill>
            <a:ln w="31750" cap="flat">
              <a:solidFill>
                <a:srgbClr val="EB6834"/>
              </a:solidFill>
              <a:prstDash val="solid"/>
              <a:round/>
            </a:ln>
            <a:effectLst/>
          </c:spPr>
          <c:marker>
            <c:symbol val="none"/>
            <c:size val="6"/>
            <c:spPr>
              <a:solidFill>
                <a:srgbClr val="EB6834"/>
              </a:solidFill>
              <a:ln w="9525" cap="flat">
                <a:solidFill>
                  <a:srgbClr val="EB6834"/>
                </a:solidFill>
                <a:prstDash val="solid"/>
                <a:round/>
              </a:ln>
              <a:effectLst/>
            </c:spPr>
          </c:marker>
          <c:xVal>
            <c:numRef>
              <c:f>Sheet1!$A$2:$A$102</c:f>
              <c:numCache>
                <c:formatCode>General</c:formatCode>
                <c:ptCount val="101"/>
                <c:pt idx="0">
                  <c:v>0</c:v>
                </c:pt>
                <c:pt idx="1">
                  <c:v>0.01</c:v>
                </c:pt>
                <c:pt idx="2">
                  <c:v>0.02</c:v>
                </c:pt>
                <c:pt idx="3">
                  <c:v>0.03</c:v>
                </c:pt>
                <c:pt idx="4">
                  <c:v>0.04</c:v>
                </c:pt>
                <c:pt idx="5">
                  <c:v>0.05</c:v>
                </c:pt>
                <c:pt idx="6">
                  <c:v>0.06</c:v>
                </c:pt>
                <c:pt idx="7">
                  <c:v>0.07</c:v>
                </c:pt>
                <c:pt idx="8">
                  <c:v>0.08</c:v>
                </c:pt>
                <c:pt idx="9">
                  <c:v>0.09</c:v>
                </c:pt>
                <c:pt idx="10">
                  <c:v>0.1</c:v>
                </c:pt>
                <c:pt idx="11">
                  <c:v>0.11</c:v>
                </c:pt>
                <c:pt idx="12">
                  <c:v>0.12</c:v>
                </c:pt>
                <c:pt idx="13">
                  <c:v>0.13</c:v>
                </c:pt>
                <c:pt idx="14">
                  <c:v>0.14</c:v>
                </c:pt>
                <c:pt idx="15">
                  <c:v>0.15</c:v>
                </c:pt>
                <c:pt idx="16">
                  <c:v>0.16</c:v>
                </c:pt>
                <c:pt idx="17">
                  <c:v>0.17</c:v>
                </c:pt>
                <c:pt idx="18">
                  <c:v>0.18</c:v>
                </c:pt>
                <c:pt idx="19">
                  <c:v>0.19</c:v>
                </c:pt>
                <c:pt idx="20">
                  <c:v>0.2</c:v>
                </c:pt>
                <c:pt idx="21">
                  <c:v>0.21</c:v>
                </c:pt>
                <c:pt idx="22">
                  <c:v>0.22</c:v>
                </c:pt>
                <c:pt idx="23">
                  <c:v>0.23</c:v>
                </c:pt>
                <c:pt idx="24">
                  <c:v>0.24</c:v>
                </c:pt>
                <c:pt idx="25">
                  <c:v>0.25</c:v>
                </c:pt>
                <c:pt idx="26">
                  <c:v>0.26</c:v>
                </c:pt>
                <c:pt idx="27">
                  <c:v>0.27</c:v>
                </c:pt>
                <c:pt idx="28">
                  <c:v>0.28</c:v>
                </c:pt>
                <c:pt idx="29">
                  <c:v>0.29</c:v>
                </c:pt>
                <c:pt idx="30">
                  <c:v>0.3</c:v>
                </c:pt>
                <c:pt idx="31">
                  <c:v>0.31</c:v>
                </c:pt>
                <c:pt idx="32">
                  <c:v>0.32</c:v>
                </c:pt>
                <c:pt idx="33">
                  <c:v>0.33</c:v>
                </c:pt>
                <c:pt idx="34">
                  <c:v>0.34</c:v>
                </c:pt>
                <c:pt idx="35">
                  <c:v>0.35</c:v>
                </c:pt>
                <c:pt idx="36">
                  <c:v>0.36</c:v>
                </c:pt>
                <c:pt idx="37">
                  <c:v>0.37</c:v>
                </c:pt>
                <c:pt idx="38">
                  <c:v>0.38</c:v>
                </c:pt>
                <c:pt idx="39">
                  <c:v>0.39</c:v>
                </c:pt>
                <c:pt idx="40">
                  <c:v>0.4</c:v>
                </c:pt>
                <c:pt idx="41">
                  <c:v>0.41</c:v>
                </c:pt>
                <c:pt idx="42">
                  <c:v>0.42</c:v>
                </c:pt>
                <c:pt idx="43">
                  <c:v>0.43</c:v>
                </c:pt>
                <c:pt idx="44">
                  <c:v>0.44</c:v>
                </c:pt>
                <c:pt idx="45">
                  <c:v>0.45</c:v>
                </c:pt>
                <c:pt idx="46">
                  <c:v>0.46</c:v>
                </c:pt>
                <c:pt idx="47">
                  <c:v>0.47</c:v>
                </c:pt>
                <c:pt idx="48">
                  <c:v>0.48</c:v>
                </c:pt>
                <c:pt idx="49">
                  <c:v>0.49</c:v>
                </c:pt>
                <c:pt idx="50">
                  <c:v>0.5</c:v>
                </c:pt>
                <c:pt idx="51">
                  <c:v>0.51</c:v>
                </c:pt>
                <c:pt idx="52">
                  <c:v>0.52</c:v>
                </c:pt>
                <c:pt idx="53">
                  <c:v>0.53</c:v>
                </c:pt>
                <c:pt idx="54">
                  <c:v>0.54</c:v>
                </c:pt>
                <c:pt idx="55">
                  <c:v>0.55</c:v>
                </c:pt>
                <c:pt idx="56">
                  <c:v>0.56</c:v>
                </c:pt>
                <c:pt idx="57">
                  <c:v>0.57</c:v>
                </c:pt>
                <c:pt idx="58">
                  <c:v>0.58</c:v>
                </c:pt>
                <c:pt idx="59">
                  <c:v>0.59</c:v>
                </c:pt>
                <c:pt idx="60">
                  <c:v>0.6</c:v>
                </c:pt>
                <c:pt idx="61">
                  <c:v>0.61</c:v>
                </c:pt>
                <c:pt idx="62">
                  <c:v>0.62</c:v>
                </c:pt>
                <c:pt idx="63">
                  <c:v>0.63</c:v>
                </c:pt>
                <c:pt idx="64">
                  <c:v>0.64</c:v>
                </c:pt>
                <c:pt idx="65">
                  <c:v>0.65</c:v>
                </c:pt>
                <c:pt idx="66">
                  <c:v>0.66</c:v>
                </c:pt>
                <c:pt idx="67">
                  <c:v>0.67</c:v>
                </c:pt>
                <c:pt idx="68">
                  <c:v>0.68</c:v>
                </c:pt>
                <c:pt idx="69">
                  <c:v>0.69</c:v>
                </c:pt>
                <c:pt idx="70">
                  <c:v>0.7</c:v>
                </c:pt>
                <c:pt idx="71">
                  <c:v>0.71</c:v>
                </c:pt>
                <c:pt idx="72">
                  <c:v>0.72</c:v>
                </c:pt>
                <c:pt idx="73">
                  <c:v>0.73</c:v>
                </c:pt>
                <c:pt idx="74">
                  <c:v>0.74</c:v>
                </c:pt>
                <c:pt idx="75">
                  <c:v>0.75</c:v>
                </c:pt>
                <c:pt idx="76">
                  <c:v>0.76</c:v>
                </c:pt>
                <c:pt idx="77">
                  <c:v>0.77</c:v>
                </c:pt>
                <c:pt idx="78">
                  <c:v>0.78</c:v>
                </c:pt>
                <c:pt idx="79">
                  <c:v>0.79</c:v>
                </c:pt>
                <c:pt idx="80">
                  <c:v>0.8</c:v>
                </c:pt>
                <c:pt idx="81">
                  <c:v>0.81</c:v>
                </c:pt>
                <c:pt idx="82">
                  <c:v>0.82</c:v>
                </c:pt>
                <c:pt idx="83">
                  <c:v>0.83</c:v>
                </c:pt>
                <c:pt idx="84">
                  <c:v>0.84</c:v>
                </c:pt>
                <c:pt idx="85">
                  <c:v>0.85</c:v>
                </c:pt>
                <c:pt idx="86">
                  <c:v>0.86</c:v>
                </c:pt>
                <c:pt idx="87">
                  <c:v>0.87</c:v>
                </c:pt>
                <c:pt idx="88">
                  <c:v>0.88</c:v>
                </c:pt>
                <c:pt idx="89">
                  <c:v>0.89</c:v>
                </c:pt>
                <c:pt idx="90">
                  <c:v>0.9</c:v>
                </c:pt>
                <c:pt idx="91">
                  <c:v>0.91</c:v>
                </c:pt>
                <c:pt idx="92">
                  <c:v>0.92</c:v>
                </c:pt>
                <c:pt idx="93">
                  <c:v>0.93</c:v>
                </c:pt>
                <c:pt idx="94">
                  <c:v>0.94</c:v>
                </c:pt>
                <c:pt idx="95">
                  <c:v>0.95</c:v>
                </c:pt>
                <c:pt idx="96">
                  <c:v>0.96</c:v>
                </c:pt>
                <c:pt idx="97">
                  <c:v>0.97</c:v>
                </c:pt>
                <c:pt idx="98">
                  <c:v>0.98</c:v>
                </c:pt>
                <c:pt idx="99">
                  <c:v>0.99</c:v>
                </c:pt>
                <c:pt idx="100">
                  <c:v>1</c:v>
                </c:pt>
              </c:numCache>
            </c:numRef>
          </c:xVal>
          <c:yVal>
            <c:numRef>
              <c:f>Sheet1!$B$2:$B$102</c:f>
              <c:numCache>
                <c:formatCode>General</c:formatCode>
                <c:ptCount val="10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1</c:v>
                </c:pt>
                <c:pt idx="72">
                  <c:v>1</c:v>
                </c:pt>
                <c:pt idx="73">
                  <c:v>1</c:v>
                </c:pt>
                <c:pt idx="74">
                  <c:v>1</c:v>
                </c:pt>
                <c:pt idx="75">
                  <c:v>1</c:v>
                </c:pt>
                <c:pt idx="76">
                  <c:v>1</c:v>
                </c:pt>
                <c:pt idx="77">
                  <c:v>1</c:v>
                </c:pt>
                <c:pt idx="78">
                  <c:v>1</c:v>
                </c:pt>
                <c:pt idx="79">
                  <c:v>1</c:v>
                </c:pt>
                <c:pt idx="80">
                  <c:v>0.9963</c:v>
                </c:pt>
                <c:pt idx="81">
                  <c:v>0.9825</c:v>
                </c:pt>
                <c:pt idx="82">
                  <c:v>0.9825</c:v>
                </c:pt>
                <c:pt idx="83">
                  <c:v>0.9758</c:v>
                </c:pt>
                <c:pt idx="84">
                  <c:v>0.9596</c:v>
                </c:pt>
                <c:pt idx="85">
                  <c:v>0.9323</c:v>
                </c:pt>
                <c:pt idx="86">
                  <c:v>0.7591</c:v>
                </c:pt>
                <c:pt idx="87">
                  <c:v>0.7248</c:v>
                </c:pt>
                <c:pt idx="88">
                  <c:v>0.6719</c:v>
                </c:pt>
                <c:pt idx="89">
                  <c:v>0.5655</c:v>
                </c:pt>
                <c:pt idx="90">
                  <c:v>0.5</c:v>
                </c:pt>
                <c:pt idx="91">
                  <c:v>0.4647</c:v>
                </c:pt>
                <c:pt idx="92">
                  <c:v>0.4364</c:v>
                </c:pt>
                <c:pt idx="93">
                  <c:v>0.3955</c:v>
                </c:pt>
                <c:pt idx="94">
                  <c:v>0.3867</c:v>
                </c:pt>
                <c:pt idx="95">
                  <c:v>0.3821</c:v>
                </c:pt>
                <c:pt idx="96">
                  <c:v>0.349</c:v>
                </c:pt>
                <c:pt idx="97">
                  <c:v>0.3043</c:v>
                </c:pt>
                <c:pt idx="98">
                  <c:v>0.0748</c:v>
                </c:pt>
                <c:pt idx="99">
                  <c:v>0.0439</c:v>
                </c:pt>
                <c:pt idx="100">
                  <c:v>0.0348</c:v>
                </c:pt>
              </c:numCache>
            </c:numRef>
          </c:yVal>
          <c:smooth val="0"/>
        </c:ser>
        <c:ser>
          <c:idx val="1"/>
          <c:order val="1"/>
          <c:tx>
            <c:strRef>
              <c:f>Sheet1!$C$1</c:f>
              <c:strCache>
                <c:ptCount val="1"/>
                <c:pt idx="0">
                  <c:v>XGBoost  (0.872)</c:v>
                </c:pt>
              </c:strCache>
            </c:strRef>
          </c:tx>
          <c:spPr>
            <a:solidFill>
              <a:srgbClr val="1BAF7A"/>
            </a:solidFill>
            <a:ln w="31750" cap="flat">
              <a:solidFill>
                <a:srgbClr val="1BAF7A"/>
              </a:solidFill>
              <a:prstDash val="solid"/>
              <a:round/>
            </a:ln>
            <a:effectLst/>
          </c:spPr>
          <c:marker>
            <c:symbol val="none"/>
            <c:size val="6"/>
            <c:spPr>
              <a:solidFill>
                <a:srgbClr val="1BAF7A"/>
              </a:solidFill>
              <a:ln w="9525" cap="flat">
                <a:solidFill>
                  <a:srgbClr val="1BAF7A"/>
                </a:solidFill>
                <a:prstDash val="solid"/>
                <a:round/>
              </a:ln>
              <a:effectLst/>
            </c:spPr>
          </c:marker>
          <c:xVal>
            <c:numRef>
              <c:f>Sheet1!$A$2:$A$102</c:f>
              <c:numCache>
                <c:formatCode>General</c:formatCode>
                <c:ptCount val="101"/>
                <c:pt idx="0">
                  <c:v>0</c:v>
                </c:pt>
                <c:pt idx="1">
                  <c:v>0.01</c:v>
                </c:pt>
                <c:pt idx="2">
                  <c:v>0.02</c:v>
                </c:pt>
                <c:pt idx="3">
                  <c:v>0.03</c:v>
                </c:pt>
                <c:pt idx="4">
                  <c:v>0.04</c:v>
                </c:pt>
                <c:pt idx="5">
                  <c:v>0.05</c:v>
                </c:pt>
                <c:pt idx="6">
                  <c:v>0.06</c:v>
                </c:pt>
                <c:pt idx="7">
                  <c:v>0.07</c:v>
                </c:pt>
                <c:pt idx="8">
                  <c:v>0.08</c:v>
                </c:pt>
                <c:pt idx="9">
                  <c:v>0.09</c:v>
                </c:pt>
                <c:pt idx="10">
                  <c:v>0.1</c:v>
                </c:pt>
                <c:pt idx="11">
                  <c:v>0.11</c:v>
                </c:pt>
                <c:pt idx="12">
                  <c:v>0.12</c:v>
                </c:pt>
                <c:pt idx="13">
                  <c:v>0.13</c:v>
                </c:pt>
                <c:pt idx="14">
                  <c:v>0.14</c:v>
                </c:pt>
                <c:pt idx="15">
                  <c:v>0.15</c:v>
                </c:pt>
                <c:pt idx="16">
                  <c:v>0.16</c:v>
                </c:pt>
                <c:pt idx="17">
                  <c:v>0.17</c:v>
                </c:pt>
                <c:pt idx="18">
                  <c:v>0.18</c:v>
                </c:pt>
                <c:pt idx="19">
                  <c:v>0.19</c:v>
                </c:pt>
                <c:pt idx="20">
                  <c:v>0.2</c:v>
                </c:pt>
                <c:pt idx="21">
                  <c:v>0.21</c:v>
                </c:pt>
                <c:pt idx="22">
                  <c:v>0.22</c:v>
                </c:pt>
                <c:pt idx="23">
                  <c:v>0.23</c:v>
                </c:pt>
                <c:pt idx="24">
                  <c:v>0.24</c:v>
                </c:pt>
                <c:pt idx="25">
                  <c:v>0.25</c:v>
                </c:pt>
                <c:pt idx="26">
                  <c:v>0.26</c:v>
                </c:pt>
                <c:pt idx="27">
                  <c:v>0.27</c:v>
                </c:pt>
                <c:pt idx="28">
                  <c:v>0.28</c:v>
                </c:pt>
                <c:pt idx="29">
                  <c:v>0.29</c:v>
                </c:pt>
                <c:pt idx="30">
                  <c:v>0.3</c:v>
                </c:pt>
                <c:pt idx="31">
                  <c:v>0.31</c:v>
                </c:pt>
                <c:pt idx="32">
                  <c:v>0.32</c:v>
                </c:pt>
                <c:pt idx="33">
                  <c:v>0.33</c:v>
                </c:pt>
                <c:pt idx="34">
                  <c:v>0.34</c:v>
                </c:pt>
                <c:pt idx="35">
                  <c:v>0.35</c:v>
                </c:pt>
                <c:pt idx="36">
                  <c:v>0.36</c:v>
                </c:pt>
                <c:pt idx="37">
                  <c:v>0.37</c:v>
                </c:pt>
                <c:pt idx="38">
                  <c:v>0.38</c:v>
                </c:pt>
                <c:pt idx="39">
                  <c:v>0.39</c:v>
                </c:pt>
                <c:pt idx="40">
                  <c:v>0.4</c:v>
                </c:pt>
                <c:pt idx="41">
                  <c:v>0.41</c:v>
                </c:pt>
                <c:pt idx="42">
                  <c:v>0.42</c:v>
                </c:pt>
                <c:pt idx="43">
                  <c:v>0.43</c:v>
                </c:pt>
                <c:pt idx="44">
                  <c:v>0.44</c:v>
                </c:pt>
                <c:pt idx="45">
                  <c:v>0.45</c:v>
                </c:pt>
                <c:pt idx="46">
                  <c:v>0.46</c:v>
                </c:pt>
                <c:pt idx="47">
                  <c:v>0.47</c:v>
                </c:pt>
                <c:pt idx="48">
                  <c:v>0.48</c:v>
                </c:pt>
                <c:pt idx="49">
                  <c:v>0.49</c:v>
                </c:pt>
                <c:pt idx="50">
                  <c:v>0.5</c:v>
                </c:pt>
                <c:pt idx="51">
                  <c:v>0.51</c:v>
                </c:pt>
                <c:pt idx="52">
                  <c:v>0.52</c:v>
                </c:pt>
                <c:pt idx="53">
                  <c:v>0.53</c:v>
                </c:pt>
                <c:pt idx="54">
                  <c:v>0.54</c:v>
                </c:pt>
                <c:pt idx="55">
                  <c:v>0.55</c:v>
                </c:pt>
                <c:pt idx="56">
                  <c:v>0.56</c:v>
                </c:pt>
                <c:pt idx="57">
                  <c:v>0.57</c:v>
                </c:pt>
                <c:pt idx="58">
                  <c:v>0.58</c:v>
                </c:pt>
                <c:pt idx="59">
                  <c:v>0.59</c:v>
                </c:pt>
                <c:pt idx="60">
                  <c:v>0.6</c:v>
                </c:pt>
                <c:pt idx="61">
                  <c:v>0.61</c:v>
                </c:pt>
                <c:pt idx="62">
                  <c:v>0.62</c:v>
                </c:pt>
                <c:pt idx="63">
                  <c:v>0.63</c:v>
                </c:pt>
                <c:pt idx="64">
                  <c:v>0.64</c:v>
                </c:pt>
                <c:pt idx="65">
                  <c:v>0.65</c:v>
                </c:pt>
                <c:pt idx="66">
                  <c:v>0.66</c:v>
                </c:pt>
                <c:pt idx="67">
                  <c:v>0.67</c:v>
                </c:pt>
                <c:pt idx="68">
                  <c:v>0.68</c:v>
                </c:pt>
                <c:pt idx="69">
                  <c:v>0.69</c:v>
                </c:pt>
                <c:pt idx="70">
                  <c:v>0.7</c:v>
                </c:pt>
                <c:pt idx="71">
                  <c:v>0.71</c:v>
                </c:pt>
                <c:pt idx="72">
                  <c:v>0.72</c:v>
                </c:pt>
                <c:pt idx="73">
                  <c:v>0.73</c:v>
                </c:pt>
                <c:pt idx="74">
                  <c:v>0.74</c:v>
                </c:pt>
                <c:pt idx="75">
                  <c:v>0.75</c:v>
                </c:pt>
                <c:pt idx="76">
                  <c:v>0.76</c:v>
                </c:pt>
                <c:pt idx="77">
                  <c:v>0.77</c:v>
                </c:pt>
                <c:pt idx="78">
                  <c:v>0.78</c:v>
                </c:pt>
                <c:pt idx="79">
                  <c:v>0.79</c:v>
                </c:pt>
                <c:pt idx="80">
                  <c:v>0.8</c:v>
                </c:pt>
                <c:pt idx="81">
                  <c:v>0.81</c:v>
                </c:pt>
                <c:pt idx="82">
                  <c:v>0.82</c:v>
                </c:pt>
                <c:pt idx="83">
                  <c:v>0.83</c:v>
                </c:pt>
                <c:pt idx="84">
                  <c:v>0.84</c:v>
                </c:pt>
                <c:pt idx="85">
                  <c:v>0.85</c:v>
                </c:pt>
                <c:pt idx="86">
                  <c:v>0.86</c:v>
                </c:pt>
                <c:pt idx="87">
                  <c:v>0.87</c:v>
                </c:pt>
                <c:pt idx="88">
                  <c:v>0.88</c:v>
                </c:pt>
                <c:pt idx="89">
                  <c:v>0.89</c:v>
                </c:pt>
                <c:pt idx="90">
                  <c:v>0.9</c:v>
                </c:pt>
                <c:pt idx="91">
                  <c:v>0.91</c:v>
                </c:pt>
                <c:pt idx="92">
                  <c:v>0.92</c:v>
                </c:pt>
                <c:pt idx="93">
                  <c:v>0.93</c:v>
                </c:pt>
                <c:pt idx="94">
                  <c:v>0.94</c:v>
                </c:pt>
                <c:pt idx="95">
                  <c:v>0.95</c:v>
                </c:pt>
                <c:pt idx="96">
                  <c:v>0.96</c:v>
                </c:pt>
                <c:pt idx="97">
                  <c:v>0.97</c:v>
                </c:pt>
                <c:pt idx="98">
                  <c:v>0.98</c:v>
                </c:pt>
                <c:pt idx="99">
                  <c:v>0.99</c:v>
                </c:pt>
                <c:pt idx="100">
                  <c:v>1</c:v>
                </c:pt>
              </c:numCache>
            </c:numRef>
          </c:xVal>
          <c:yVal>
            <c:numRef>
              <c:f>Sheet1!$C$2:$C$102</c:f>
              <c:numCache>
                <c:formatCode>General</c:formatCode>
                <c:ptCount val="10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0.9922</c:v>
                </c:pt>
                <c:pt idx="37">
                  <c:v>0.9922</c:v>
                </c:pt>
                <c:pt idx="38">
                  <c:v>0.9887</c:v>
                </c:pt>
                <c:pt idx="39">
                  <c:v>0.9887</c:v>
                </c:pt>
                <c:pt idx="40">
                  <c:v>0.9887</c:v>
                </c:pt>
                <c:pt idx="41">
                  <c:v>0.9887</c:v>
                </c:pt>
                <c:pt idx="42">
                  <c:v>0.9887</c:v>
                </c:pt>
                <c:pt idx="43">
                  <c:v>0.9887</c:v>
                </c:pt>
                <c:pt idx="44">
                  <c:v>0.9887</c:v>
                </c:pt>
                <c:pt idx="45">
                  <c:v>0.9887</c:v>
                </c:pt>
                <c:pt idx="46">
                  <c:v>0.9887</c:v>
                </c:pt>
                <c:pt idx="47">
                  <c:v>0.9887</c:v>
                </c:pt>
                <c:pt idx="48">
                  <c:v>0.9887</c:v>
                </c:pt>
                <c:pt idx="49">
                  <c:v>0.9887</c:v>
                </c:pt>
                <c:pt idx="50">
                  <c:v>0.9887</c:v>
                </c:pt>
                <c:pt idx="51">
                  <c:v>0.9887</c:v>
                </c:pt>
                <c:pt idx="52">
                  <c:v>0.9784</c:v>
                </c:pt>
                <c:pt idx="53">
                  <c:v>0.9784</c:v>
                </c:pt>
                <c:pt idx="54">
                  <c:v>0.9709</c:v>
                </c:pt>
                <c:pt idx="55">
                  <c:v>0.9709</c:v>
                </c:pt>
                <c:pt idx="56">
                  <c:v>0.9709</c:v>
                </c:pt>
                <c:pt idx="57">
                  <c:v>0.9709</c:v>
                </c:pt>
                <c:pt idx="58">
                  <c:v>0.9709</c:v>
                </c:pt>
                <c:pt idx="59">
                  <c:v>0.9671</c:v>
                </c:pt>
                <c:pt idx="60">
                  <c:v>0.9671</c:v>
                </c:pt>
                <c:pt idx="61">
                  <c:v>0.9636</c:v>
                </c:pt>
                <c:pt idx="62">
                  <c:v>0.9636</c:v>
                </c:pt>
                <c:pt idx="63">
                  <c:v>0.96</c:v>
                </c:pt>
                <c:pt idx="64">
                  <c:v>0.9574</c:v>
                </c:pt>
                <c:pt idx="65">
                  <c:v>0.9574</c:v>
                </c:pt>
                <c:pt idx="66">
                  <c:v>0.9574</c:v>
                </c:pt>
                <c:pt idx="67">
                  <c:v>0.9506</c:v>
                </c:pt>
                <c:pt idx="68">
                  <c:v>0.9506</c:v>
                </c:pt>
                <c:pt idx="69">
                  <c:v>0.9474</c:v>
                </c:pt>
                <c:pt idx="70">
                  <c:v>0.9444</c:v>
                </c:pt>
                <c:pt idx="71">
                  <c:v>0.9344</c:v>
                </c:pt>
                <c:pt idx="72">
                  <c:v>0.9316</c:v>
                </c:pt>
                <c:pt idx="73">
                  <c:v>0.9304</c:v>
                </c:pt>
                <c:pt idx="74">
                  <c:v>0.9304</c:v>
                </c:pt>
                <c:pt idx="75">
                  <c:v>0.9209</c:v>
                </c:pt>
                <c:pt idx="76">
                  <c:v>0.9181</c:v>
                </c:pt>
                <c:pt idx="77">
                  <c:v>0.9161</c:v>
                </c:pt>
                <c:pt idx="78">
                  <c:v>0.911</c:v>
                </c:pt>
                <c:pt idx="79">
                  <c:v>0.9085</c:v>
                </c:pt>
                <c:pt idx="80">
                  <c:v>0.8977</c:v>
                </c:pt>
                <c:pt idx="81">
                  <c:v>0.8958</c:v>
                </c:pt>
                <c:pt idx="82">
                  <c:v>0.8688</c:v>
                </c:pt>
                <c:pt idx="83">
                  <c:v>0.8571</c:v>
                </c:pt>
                <c:pt idx="84">
                  <c:v>0.8006</c:v>
                </c:pt>
                <c:pt idx="85">
                  <c:v>0.6524</c:v>
                </c:pt>
                <c:pt idx="86">
                  <c:v>0.5923</c:v>
                </c:pt>
                <c:pt idx="87">
                  <c:v>0.506</c:v>
                </c:pt>
                <c:pt idx="88">
                  <c:v>0.4333</c:v>
                </c:pt>
                <c:pt idx="89">
                  <c:v>0.3948</c:v>
                </c:pt>
                <c:pt idx="90">
                  <c:v>0.3538</c:v>
                </c:pt>
                <c:pt idx="91">
                  <c:v>0.3411</c:v>
                </c:pt>
                <c:pt idx="92">
                  <c:v>0.3074</c:v>
                </c:pt>
                <c:pt idx="93">
                  <c:v>0.2787</c:v>
                </c:pt>
                <c:pt idx="94">
                  <c:v>0.2562</c:v>
                </c:pt>
                <c:pt idx="95">
                  <c:v>0.2263</c:v>
                </c:pt>
                <c:pt idx="96">
                  <c:v>0.2116</c:v>
                </c:pt>
                <c:pt idx="97">
                  <c:v>0.1959</c:v>
                </c:pt>
                <c:pt idx="98">
                  <c:v>0.1338</c:v>
                </c:pt>
                <c:pt idx="99">
                  <c:v>0.1009</c:v>
                </c:pt>
                <c:pt idx="100">
                  <c:v>0.0371</c:v>
                </c:pt>
              </c:numCache>
            </c:numRef>
          </c:yVal>
          <c:smooth val="0"/>
        </c:ser>
        <c:ser>
          <c:idx val="2"/>
          <c:order val="2"/>
          <c:tx>
            <c:strRef>
              <c:f>Sheet1!$D$1</c:f>
              <c:strCache>
                <c:ptCount val="1"/>
                <c:pt idx="0">
                  <c:v>Logistic Regression  (0.486)</c:v>
                </c:pt>
              </c:strCache>
            </c:strRef>
          </c:tx>
          <c:spPr>
            <a:solidFill>
              <a:srgbClr val="2A78D6"/>
            </a:solidFill>
            <a:ln w="31750" cap="flat">
              <a:solidFill>
                <a:srgbClr val="2A78D6"/>
              </a:solidFill>
              <a:prstDash val="solid"/>
              <a:round/>
            </a:ln>
            <a:effectLst/>
          </c:spPr>
          <c:marker>
            <c:symbol val="none"/>
            <c:size val="6"/>
            <c:spPr>
              <a:solidFill>
                <a:srgbClr val="2A78D6"/>
              </a:solidFill>
              <a:ln w="9525" cap="flat">
                <a:solidFill>
                  <a:srgbClr val="2A78D6"/>
                </a:solidFill>
                <a:prstDash val="solid"/>
                <a:round/>
              </a:ln>
              <a:effectLst/>
            </c:spPr>
          </c:marker>
          <c:xVal>
            <c:numRef>
              <c:f>Sheet1!$A$2:$A$102</c:f>
              <c:numCache>
                <c:formatCode>General</c:formatCode>
                <c:ptCount val="101"/>
                <c:pt idx="0">
                  <c:v>0</c:v>
                </c:pt>
                <c:pt idx="1">
                  <c:v>0.01</c:v>
                </c:pt>
                <c:pt idx="2">
                  <c:v>0.02</c:v>
                </c:pt>
                <c:pt idx="3">
                  <c:v>0.03</c:v>
                </c:pt>
                <c:pt idx="4">
                  <c:v>0.04</c:v>
                </c:pt>
                <c:pt idx="5">
                  <c:v>0.05</c:v>
                </c:pt>
                <c:pt idx="6">
                  <c:v>0.06</c:v>
                </c:pt>
                <c:pt idx="7">
                  <c:v>0.07</c:v>
                </c:pt>
                <c:pt idx="8">
                  <c:v>0.08</c:v>
                </c:pt>
                <c:pt idx="9">
                  <c:v>0.09</c:v>
                </c:pt>
                <c:pt idx="10">
                  <c:v>0.1</c:v>
                </c:pt>
                <c:pt idx="11">
                  <c:v>0.11</c:v>
                </c:pt>
                <c:pt idx="12">
                  <c:v>0.12</c:v>
                </c:pt>
                <c:pt idx="13">
                  <c:v>0.13</c:v>
                </c:pt>
                <c:pt idx="14">
                  <c:v>0.14</c:v>
                </c:pt>
                <c:pt idx="15">
                  <c:v>0.15</c:v>
                </c:pt>
                <c:pt idx="16">
                  <c:v>0.16</c:v>
                </c:pt>
                <c:pt idx="17">
                  <c:v>0.17</c:v>
                </c:pt>
                <c:pt idx="18">
                  <c:v>0.18</c:v>
                </c:pt>
                <c:pt idx="19">
                  <c:v>0.19</c:v>
                </c:pt>
                <c:pt idx="20">
                  <c:v>0.2</c:v>
                </c:pt>
                <c:pt idx="21">
                  <c:v>0.21</c:v>
                </c:pt>
                <c:pt idx="22">
                  <c:v>0.22</c:v>
                </c:pt>
                <c:pt idx="23">
                  <c:v>0.23</c:v>
                </c:pt>
                <c:pt idx="24">
                  <c:v>0.24</c:v>
                </c:pt>
                <c:pt idx="25">
                  <c:v>0.25</c:v>
                </c:pt>
                <c:pt idx="26">
                  <c:v>0.26</c:v>
                </c:pt>
                <c:pt idx="27">
                  <c:v>0.27</c:v>
                </c:pt>
                <c:pt idx="28">
                  <c:v>0.28</c:v>
                </c:pt>
                <c:pt idx="29">
                  <c:v>0.29</c:v>
                </c:pt>
                <c:pt idx="30">
                  <c:v>0.3</c:v>
                </c:pt>
                <c:pt idx="31">
                  <c:v>0.31</c:v>
                </c:pt>
                <c:pt idx="32">
                  <c:v>0.32</c:v>
                </c:pt>
                <c:pt idx="33">
                  <c:v>0.33</c:v>
                </c:pt>
                <c:pt idx="34">
                  <c:v>0.34</c:v>
                </c:pt>
                <c:pt idx="35">
                  <c:v>0.35</c:v>
                </c:pt>
                <c:pt idx="36">
                  <c:v>0.36</c:v>
                </c:pt>
                <c:pt idx="37">
                  <c:v>0.37</c:v>
                </c:pt>
                <c:pt idx="38">
                  <c:v>0.38</c:v>
                </c:pt>
                <c:pt idx="39">
                  <c:v>0.39</c:v>
                </c:pt>
                <c:pt idx="40">
                  <c:v>0.4</c:v>
                </c:pt>
                <c:pt idx="41">
                  <c:v>0.41</c:v>
                </c:pt>
                <c:pt idx="42">
                  <c:v>0.42</c:v>
                </c:pt>
                <c:pt idx="43">
                  <c:v>0.43</c:v>
                </c:pt>
                <c:pt idx="44">
                  <c:v>0.44</c:v>
                </c:pt>
                <c:pt idx="45">
                  <c:v>0.45</c:v>
                </c:pt>
                <c:pt idx="46">
                  <c:v>0.46</c:v>
                </c:pt>
                <c:pt idx="47">
                  <c:v>0.47</c:v>
                </c:pt>
                <c:pt idx="48">
                  <c:v>0.48</c:v>
                </c:pt>
                <c:pt idx="49">
                  <c:v>0.49</c:v>
                </c:pt>
                <c:pt idx="50">
                  <c:v>0.5</c:v>
                </c:pt>
                <c:pt idx="51">
                  <c:v>0.51</c:v>
                </c:pt>
                <c:pt idx="52">
                  <c:v>0.52</c:v>
                </c:pt>
                <c:pt idx="53">
                  <c:v>0.53</c:v>
                </c:pt>
                <c:pt idx="54">
                  <c:v>0.54</c:v>
                </c:pt>
                <c:pt idx="55">
                  <c:v>0.55</c:v>
                </c:pt>
                <c:pt idx="56">
                  <c:v>0.56</c:v>
                </c:pt>
                <c:pt idx="57">
                  <c:v>0.57</c:v>
                </c:pt>
                <c:pt idx="58">
                  <c:v>0.58</c:v>
                </c:pt>
                <c:pt idx="59">
                  <c:v>0.59</c:v>
                </c:pt>
                <c:pt idx="60">
                  <c:v>0.6</c:v>
                </c:pt>
                <c:pt idx="61">
                  <c:v>0.61</c:v>
                </c:pt>
                <c:pt idx="62">
                  <c:v>0.62</c:v>
                </c:pt>
                <c:pt idx="63">
                  <c:v>0.63</c:v>
                </c:pt>
                <c:pt idx="64">
                  <c:v>0.64</c:v>
                </c:pt>
                <c:pt idx="65">
                  <c:v>0.65</c:v>
                </c:pt>
                <c:pt idx="66">
                  <c:v>0.66</c:v>
                </c:pt>
                <c:pt idx="67">
                  <c:v>0.67</c:v>
                </c:pt>
                <c:pt idx="68">
                  <c:v>0.68</c:v>
                </c:pt>
                <c:pt idx="69">
                  <c:v>0.69</c:v>
                </c:pt>
                <c:pt idx="70">
                  <c:v>0.7</c:v>
                </c:pt>
                <c:pt idx="71">
                  <c:v>0.71</c:v>
                </c:pt>
                <c:pt idx="72">
                  <c:v>0.72</c:v>
                </c:pt>
                <c:pt idx="73">
                  <c:v>0.73</c:v>
                </c:pt>
                <c:pt idx="74">
                  <c:v>0.74</c:v>
                </c:pt>
                <c:pt idx="75">
                  <c:v>0.75</c:v>
                </c:pt>
                <c:pt idx="76">
                  <c:v>0.76</c:v>
                </c:pt>
                <c:pt idx="77">
                  <c:v>0.77</c:v>
                </c:pt>
                <c:pt idx="78">
                  <c:v>0.78</c:v>
                </c:pt>
                <c:pt idx="79">
                  <c:v>0.79</c:v>
                </c:pt>
                <c:pt idx="80">
                  <c:v>0.8</c:v>
                </c:pt>
                <c:pt idx="81">
                  <c:v>0.81</c:v>
                </c:pt>
                <c:pt idx="82">
                  <c:v>0.82</c:v>
                </c:pt>
                <c:pt idx="83">
                  <c:v>0.83</c:v>
                </c:pt>
                <c:pt idx="84">
                  <c:v>0.84</c:v>
                </c:pt>
                <c:pt idx="85">
                  <c:v>0.85</c:v>
                </c:pt>
                <c:pt idx="86">
                  <c:v>0.86</c:v>
                </c:pt>
                <c:pt idx="87">
                  <c:v>0.87</c:v>
                </c:pt>
                <c:pt idx="88">
                  <c:v>0.88</c:v>
                </c:pt>
                <c:pt idx="89">
                  <c:v>0.89</c:v>
                </c:pt>
                <c:pt idx="90">
                  <c:v>0.9</c:v>
                </c:pt>
                <c:pt idx="91">
                  <c:v>0.91</c:v>
                </c:pt>
                <c:pt idx="92">
                  <c:v>0.92</c:v>
                </c:pt>
                <c:pt idx="93">
                  <c:v>0.93</c:v>
                </c:pt>
                <c:pt idx="94">
                  <c:v>0.94</c:v>
                </c:pt>
                <c:pt idx="95">
                  <c:v>0.95</c:v>
                </c:pt>
                <c:pt idx="96">
                  <c:v>0.96</c:v>
                </c:pt>
                <c:pt idx="97">
                  <c:v>0.97</c:v>
                </c:pt>
                <c:pt idx="98">
                  <c:v>0.98</c:v>
                </c:pt>
                <c:pt idx="99">
                  <c:v>0.99</c:v>
                </c:pt>
                <c:pt idx="100">
                  <c:v>1</c:v>
                </c:pt>
              </c:numCache>
            </c:numRef>
          </c:xVal>
          <c:yVal>
            <c:numRef>
              <c:f>Sheet1!$D$2:$D$102</c:f>
              <c:numCache>
                <c:formatCode>General</c:formatCode>
                <c:ptCount val="101"/>
                <c:pt idx="0">
                  <c:v>1</c:v>
                </c:pt>
                <c:pt idx="1">
                  <c:v>1</c:v>
                </c:pt>
                <c:pt idx="2">
                  <c:v>1</c:v>
                </c:pt>
                <c:pt idx="3">
                  <c:v>0.9394</c:v>
                </c:pt>
                <c:pt idx="4">
                  <c:v>0.9394</c:v>
                </c:pt>
                <c:pt idx="5">
                  <c:v>0.9394</c:v>
                </c:pt>
                <c:pt idx="6">
                  <c:v>0.9394</c:v>
                </c:pt>
                <c:pt idx="7">
                  <c:v>0.9394</c:v>
                </c:pt>
                <c:pt idx="8">
                  <c:v>0.9394</c:v>
                </c:pt>
                <c:pt idx="9">
                  <c:v>0.9394</c:v>
                </c:pt>
                <c:pt idx="10">
                  <c:v>0.9211</c:v>
                </c:pt>
                <c:pt idx="11">
                  <c:v>0.9048</c:v>
                </c:pt>
                <c:pt idx="12">
                  <c:v>0.902</c:v>
                </c:pt>
                <c:pt idx="13">
                  <c:v>0.902</c:v>
                </c:pt>
                <c:pt idx="14">
                  <c:v>0.8929</c:v>
                </c:pt>
                <c:pt idx="15">
                  <c:v>0.8833</c:v>
                </c:pt>
                <c:pt idx="16">
                  <c:v>0.873</c:v>
                </c:pt>
                <c:pt idx="17">
                  <c:v>0.8676</c:v>
                </c:pt>
                <c:pt idx="18">
                  <c:v>0.863</c:v>
                </c:pt>
                <c:pt idx="19">
                  <c:v>0.859</c:v>
                </c:pt>
                <c:pt idx="20">
                  <c:v>0.85</c:v>
                </c:pt>
                <c:pt idx="21">
                  <c:v>0.7766</c:v>
                </c:pt>
                <c:pt idx="22">
                  <c:v>0.7653</c:v>
                </c:pt>
                <c:pt idx="23">
                  <c:v>0.7358</c:v>
                </c:pt>
                <c:pt idx="24">
                  <c:v>0.7281</c:v>
                </c:pt>
                <c:pt idx="25">
                  <c:v>0.7107</c:v>
                </c:pt>
                <c:pt idx="26">
                  <c:v>0.7008</c:v>
                </c:pt>
                <c:pt idx="27">
                  <c:v>0.6934</c:v>
                </c:pt>
                <c:pt idx="28">
                  <c:v>0.6934</c:v>
                </c:pt>
                <c:pt idx="29">
                  <c:v>0.6689</c:v>
                </c:pt>
                <c:pt idx="30">
                  <c:v>0.65</c:v>
                </c:pt>
                <c:pt idx="31">
                  <c:v>0.6386</c:v>
                </c:pt>
                <c:pt idx="32">
                  <c:v>0.6369</c:v>
                </c:pt>
                <c:pt idx="33">
                  <c:v>0.6369</c:v>
                </c:pt>
                <c:pt idx="34">
                  <c:v>0.6257</c:v>
                </c:pt>
                <c:pt idx="35">
                  <c:v>0.6154</c:v>
                </c:pt>
                <c:pt idx="36">
                  <c:v>0.5962</c:v>
                </c:pt>
                <c:pt idx="37">
                  <c:v>0.5915</c:v>
                </c:pt>
                <c:pt idx="38">
                  <c:v>0.5759</c:v>
                </c:pt>
                <c:pt idx="39">
                  <c:v>0.5615</c:v>
                </c:pt>
                <c:pt idx="40">
                  <c:v>0.5615</c:v>
                </c:pt>
                <c:pt idx="41">
                  <c:v>0.5605</c:v>
                </c:pt>
                <c:pt idx="42">
                  <c:v>0.5496</c:v>
                </c:pt>
                <c:pt idx="43">
                  <c:v>0.5428</c:v>
                </c:pt>
                <c:pt idx="44">
                  <c:v>0.531</c:v>
                </c:pt>
                <c:pt idx="45">
                  <c:v>0.531</c:v>
                </c:pt>
                <c:pt idx="46">
                  <c:v>0.5302</c:v>
                </c:pt>
                <c:pt idx="47">
                  <c:v>0.5279</c:v>
                </c:pt>
                <c:pt idx="48">
                  <c:v>0.5191</c:v>
                </c:pt>
                <c:pt idx="49">
                  <c:v>0.4926</c:v>
                </c:pt>
                <c:pt idx="50">
                  <c:v>0.4645</c:v>
                </c:pt>
                <c:pt idx="51">
                  <c:v>0.4589</c:v>
                </c:pt>
                <c:pt idx="52">
                  <c:v>0.4464</c:v>
                </c:pt>
                <c:pt idx="53">
                  <c:v>0.4412</c:v>
                </c:pt>
                <c:pt idx="54">
                  <c:v>0.4299</c:v>
                </c:pt>
                <c:pt idx="55">
                  <c:v>0.4172</c:v>
                </c:pt>
                <c:pt idx="56">
                  <c:v>0.4113</c:v>
                </c:pt>
                <c:pt idx="57">
                  <c:v>0.3959</c:v>
                </c:pt>
                <c:pt idx="58">
                  <c:v>0.3818</c:v>
                </c:pt>
                <c:pt idx="59">
                  <c:v>0.3738</c:v>
                </c:pt>
                <c:pt idx="60">
                  <c:v>0.3696</c:v>
                </c:pt>
                <c:pt idx="61">
                  <c:v>0.3696</c:v>
                </c:pt>
                <c:pt idx="62">
                  <c:v>0.3453</c:v>
                </c:pt>
                <c:pt idx="63">
                  <c:v>0.3441</c:v>
                </c:pt>
                <c:pt idx="64">
                  <c:v>0.3401</c:v>
                </c:pt>
                <c:pt idx="65">
                  <c:v>0.3127</c:v>
                </c:pt>
                <c:pt idx="66">
                  <c:v>0.3107</c:v>
                </c:pt>
                <c:pt idx="67">
                  <c:v>0.2973</c:v>
                </c:pt>
                <c:pt idx="68">
                  <c:v>0.288</c:v>
                </c:pt>
                <c:pt idx="69">
                  <c:v>0.2833</c:v>
                </c:pt>
                <c:pt idx="70">
                  <c:v>0.2705</c:v>
                </c:pt>
                <c:pt idx="71">
                  <c:v>0.2575</c:v>
                </c:pt>
                <c:pt idx="72">
                  <c:v>0.2457</c:v>
                </c:pt>
                <c:pt idx="73">
                  <c:v>0.2394</c:v>
                </c:pt>
                <c:pt idx="74">
                  <c:v>0.2286</c:v>
                </c:pt>
                <c:pt idx="75">
                  <c:v>0.2181</c:v>
                </c:pt>
                <c:pt idx="76">
                  <c:v>0.2138</c:v>
                </c:pt>
                <c:pt idx="77">
                  <c:v>0.206</c:v>
                </c:pt>
                <c:pt idx="78">
                  <c:v>0.2017</c:v>
                </c:pt>
                <c:pt idx="79">
                  <c:v>0.1999</c:v>
                </c:pt>
                <c:pt idx="80">
                  <c:v>0.1792</c:v>
                </c:pt>
                <c:pt idx="81">
                  <c:v>0.1787</c:v>
                </c:pt>
                <c:pt idx="82">
                  <c:v>0.1716</c:v>
                </c:pt>
                <c:pt idx="83">
                  <c:v>0.1649</c:v>
                </c:pt>
                <c:pt idx="84">
                  <c:v>0.1606</c:v>
                </c:pt>
                <c:pt idx="85">
                  <c:v>0.1496</c:v>
                </c:pt>
                <c:pt idx="86">
                  <c:v>0.1453</c:v>
                </c:pt>
                <c:pt idx="87">
                  <c:v>0.1331</c:v>
                </c:pt>
                <c:pt idx="88">
                  <c:v>0.1321</c:v>
                </c:pt>
                <c:pt idx="89">
                  <c:v>0.1301</c:v>
                </c:pt>
                <c:pt idx="90">
                  <c:v>0.1197</c:v>
                </c:pt>
                <c:pt idx="91">
                  <c:v>0.1047</c:v>
                </c:pt>
                <c:pt idx="92">
                  <c:v>0.0974</c:v>
                </c:pt>
                <c:pt idx="93">
                  <c:v>0.0856</c:v>
                </c:pt>
                <c:pt idx="94">
                  <c:v>0.0789</c:v>
                </c:pt>
                <c:pt idx="95">
                  <c:v>0.0751</c:v>
                </c:pt>
                <c:pt idx="96">
                  <c:v>0.0685</c:v>
                </c:pt>
                <c:pt idx="97">
                  <c:v>0.0652</c:v>
                </c:pt>
                <c:pt idx="98">
                  <c:v>0.0603</c:v>
                </c:pt>
                <c:pt idx="99">
                  <c:v>0.0454</c:v>
                </c:pt>
                <c:pt idx="100">
                  <c:v>0.0395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majorGridlines>
          <c:spPr>
            <a:ln w="6350" cap="flat">
              <a:solidFill>
                <a:srgbClr val="E1E0D9"/>
              </a:solidFill>
              <a:prstDash val="solid"/>
              <a:round/>
            </a:ln>
          </c:spPr>
        </c:majorGridlines>
        <c:title>
          <c:tx>
            <c:rich>
              <a:bodyPr/>
              <a:lstStyle/>
              <a:p>
                <a:pPr>
                  <a:defRPr sz="1200" b="0" i="0" u="none" strike="noStrike">
                    <a:solidFill>
                      <a:srgbClr val="5E6B7A"/>
                    </a:solidFill>
                    <a:latin typeface="+mn-lt"/>
                  </a:defRPr>
                </a:pPr>
                <a:r>
                  <a:rPr sz="1200" b="0" i="0" u="none" strike="noStrike">
                    <a:solidFill>
                      <a:srgbClr val="5E6B7A"/>
                    </a:solidFill>
                    <a:latin typeface="+mn-lt"/>
                  </a:rPr>
                  <a:t>Failures caught (recall)</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5E6B7A"/>
                </a:solidFill>
                <a:latin typeface="+mn-lt"/>
              </a:defRPr>
            </a:pPr>
            <a:endParaRPr lang="en-US"/>
          </a:p>
        </c:txPr>
        <c:crossAx val="2094734552"/>
        <c:crosses val="autoZero"/>
        <c:auto val="1"/>
        <c:lblAlgn val="ctr"/>
        <c:noMultiLvlLbl val="1"/>
        <c:majorUnit val="0.2"/>
      </c:valAx>
      <c:valAx>
        <c:axId val="2094734552"/>
        <c:scaling>
          <c:orientation val="minMax"/>
          <c:max val="1"/>
          <c:min val="0"/>
        </c:scaling>
        <c:delete val="0"/>
        <c:axPos val="l"/>
        <c:majorGridlines>
          <c:spPr>
            <a:ln w="6350" cap="flat">
              <a:solidFill>
                <a:srgbClr val="E1E0D9"/>
              </a:solidFill>
              <a:prstDash val="solid"/>
              <a:round/>
            </a:ln>
          </c:spPr>
        </c:majorGridlines>
        <c:title>
          <c:tx>
            <c:rich>
              <a:bodyPr/>
              <a:lstStyle/>
              <a:p>
                <a:pPr>
                  <a:defRPr sz="1200" b="0" i="0" u="none" strike="noStrike">
                    <a:solidFill>
                      <a:srgbClr val="5E6B7A"/>
                    </a:solidFill>
                    <a:latin typeface="+mn-lt"/>
                  </a:defRPr>
                </a:pPr>
                <a:r>
                  <a:rPr sz="1200" b="0" i="0" u="none" strike="noStrike">
                    <a:solidFill>
                      <a:srgbClr val="5E6B7A"/>
                    </a:solidFill>
                    <a:latin typeface="+mn-lt"/>
                  </a:rPr>
                  <a:t>Alarms that are real (precision)</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E6B7A"/>
                </a:solidFill>
                <a:latin typeface="+mn-lt"/>
              </a:defRPr>
            </a:pPr>
            <a:endParaRPr lang="en-US"/>
          </a:p>
        </c:txPr>
        <c:crossAx val="2094734554"/>
        <c:crosses val="autoZero"/>
        <c:crossBetween val="midCat"/>
        <c:majorUnit val="0.2"/>
      </c:valAx>
      <c:spPr>
        <a:noFill/>
        <a:ln>
          <a:noFill/>
        </a:ln>
        <a:effectLst/>
      </c:spPr>
    </c:plotArea>
    <c:legend>
      <c:legendPos val="b"/>
      <c:overlay val="0"/>
      <c:txPr>
        <a:bodyPr/>
        <a:lstStyle/>
        <a:p>
          <a:pPr>
            <a:defRPr sz="1100">
              <a:solidFill>
                <a:srgbClr val="0E1A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1A2B"/>
                </a:solidFill>
                <a:latin typeface="+mn-lt"/>
              </a:defRPr>
            </a:pPr>
            <a:r>
              <a:rPr sz="1400" b="0" i="0" u="none" strike="noStrike">
                <a:solidFill>
                  <a:srgbClr val="0E1A2B"/>
                </a:solidFill>
                <a:latin typeface="+mn-lt"/>
              </a:rPr>
              <a:t>ROC: looks good for every model</a:t>
            </a:r>
          </a:p>
        </c:rich>
      </c:tx>
      <c:layout/>
      <c:overlay val="0"/>
    </c:title>
    <c:autoTitleDeleted val="0"/>
    <c:plotArea>
      <c:layout/>
      <c:scatterChart>
        <c:scatterStyle val="lineMarker"/>
        <c:varyColors val="0"/>
        <c:ser>
          <c:idx val="0"/>
          <c:order val="0"/>
          <c:tx>
            <c:strRef>
              <c:f>Sheet1!$B$1</c:f>
              <c:strCache>
                <c:ptCount val="1"/>
                <c:pt idx="0">
                  <c:v>Random Forest  (0.979)</c:v>
                </c:pt>
              </c:strCache>
            </c:strRef>
          </c:tx>
          <c:spPr>
            <a:solidFill>
              <a:srgbClr val="EB6834"/>
            </a:solidFill>
            <a:ln w="31750" cap="flat">
              <a:solidFill>
                <a:srgbClr val="EB6834"/>
              </a:solidFill>
              <a:prstDash val="solid"/>
              <a:round/>
            </a:ln>
            <a:effectLst/>
          </c:spPr>
          <c:marker>
            <c:symbol val="none"/>
            <c:size val="6"/>
            <c:spPr>
              <a:solidFill>
                <a:srgbClr val="EB6834"/>
              </a:solidFill>
              <a:ln w="9525" cap="flat">
                <a:solidFill>
                  <a:srgbClr val="EB6834"/>
                </a:solidFill>
                <a:prstDash val="solid"/>
                <a:round/>
              </a:ln>
              <a:effectLst/>
            </c:spPr>
          </c:marker>
          <c:xVal>
            <c:numRef>
              <c:f>Sheet1!$A$2:$A$75</c:f>
              <c:numCache>
                <c:formatCode>General</c:formatCode>
                <c:ptCount val="74"/>
                <c:pt idx="0">
                  <c:v>0</c:v>
                </c:pt>
                <c:pt idx="1">
                  <c:v>0.002</c:v>
                </c:pt>
                <c:pt idx="2">
                  <c:v>0.004</c:v>
                </c:pt>
                <c:pt idx="3">
                  <c:v>0.006</c:v>
                </c:pt>
                <c:pt idx="4">
                  <c:v>0.008</c:v>
                </c:pt>
                <c:pt idx="5">
                  <c:v>0.01</c:v>
                </c:pt>
                <c:pt idx="6">
                  <c:v>0.012</c:v>
                </c:pt>
                <c:pt idx="7">
                  <c:v>0.014</c:v>
                </c:pt>
                <c:pt idx="8">
                  <c:v>0.016</c:v>
                </c:pt>
                <c:pt idx="9">
                  <c:v>0.018</c:v>
                </c:pt>
                <c:pt idx="10">
                  <c:v>0.02</c:v>
                </c:pt>
                <c:pt idx="11">
                  <c:v>0.022</c:v>
                </c:pt>
                <c:pt idx="12">
                  <c:v>0.024</c:v>
                </c:pt>
                <c:pt idx="13">
                  <c:v>0.026</c:v>
                </c:pt>
                <c:pt idx="14">
                  <c:v>0.028</c:v>
                </c:pt>
                <c:pt idx="15">
                  <c:v>0.03</c:v>
                </c:pt>
                <c:pt idx="16">
                  <c:v>0.032</c:v>
                </c:pt>
                <c:pt idx="17">
                  <c:v>0.034</c:v>
                </c:pt>
                <c:pt idx="18">
                  <c:v>0.036</c:v>
                </c:pt>
                <c:pt idx="19">
                  <c:v>0.038</c:v>
                </c:pt>
                <c:pt idx="20">
                  <c:v>0.04</c:v>
                </c:pt>
                <c:pt idx="21">
                  <c:v>0.042</c:v>
                </c:pt>
                <c:pt idx="22">
                  <c:v>0.044</c:v>
                </c:pt>
                <c:pt idx="23">
                  <c:v>0.046</c:v>
                </c:pt>
                <c:pt idx="24">
                  <c:v>0.048</c:v>
                </c:pt>
                <c:pt idx="25">
                  <c:v>0.05</c:v>
                </c:pt>
                <c:pt idx="26">
                  <c:v>0.06</c:v>
                </c:pt>
                <c:pt idx="27">
                  <c:v>0.08</c:v>
                </c:pt>
                <c:pt idx="28">
                  <c:v>0.1</c:v>
                </c:pt>
                <c:pt idx="29">
                  <c:v>0.12</c:v>
                </c:pt>
                <c:pt idx="30">
                  <c:v>0.14</c:v>
                </c:pt>
                <c:pt idx="31">
                  <c:v>0.16</c:v>
                </c:pt>
                <c:pt idx="32">
                  <c:v>0.18</c:v>
                </c:pt>
                <c:pt idx="33">
                  <c:v>0.2</c:v>
                </c:pt>
                <c:pt idx="34">
                  <c:v>0.22</c:v>
                </c:pt>
                <c:pt idx="35">
                  <c:v>0.24</c:v>
                </c:pt>
                <c:pt idx="36">
                  <c:v>0.26</c:v>
                </c:pt>
                <c:pt idx="37">
                  <c:v>0.28</c:v>
                </c:pt>
                <c:pt idx="38">
                  <c:v>0.3</c:v>
                </c:pt>
                <c:pt idx="39">
                  <c:v>0.32</c:v>
                </c:pt>
                <c:pt idx="40">
                  <c:v>0.34</c:v>
                </c:pt>
                <c:pt idx="41">
                  <c:v>0.36</c:v>
                </c:pt>
                <c:pt idx="42">
                  <c:v>0.38</c:v>
                </c:pt>
                <c:pt idx="43">
                  <c:v>0.4</c:v>
                </c:pt>
                <c:pt idx="44">
                  <c:v>0.42</c:v>
                </c:pt>
                <c:pt idx="45">
                  <c:v>0.44</c:v>
                </c:pt>
                <c:pt idx="46">
                  <c:v>0.46</c:v>
                </c:pt>
                <c:pt idx="47">
                  <c:v>0.48</c:v>
                </c:pt>
                <c:pt idx="48">
                  <c:v>0.5</c:v>
                </c:pt>
                <c:pt idx="49">
                  <c:v>0.52</c:v>
                </c:pt>
                <c:pt idx="50">
                  <c:v>0.54</c:v>
                </c:pt>
                <c:pt idx="51">
                  <c:v>0.56</c:v>
                </c:pt>
                <c:pt idx="52">
                  <c:v>0.58</c:v>
                </c:pt>
                <c:pt idx="53">
                  <c:v>0.6</c:v>
                </c:pt>
                <c:pt idx="54">
                  <c:v>0.62</c:v>
                </c:pt>
                <c:pt idx="55">
                  <c:v>0.64</c:v>
                </c:pt>
                <c:pt idx="56">
                  <c:v>0.66</c:v>
                </c:pt>
                <c:pt idx="57">
                  <c:v>0.68</c:v>
                </c:pt>
                <c:pt idx="58">
                  <c:v>0.7</c:v>
                </c:pt>
                <c:pt idx="59">
                  <c:v>0.72</c:v>
                </c:pt>
                <c:pt idx="60">
                  <c:v>0.74</c:v>
                </c:pt>
                <c:pt idx="61">
                  <c:v>0.76</c:v>
                </c:pt>
                <c:pt idx="62">
                  <c:v>0.78</c:v>
                </c:pt>
                <c:pt idx="63">
                  <c:v>0.8</c:v>
                </c:pt>
                <c:pt idx="64">
                  <c:v>0.82</c:v>
                </c:pt>
                <c:pt idx="65">
                  <c:v>0.84</c:v>
                </c:pt>
                <c:pt idx="66">
                  <c:v>0.86</c:v>
                </c:pt>
                <c:pt idx="67">
                  <c:v>0.88</c:v>
                </c:pt>
                <c:pt idx="68">
                  <c:v>0.9</c:v>
                </c:pt>
                <c:pt idx="69">
                  <c:v>0.92</c:v>
                </c:pt>
                <c:pt idx="70">
                  <c:v>0.94</c:v>
                </c:pt>
                <c:pt idx="71">
                  <c:v>0.96</c:v>
                </c:pt>
                <c:pt idx="72">
                  <c:v>0.98</c:v>
                </c:pt>
                <c:pt idx="73">
                  <c:v>1</c:v>
                </c:pt>
              </c:numCache>
            </c:numRef>
          </c:xVal>
          <c:yVal>
            <c:numRef>
              <c:f>Sheet1!$B$2:$B$75</c:f>
              <c:numCache>
                <c:formatCode>General</c:formatCode>
                <c:ptCount val="74"/>
                <c:pt idx="0">
                  <c:v>0.7994</c:v>
                </c:pt>
                <c:pt idx="1">
                  <c:v>0.8496</c:v>
                </c:pt>
                <c:pt idx="2">
                  <c:v>0.8525</c:v>
                </c:pt>
                <c:pt idx="3">
                  <c:v>0.8525</c:v>
                </c:pt>
                <c:pt idx="4">
                  <c:v>0.8555</c:v>
                </c:pt>
                <c:pt idx="5">
                  <c:v>0.8643</c:v>
                </c:pt>
                <c:pt idx="6">
                  <c:v>0.8702</c:v>
                </c:pt>
                <c:pt idx="7">
                  <c:v>0.8761</c:v>
                </c:pt>
                <c:pt idx="8">
                  <c:v>0.882</c:v>
                </c:pt>
                <c:pt idx="9">
                  <c:v>0.882</c:v>
                </c:pt>
                <c:pt idx="10">
                  <c:v>0.882</c:v>
                </c:pt>
                <c:pt idx="11">
                  <c:v>0.885</c:v>
                </c:pt>
                <c:pt idx="12">
                  <c:v>0.8879</c:v>
                </c:pt>
                <c:pt idx="13">
                  <c:v>0.8968</c:v>
                </c:pt>
                <c:pt idx="14">
                  <c:v>0.8997</c:v>
                </c:pt>
                <c:pt idx="15">
                  <c:v>0.8997</c:v>
                </c:pt>
                <c:pt idx="16">
                  <c:v>0.9027</c:v>
                </c:pt>
                <c:pt idx="17">
                  <c:v>0.9056</c:v>
                </c:pt>
                <c:pt idx="18">
                  <c:v>0.9086</c:v>
                </c:pt>
                <c:pt idx="19">
                  <c:v>0.9115</c:v>
                </c:pt>
                <c:pt idx="20">
                  <c:v>0.9174</c:v>
                </c:pt>
                <c:pt idx="21">
                  <c:v>0.9204</c:v>
                </c:pt>
                <c:pt idx="22">
                  <c:v>0.9233</c:v>
                </c:pt>
                <c:pt idx="23">
                  <c:v>0.9233</c:v>
                </c:pt>
                <c:pt idx="24">
                  <c:v>0.9263</c:v>
                </c:pt>
                <c:pt idx="25">
                  <c:v>0.9322</c:v>
                </c:pt>
                <c:pt idx="26">
                  <c:v>0.9587</c:v>
                </c:pt>
                <c:pt idx="27">
                  <c:v>0.9705</c:v>
                </c:pt>
                <c:pt idx="28">
                  <c:v>0.9705</c:v>
                </c:pt>
                <c:pt idx="29">
                  <c:v>0.9735</c:v>
                </c:pt>
                <c:pt idx="30">
                  <c:v>0.9735</c:v>
                </c:pt>
                <c:pt idx="31">
                  <c:v>0.9735</c:v>
                </c:pt>
                <c:pt idx="32">
                  <c:v>0.9735</c:v>
                </c:pt>
                <c:pt idx="33">
                  <c:v>0.9735</c:v>
                </c:pt>
                <c:pt idx="34">
                  <c:v>0.9794</c:v>
                </c:pt>
                <c:pt idx="35">
                  <c:v>0.9794</c:v>
                </c:pt>
                <c:pt idx="36">
                  <c:v>0.9794</c:v>
                </c:pt>
                <c:pt idx="37">
                  <c:v>0.9794</c:v>
                </c:pt>
                <c:pt idx="38">
                  <c:v>0.9794</c:v>
                </c:pt>
                <c:pt idx="39">
                  <c:v>0.9794</c:v>
                </c:pt>
                <c:pt idx="40">
                  <c:v>0.9794</c:v>
                </c:pt>
                <c:pt idx="41">
                  <c:v>0.9794</c:v>
                </c:pt>
                <c:pt idx="42">
                  <c:v>0.9794</c:v>
                </c:pt>
                <c:pt idx="43">
                  <c:v>0.9794</c:v>
                </c:pt>
                <c:pt idx="44">
                  <c:v>0.9794</c:v>
                </c:pt>
                <c:pt idx="45">
                  <c:v>0.9823</c:v>
                </c:pt>
                <c:pt idx="46">
                  <c:v>0.9823</c:v>
                </c:pt>
                <c:pt idx="47">
                  <c:v>0.9823</c:v>
                </c:pt>
                <c:pt idx="48">
                  <c:v>0.9823</c:v>
                </c:pt>
                <c:pt idx="49">
                  <c:v>0.9823</c:v>
                </c:pt>
                <c:pt idx="50">
                  <c:v>0.9823</c:v>
                </c:pt>
                <c:pt idx="51">
                  <c:v>0.9823</c:v>
                </c:pt>
                <c:pt idx="52">
                  <c:v>0.9823</c:v>
                </c:pt>
                <c:pt idx="53">
                  <c:v>0.9823</c:v>
                </c:pt>
                <c:pt idx="54">
                  <c:v>0.9823</c:v>
                </c:pt>
                <c:pt idx="55">
                  <c:v>0.9823</c:v>
                </c:pt>
                <c:pt idx="56">
                  <c:v>0.9823</c:v>
                </c:pt>
                <c:pt idx="57">
                  <c:v>0.9823</c:v>
                </c:pt>
                <c:pt idx="58">
                  <c:v>0.9853</c:v>
                </c:pt>
                <c:pt idx="59">
                  <c:v>0.9853</c:v>
                </c:pt>
                <c:pt idx="60">
                  <c:v>0.9882</c:v>
                </c:pt>
                <c:pt idx="61">
                  <c:v>0.9912</c:v>
                </c:pt>
                <c:pt idx="62">
                  <c:v>0.9912</c:v>
                </c:pt>
                <c:pt idx="63">
                  <c:v>0.9912</c:v>
                </c:pt>
                <c:pt idx="64">
                  <c:v>0.9941</c:v>
                </c:pt>
                <c:pt idx="65">
                  <c:v>0.9949</c:v>
                </c:pt>
                <c:pt idx="66">
                  <c:v>0.9971</c:v>
                </c:pt>
                <c:pt idx="67">
                  <c:v>0.9971</c:v>
                </c:pt>
                <c:pt idx="68">
                  <c:v>0.9971</c:v>
                </c:pt>
                <c:pt idx="69">
                  <c:v>0.9971</c:v>
                </c:pt>
                <c:pt idx="70">
                  <c:v>0.9971</c:v>
                </c:pt>
                <c:pt idx="71">
                  <c:v>0.9971</c:v>
                </c:pt>
                <c:pt idx="72">
                  <c:v>1</c:v>
                </c:pt>
                <c:pt idx="73">
                  <c:v>1</c:v>
                </c:pt>
              </c:numCache>
            </c:numRef>
          </c:yVal>
          <c:smooth val="0"/>
        </c:ser>
        <c:ser>
          <c:idx val="1"/>
          <c:order val="1"/>
          <c:tx>
            <c:strRef>
              <c:f>Sheet1!$C$1</c:f>
              <c:strCache>
                <c:ptCount val="1"/>
                <c:pt idx="0">
                  <c:v>XGBoost  (0.980)</c:v>
                </c:pt>
              </c:strCache>
            </c:strRef>
          </c:tx>
          <c:spPr>
            <a:solidFill>
              <a:srgbClr val="1BAF7A"/>
            </a:solidFill>
            <a:ln w="31750" cap="flat">
              <a:solidFill>
                <a:srgbClr val="1BAF7A"/>
              </a:solidFill>
              <a:prstDash val="solid"/>
              <a:round/>
            </a:ln>
            <a:effectLst/>
          </c:spPr>
          <c:marker>
            <c:symbol val="none"/>
            <c:size val="6"/>
            <c:spPr>
              <a:solidFill>
                <a:srgbClr val="1BAF7A"/>
              </a:solidFill>
              <a:ln w="9525" cap="flat">
                <a:solidFill>
                  <a:srgbClr val="1BAF7A"/>
                </a:solidFill>
                <a:prstDash val="solid"/>
                <a:round/>
              </a:ln>
              <a:effectLst/>
            </c:spPr>
          </c:marker>
          <c:xVal>
            <c:numRef>
              <c:f>Sheet1!$A$2:$A$75</c:f>
              <c:numCache>
                <c:formatCode>General</c:formatCode>
                <c:ptCount val="74"/>
                <c:pt idx="0">
                  <c:v>0</c:v>
                </c:pt>
                <c:pt idx="1">
                  <c:v>0.002</c:v>
                </c:pt>
                <c:pt idx="2">
                  <c:v>0.004</c:v>
                </c:pt>
                <c:pt idx="3">
                  <c:v>0.006</c:v>
                </c:pt>
                <c:pt idx="4">
                  <c:v>0.008</c:v>
                </c:pt>
                <c:pt idx="5">
                  <c:v>0.01</c:v>
                </c:pt>
                <c:pt idx="6">
                  <c:v>0.012</c:v>
                </c:pt>
                <c:pt idx="7">
                  <c:v>0.014</c:v>
                </c:pt>
                <c:pt idx="8">
                  <c:v>0.016</c:v>
                </c:pt>
                <c:pt idx="9">
                  <c:v>0.018</c:v>
                </c:pt>
                <c:pt idx="10">
                  <c:v>0.02</c:v>
                </c:pt>
                <c:pt idx="11">
                  <c:v>0.022</c:v>
                </c:pt>
                <c:pt idx="12">
                  <c:v>0.024</c:v>
                </c:pt>
                <c:pt idx="13">
                  <c:v>0.026</c:v>
                </c:pt>
                <c:pt idx="14">
                  <c:v>0.028</c:v>
                </c:pt>
                <c:pt idx="15">
                  <c:v>0.03</c:v>
                </c:pt>
                <c:pt idx="16">
                  <c:v>0.032</c:v>
                </c:pt>
                <c:pt idx="17">
                  <c:v>0.034</c:v>
                </c:pt>
                <c:pt idx="18">
                  <c:v>0.036</c:v>
                </c:pt>
                <c:pt idx="19">
                  <c:v>0.038</c:v>
                </c:pt>
                <c:pt idx="20">
                  <c:v>0.04</c:v>
                </c:pt>
                <c:pt idx="21">
                  <c:v>0.042</c:v>
                </c:pt>
                <c:pt idx="22">
                  <c:v>0.044</c:v>
                </c:pt>
                <c:pt idx="23">
                  <c:v>0.046</c:v>
                </c:pt>
                <c:pt idx="24">
                  <c:v>0.048</c:v>
                </c:pt>
                <c:pt idx="25">
                  <c:v>0.05</c:v>
                </c:pt>
                <c:pt idx="26">
                  <c:v>0.06</c:v>
                </c:pt>
                <c:pt idx="27">
                  <c:v>0.08</c:v>
                </c:pt>
                <c:pt idx="28">
                  <c:v>0.1</c:v>
                </c:pt>
                <c:pt idx="29">
                  <c:v>0.12</c:v>
                </c:pt>
                <c:pt idx="30">
                  <c:v>0.14</c:v>
                </c:pt>
                <c:pt idx="31">
                  <c:v>0.16</c:v>
                </c:pt>
                <c:pt idx="32">
                  <c:v>0.18</c:v>
                </c:pt>
                <c:pt idx="33">
                  <c:v>0.2</c:v>
                </c:pt>
                <c:pt idx="34">
                  <c:v>0.22</c:v>
                </c:pt>
                <c:pt idx="35">
                  <c:v>0.24</c:v>
                </c:pt>
                <c:pt idx="36">
                  <c:v>0.26</c:v>
                </c:pt>
                <c:pt idx="37">
                  <c:v>0.28</c:v>
                </c:pt>
                <c:pt idx="38">
                  <c:v>0.3</c:v>
                </c:pt>
                <c:pt idx="39">
                  <c:v>0.32</c:v>
                </c:pt>
                <c:pt idx="40">
                  <c:v>0.34</c:v>
                </c:pt>
                <c:pt idx="41">
                  <c:v>0.36</c:v>
                </c:pt>
                <c:pt idx="42">
                  <c:v>0.38</c:v>
                </c:pt>
                <c:pt idx="43">
                  <c:v>0.4</c:v>
                </c:pt>
                <c:pt idx="44">
                  <c:v>0.42</c:v>
                </c:pt>
                <c:pt idx="45">
                  <c:v>0.44</c:v>
                </c:pt>
                <c:pt idx="46">
                  <c:v>0.46</c:v>
                </c:pt>
                <c:pt idx="47">
                  <c:v>0.48</c:v>
                </c:pt>
                <c:pt idx="48">
                  <c:v>0.5</c:v>
                </c:pt>
                <c:pt idx="49">
                  <c:v>0.52</c:v>
                </c:pt>
                <c:pt idx="50">
                  <c:v>0.54</c:v>
                </c:pt>
                <c:pt idx="51">
                  <c:v>0.56</c:v>
                </c:pt>
                <c:pt idx="52">
                  <c:v>0.58</c:v>
                </c:pt>
                <c:pt idx="53">
                  <c:v>0.6</c:v>
                </c:pt>
                <c:pt idx="54">
                  <c:v>0.62</c:v>
                </c:pt>
                <c:pt idx="55">
                  <c:v>0.64</c:v>
                </c:pt>
                <c:pt idx="56">
                  <c:v>0.66</c:v>
                </c:pt>
                <c:pt idx="57">
                  <c:v>0.68</c:v>
                </c:pt>
                <c:pt idx="58">
                  <c:v>0.7</c:v>
                </c:pt>
                <c:pt idx="59">
                  <c:v>0.72</c:v>
                </c:pt>
                <c:pt idx="60">
                  <c:v>0.74</c:v>
                </c:pt>
                <c:pt idx="61">
                  <c:v>0.76</c:v>
                </c:pt>
                <c:pt idx="62">
                  <c:v>0.78</c:v>
                </c:pt>
                <c:pt idx="63">
                  <c:v>0.8</c:v>
                </c:pt>
                <c:pt idx="64">
                  <c:v>0.82</c:v>
                </c:pt>
                <c:pt idx="65">
                  <c:v>0.84</c:v>
                </c:pt>
                <c:pt idx="66">
                  <c:v>0.86</c:v>
                </c:pt>
                <c:pt idx="67">
                  <c:v>0.88</c:v>
                </c:pt>
                <c:pt idx="68">
                  <c:v>0.9</c:v>
                </c:pt>
                <c:pt idx="69">
                  <c:v>0.92</c:v>
                </c:pt>
                <c:pt idx="70">
                  <c:v>0.94</c:v>
                </c:pt>
                <c:pt idx="71">
                  <c:v>0.96</c:v>
                </c:pt>
                <c:pt idx="72">
                  <c:v>0.98</c:v>
                </c:pt>
                <c:pt idx="73">
                  <c:v>1</c:v>
                </c:pt>
              </c:numCache>
            </c:numRef>
          </c:xVal>
          <c:yVal>
            <c:numRef>
              <c:f>Sheet1!$C$2:$C$75</c:f>
              <c:numCache>
                <c:formatCode>General</c:formatCode>
                <c:ptCount val="74"/>
                <c:pt idx="0">
                  <c:v>0.351</c:v>
                </c:pt>
                <c:pt idx="1">
                  <c:v>0.7493</c:v>
                </c:pt>
                <c:pt idx="2">
                  <c:v>0.8171</c:v>
                </c:pt>
                <c:pt idx="3">
                  <c:v>0.8348</c:v>
                </c:pt>
                <c:pt idx="4">
                  <c:v>0.8437</c:v>
                </c:pt>
                <c:pt idx="5">
                  <c:v>0.8466</c:v>
                </c:pt>
                <c:pt idx="6">
                  <c:v>0.8466</c:v>
                </c:pt>
                <c:pt idx="7">
                  <c:v>0.8466</c:v>
                </c:pt>
                <c:pt idx="8">
                  <c:v>0.8525</c:v>
                </c:pt>
                <c:pt idx="9">
                  <c:v>0.8525</c:v>
                </c:pt>
                <c:pt idx="10">
                  <c:v>0.8555</c:v>
                </c:pt>
                <c:pt idx="11">
                  <c:v>0.8614</c:v>
                </c:pt>
                <c:pt idx="12">
                  <c:v>0.8614</c:v>
                </c:pt>
                <c:pt idx="13">
                  <c:v>0.8643</c:v>
                </c:pt>
                <c:pt idx="14">
                  <c:v>0.8673</c:v>
                </c:pt>
                <c:pt idx="15">
                  <c:v>0.8702</c:v>
                </c:pt>
                <c:pt idx="16">
                  <c:v>0.8702</c:v>
                </c:pt>
                <c:pt idx="17">
                  <c:v>0.8702</c:v>
                </c:pt>
                <c:pt idx="18">
                  <c:v>0.8732</c:v>
                </c:pt>
                <c:pt idx="19">
                  <c:v>0.8791</c:v>
                </c:pt>
                <c:pt idx="20">
                  <c:v>0.8791</c:v>
                </c:pt>
                <c:pt idx="21">
                  <c:v>0.882</c:v>
                </c:pt>
                <c:pt idx="22">
                  <c:v>0.882</c:v>
                </c:pt>
                <c:pt idx="23">
                  <c:v>0.8879</c:v>
                </c:pt>
                <c:pt idx="24">
                  <c:v>0.8909</c:v>
                </c:pt>
                <c:pt idx="25">
                  <c:v>0.8968</c:v>
                </c:pt>
                <c:pt idx="26">
                  <c:v>0.9086</c:v>
                </c:pt>
                <c:pt idx="27">
                  <c:v>0.9263</c:v>
                </c:pt>
                <c:pt idx="28">
                  <c:v>0.944</c:v>
                </c:pt>
                <c:pt idx="29">
                  <c:v>0.9558</c:v>
                </c:pt>
                <c:pt idx="30">
                  <c:v>0.9705</c:v>
                </c:pt>
                <c:pt idx="31">
                  <c:v>0.9735</c:v>
                </c:pt>
                <c:pt idx="32">
                  <c:v>0.9794</c:v>
                </c:pt>
                <c:pt idx="33">
                  <c:v>0.9794</c:v>
                </c:pt>
                <c:pt idx="34">
                  <c:v>0.9794</c:v>
                </c:pt>
                <c:pt idx="35">
                  <c:v>0.9853</c:v>
                </c:pt>
                <c:pt idx="36">
                  <c:v>0.9853</c:v>
                </c:pt>
                <c:pt idx="37">
                  <c:v>0.9853</c:v>
                </c:pt>
                <c:pt idx="38">
                  <c:v>0.9882</c:v>
                </c:pt>
                <c:pt idx="39">
                  <c:v>0.9941</c:v>
                </c:pt>
                <c:pt idx="40">
                  <c:v>0.9941</c:v>
                </c:pt>
                <c:pt idx="41">
                  <c:v>0.9941</c:v>
                </c:pt>
                <c:pt idx="42">
                  <c:v>0.9941</c:v>
                </c:pt>
                <c:pt idx="43">
                  <c:v>0.9941</c:v>
                </c:pt>
                <c:pt idx="44">
                  <c:v>0.9941</c:v>
                </c:pt>
                <c:pt idx="45">
                  <c:v>0.9941</c:v>
                </c:pt>
                <c:pt idx="46">
                  <c:v>0.9941</c:v>
                </c:pt>
                <c:pt idx="47">
                  <c:v>0.9941</c:v>
                </c:pt>
                <c:pt idx="48">
                  <c:v>0.9941</c:v>
                </c:pt>
                <c:pt idx="49">
                  <c:v>0.9941</c:v>
                </c:pt>
                <c:pt idx="50">
                  <c:v>0.9941</c:v>
                </c:pt>
                <c:pt idx="51">
                  <c:v>0.9941</c:v>
                </c:pt>
                <c:pt idx="52">
                  <c:v>0.9941</c:v>
                </c:pt>
                <c:pt idx="53">
                  <c:v>0.9941</c:v>
                </c:pt>
                <c:pt idx="54">
                  <c:v>0.9941</c:v>
                </c:pt>
                <c:pt idx="55">
                  <c:v>0.9941</c:v>
                </c:pt>
                <c:pt idx="56">
                  <c:v>0.9941</c:v>
                </c:pt>
                <c:pt idx="57">
                  <c:v>0.9941</c:v>
                </c:pt>
                <c:pt idx="58">
                  <c:v>0.9941</c:v>
                </c:pt>
                <c:pt idx="59">
                  <c:v>0.9941</c:v>
                </c:pt>
                <c:pt idx="60">
                  <c:v>0.9941</c:v>
                </c:pt>
                <c:pt idx="61">
                  <c:v>0.9941</c:v>
                </c:pt>
                <c:pt idx="62">
                  <c:v>0.9941</c:v>
                </c:pt>
                <c:pt idx="63">
                  <c:v>0.9941</c:v>
                </c:pt>
                <c:pt idx="64">
                  <c:v>0.9941</c:v>
                </c:pt>
                <c:pt idx="65">
                  <c:v>0.9971</c:v>
                </c:pt>
                <c:pt idx="66">
                  <c:v>0.9971</c:v>
                </c:pt>
                <c:pt idx="67">
                  <c:v>0.9971</c:v>
                </c:pt>
                <c:pt idx="68">
                  <c:v>0.9971</c:v>
                </c:pt>
                <c:pt idx="69">
                  <c:v>1</c:v>
                </c:pt>
                <c:pt idx="70">
                  <c:v>1</c:v>
                </c:pt>
                <c:pt idx="71">
                  <c:v>1</c:v>
                </c:pt>
                <c:pt idx="72">
                  <c:v>1</c:v>
                </c:pt>
                <c:pt idx="73">
                  <c:v>1</c:v>
                </c:pt>
              </c:numCache>
            </c:numRef>
          </c:yVal>
          <c:smooth val="0"/>
        </c:ser>
        <c:ser>
          <c:idx val="2"/>
          <c:order val="2"/>
          <c:tx>
            <c:strRef>
              <c:f>Sheet1!$D$1</c:f>
              <c:strCache>
                <c:ptCount val="1"/>
                <c:pt idx="0">
                  <c:v>Logistic Regression  (0.918)</c:v>
                </c:pt>
              </c:strCache>
            </c:strRef>
          </c:tx>
          <c:spPr>
            <a:solidFill>
              <a:srgbClr val="2A78D6"/>
            </a:solidFill>
            <a:ln w="31750" cap="flat">
              <a:solidFill>
                <a:srgbClr val="2A78D6"/>
              </a:solidFill>
              <a:prstDash val="solid"/>
              <a:round/>
            </a:ln>
            <a:effectLst/>
          </c:spPr>
          <c:marker>
            <c:symbol val="none"/>
            <c:size val="6"/>
            <c:spPr>
              <a:solidFill>
                <a:srgbClr val="2A78D6"/>
              </a:solidFill>
              <a:ln w="9525" cap="flat">
                <a:solidFill>
                  <a:srgbClr val="2A78D6"/>
                </a:solidFill>
                <a:prstDash val="solid"/>
                <a:round/>
              </a:ln>
              <a:effectLst/>
            </c:spPr>
          </c:marker>
          <c:xVal>
            <c:numRef>
              <c:f>Sheet1!$A$2:$A$75</c:f>
              <c:numCache>
                <c:formatCode>General</c:formatCode>
                <c:ptCount val="74"/>
                <c:pt idx="0">
                  <c:v>0</c:v>
                </c:pt>
                <c:pt idx="1">
                  <c:v>0.002</c:v>
                </c:pt>
                <c:pt idx="2">
                  <c:v>0.004</c:v>
                </c:pt>
                <c:pt idx="3">
                  <c:v>0.006</c:v>
                </c:pt>
                <c:pt idx="4">
                  <c:v>0.008</c:v>
                </c:pt>
                <c:pt idx="5">
                  <c:v>0.01</c:v>
                </c:pt>
                <c:pt idx="6">
                  <c:v>0.012</c:v>
                </c:pt>
                <c:pt idx="7">
                  <c:v>0.014</c:v>
                </c:pt>
                <c:pt idx="8">
                  <c:v>0.016</c:v>
                </c:pt>
                <c:pt idx="9">
                  <c:v>0.018</c:v>
                </c:pt>
                <c:pt idx="10">
                  <c:v>0.02</c:v>
                </c:pt>
                <c:pt idx="11">
                  <c:v>0.022</c:v>
                </c:pt>
                <c:pt idx="12">
                  <c:v>0.024</c:v>
                </c:pt>
                <c:pt idx="13">
                  <c:v>0.026</c:v>
                </c:pt>
                <c:pt idx="14">
                  <c:v>0.028</c:v>
                </c:pt>
                <c:pt idx="15">
                  <c:v>0.03</c:v>
                </c:pt>
                <c:pt idx="16">
                  <c:v>0.032</c:v>
                </c:pt>
                <c:pt idx="17">
                  <c:v>0.034</c:v>
                </c:pt>
                <c:pt idx="18">
                  <c:v>0.036</c:v>
                </c:pt>
                <c:pt idx="19">
                  <c:v>0.038</c:v>
                </c:pt>
                <c:pt idx="20">
                  <c:v>0.04</c:v>
                </c:pt>
                <c:pt idx="21">
                  <c:v>0.042</c:v>
                </c:pt>
                <c:pt idx="22">
                  <c:v>0.044</c:v>
                </c:pt>
                <c:pt idx="23">
                  <c:v>0.046</c:v>
                </c:pt>
                <c:pt idx="24">
                  <c:v>0.048</c:v>
                </c:pt>
                <c:pt idx="25">
                  <c:v>0.05</c:v>
                </c:pt>
                <c:pt idx="26">
                  <c:v>0.06</c:v>
                </c:pt>
                <c:pt idx="27">
                  <c:v>0.08</c:v>
                </c:pt>
                <c:pt idx="28">
                  <c:v>0.1</c:v>
                </c:pt>
                <c:pt idx="29">
                  <c:v>0.12</c:v>
                </c:pt>
                <c:pt idx="30">
                  <c:v>0.14</c:v>
                </c:pt>
                <c:pt idx="31">
                  <c:v>0.16</c:v>
                </c:pt>
                <c:pt idx="32">
                  <c:v>0.18</c:v>
                </c:pt>
                <c:pt idx="33">
                  <c:v>0.2</c:v>
                </c:pt>
                <c:pt idx="34">
                  <c:v>0.22</c:v>
                </c:pt>
                <c:pt idx="35">
                  <c:v>0.24</c:v>
                </c:pt>
                <c:pt idx="36">
                  <c:v>0.26</c:v>
                </c:pt>
                <c:pt idx="37">
                  <c:v>0.28</c:v>
                </c:pt>
                <c:pt idx="38">
                  <c:v>0.3</c:v>
                </c:pt>
                <c:pt idx="39">
                  <c:v>0.32</c:v>
                </c:pt>
                <c:pt idx="40">
                  <c:v>0.34</c:v>
                </c:pt>
                <c:pt idx="41">
                  <c:v>0.36</c:v>
                </c:pt>
                <c:pt idx="42">
                  <c:v>0.38</c:v>
                </c:pt>
                <c:pt idx="43">
                  <c:v>0.4</c:v>
                </c:pt>
                <c:pt idx="44">
                  <c:v>0.42</c:v>
                </c:pt>
                <c:pt idx="45">
                  <c:v>0.44</c:v>
                </c:pt>
                <c:pt idx="46">
                  <c:v>0.46</c:v>
                </c:pt>
                <c:pt idx="47">
                  <c:v>0.48</c:v>
                </c:pt>
                <c:pt idx="48">
                  <c:v>0.5</c:v>
                </c:pt>
                <c:pt idx="49">
                  <c:v>0.52</c:v>
                </c:pt>
                <c:pt idx="50">
                  <c:v>0.54</c:v>
                </c:pt>
                <c:pt idx="51">
                  <c:v>0.56</c:v>
                </c:pt>
                <c:pt idx="52">
                  <c:v>0.58</c:v>
                </c:pt>
                <c:pt idx="53">
                  <c:v>0.6</c:v>
                </c:pt>
                <c:pt idx="54">
                  <c:v>0.62</c:v>
                </c:pt>
                <c:pt idx="55">
                  <c:v>0.64</c:v>
                </c:pt>
                <c:pt idx="56">
                  <c:v>0.66</c:v>
                </c:pt>
                <c:pt idx="57">
                  <c:v>0.68</c:v>
                </c:pt>
                <c:pt idx="58">
                  <c:v>0.7</c:v>
                </c:pt>
                <c:pt idx="59">
                  <c:v>0.72</c:v>
                </c:pt>
                <c:pt idx="60">
                  <c:v>0.74</c:v>
                </c:pt>
                <c:pt idx="61">
                  <c:v>0.76</c:v>
                </c:pt>
                <c:pt idx="62">
                  <c:v>0.78</c:v>
                </c:pt>
                <c:pt idx="63">
                  <c:v>0.8</c:v>
                </c:pt>
                <c:pt idx="64">
                  <c:v>0.82</c:v>
                </c:pt>
                <c:pt idx="65">
                  <c:v>0.84</c:v>
                </c:pt>
                <c:pt idx="66">
                  <c:v>0.86</c:v>
                </c:pt>
                <c:pt idx="67">
                  <c:v>0.88</c:v>
                </c:pt>
                <c:pt idx="68">
                  <c:v>0.9</c:v>
                </c:pt>
                <c:pt idx="69">
                  <c:v>0.92</c:v>
                </c:pt>
                <c:pt idx="70">
                  <c:v>0.94</c:v>
                </c:pt>
                <c:pt idx="71">
                  <c:v>0.96</c:v>
                </c:pt>
                <c:pt idx="72">
                  <c:v>0.98</c:v>
                </c:pt>
                <c:pt idx="73">
                  <c:v>1</c:v>
                </c:pt>
              </c:numCache>
            </c:numRef>
          </c:xVal>
          <c:yVal>
            <c:numRef>
              <c:f>Sheet1!$D$2:$D$75</c:f>
              <c:numCache>
                <c:formatCode>General</c:formatCode>
                <c:ptCount val="74"/>
                <c:pt idx="0">
                  <c:v>0.0295</c:v>
                </c:pt>
                <c:pt idx="1">
                  <c:v>0.2094</c:v>
                </c:pt>
                <c:pt idx="2">
                  <c:v>0.2625</c:v>
                </c:pt>
                <c:pt idx="3">
                  <c:v>0.3097</c:v>
                </c:pt>
                <c:pt idx="4">
                  <c:v>0.354</c:v>
                </c:pt>
                <c:pt idx="5">
                  <c:v>0.3805</c:v>
                </c:pt>
                <c:pt idx="6">
                  <c:v>0.413</c:v>
                </c:pt>
                <c:pt idx="7">
                  <c:v>0.4484</c:v>
                </c:pt>
                <c:pt idx="8">
                  <c:v>0.4838</c:v>
                </c:pt>
                <c:pt idx="9">
                  <c:v>0.4926</c:v>
                </c:pt>
                <c:pt idx="10">
                  <c:v>0.4985</c:v>
                </c:pt>
                <c:pt idx="11">
                  <c:v>0.5162</c:v>
                </c:pt>
                <c:pt idx="12">
                  <c:v>0.531</c:v>
                </c:pt>
                <c:pt idx="13">
                  <c:v>0.5457</c:v>
                </c:pt>
                <c:pt idx="14">
                  <c:v>0.5575</c:v>
                </c:pt>
                <c:pt idx="15">
                  <c:v>0.5693</c:v>
                </c:pt>
                <c:pt idx="16">
                  <c:v>0.5723</c:v>
                </c:pt>
                <c:pt idx="17">
                  <c:v>0.5841</c:v>
                </c:pt>
                <c:pt idx="18">
                  <c:v>0.5988</c:v>
                </c:pt>
                <c:pt idx="19">
                  <c:v>0.6136</c:v>
                </c:pt>
                <c:pt idx="20">
                  <c:v>0.6165</c:v>
                </c:pt>
                <c:pt idx="21">
                  <c:v>0.6254</c:v>
                </c:pt>
                <c:pt idx="22">
                  <c:v>0.6401</c:v>
                </c:pt>
                <c:pt idx="23">
                  <c:v>0.6401</c:v>
                </c:pt>
                <c:pt idx="24">
                  <c:v>0.646</c:v>
                </c:pt>
                <c:pt idx="25">
                  <c:v>0.649</c:v>
                </c:pt>
                <c:pt idx="26">
                  <c:v>0.6844</c:v>
                </c:pt>
                <c:pt idx="27">
                  <c:v>0.7257</c:v>
                </c:pt>
                <c:pt idx="28">
                  <c:v>0.767</c:v>
                </c:pt>
                <c:pt idx="29">
                  <c:v>0.7935</c:v>
                </c:pt>
                <c:pt idx="30">
                  <c:v>0.8201</c:v>
                </c:pt>
                <c:pt idx="31">
                  <c:v>0.8437</c:v>
                </c:pt>
                <c:pt idx="32">
                  <c:v>0.8643</c:v>
                </c:pt>
                <c:pt idx="33">
                  <c:v>0.8702</c:v>
                </c:pt>
                <c:pt idx="34">
                  <c:v>0.8909</c:v>
                </c:pt>
                <c:pt idx="35">
                  <c:v>0.9027</c:v>
                </c:pt>
                <c:pt idx="36">
                  <c:v>0.9086</c:v>
                </c:pt>
                <c:pt idx="37">
                  <c:v>0.9145</c:v>
                </c:pt>
                <c:pt idx="38">
                  <c:v>0.9204</c:v>
                </c:pt>
                <c:pt idx="39">
                  <c:v>0.9233</c:v>
                </c:pt>
                <c:pt idx="40">
                  <c:v>0.9292</c:v>
                </c:pt>
                <c:pt idx="41">
                  <c:v>0.9322</c:v>
                </c:pt>
                <c:pt idx="42">
                  <c:v>0.9381</c:v>
                </c:pt>
                <c:pt idx="43">
                  <c:v>0.944</c:v>
                </c:pt>
                <c:pt idx="44">
                  <c:v>0.9528</c:v>
                </c:pt>
                <c:pt idx="45">
                  <c:v>0.9587</c:v>
                </c:pt>
                <c:pt idx="46">
                  <c:v>0.9617</c:v>
                </c:pt>
                <c:pt idx="47">
                  <c:v>0.9676</c:v>
                </c:pt>
                <c:pt idx="48">
                  <c:v>0.9705</c:v>
                </c:pt>
                <c:pt idx="49">
                  <c:v>0.9764</c:v>
                </c:pt>
                <c:pt idx="50">
                  <c:v>0.9823</c:v>
                </c:pt>
                <c:pt idx="51">
                  <c:v>0.9823</c:v>
                </c:pt>
                <c:pt idx="52">
                  <c:v>0.9823</c:v>
                </c:pt>
                <c:pt idx="53">
                  <c:v>0.9823</c:v>
                </c:pt>
                <c:pt idx="54">
                  <c:v>0.9823</c:v>
                </c:pt>
                <c:pt idx="55">
                  <c:v>0.9853</c:v>
                </c:pt>
                <c:pt idx="56">
                  <c:v>0.9882</c:v>
                </c:pt>
                <c:pt idx="57">
                  <c:v>0.9882</c:v>
                </c:pt>
                <c:pt idx="58">
                  <c:v>0.9882</c:v>
                </c:pt>
                <c:pt idx="59">
                  <c:v>0.9882</c:v>
                </c:pt>
                <c:pt idx="60">
                  <c:v>0.9912</c:v>
                </c:pt>
                <c:pt idx="61">
                  <c:v>0.9941</c:v>
                </c:pt>
                <c:pt idx="62">
                  <c:v>0.9941</c:v>
                </c:pt>
                <c:pt idx="63">
                  <c:v>0.9971</c:v>
                </c:pt>
                <c:pt idx="64">
                  <c:v>0.9971</c:v>
                </c:pt>
                <c:pt idx="65">
                  <c:v>0.9971</c:v>
                </c:pt>
                <c:pt idx="66">
                  <c:v>1</c:v>
                </c:pt>
                <c:pt idx="67">
                  <c:v>1</c:v>
                </c:pt>
                <c:pt idx="68">
                  <c:v>1</c:v>
                </c:pt>
                <c:pt idx="69">
                  <c:v>1</c:v>
                </c:pt>
                <c:pt idx="70">
                  <c:v>1</c:v>
                </c:pt>
                <c:pt idx="71">
                  <c:v>1</c:v>
                </c:pt>
                <c:pt idx="72">
                  <c:v>1</c:v>
                </c:pt>
                <c:pt idx="73">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majorGridlines>
          <c:spPr>
            <a:ln w="6350" cap="flat">
              <a:solidFill>
                <a:srgbClr val="E1E0D9"/>
              </a:solidFill>
              <a:prstDash val="solid"/>
              <a:round/>
            </a:ln>
          </c:spPr>
        </c:majorGridlines>
        <c:title>
          <c:tx>
            <c:rich>
              <a:bodyPr/>
              <a:lstStyle/>
              <a:p>
                <a:pPr>
                  <a:defRPr sz="1200" b="0" i="0" u="none" strike="noStrike">
                    <a:solidFill>
                      <a:srgbClr val="5E6B7A"/>
                    </a:solidFill>
                    <a:latin typeface="+mn-lt"/>
                  </a:defRPr>
                </a:pPr>
                <a:r>
                  <a:rPr sz="1200" b="0" i="0" u="none" strike="noStrike">
                    <a:solidFill>
                      <a:srgbClr val="5E6B7A"/>
                    </a:solidFill>
                    <a:latin typeface="+mn-lt"/>
                  </a:rPr>
                  <a:t>False-alarm rate</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5E6B7A"/>
                </a:solidFill>
                <a:latin typeface="+mn-lt"/>
              </a:defRPr>
            </a:pPr>
            <a:endParaRPr lang="en-US"/>
          </a:p>
        </c:txPr>
        <c:crossAx val="2094734552"/>
        <c:crosses val="autoZero"/>
        <c:auto val="1"/>
        <c:lblAlgn val="ctr"/>
        <c:noMultiLvlLbl val="1"/>
        <c:majorUnit val="0.2"/>
      </c:valAx>
      <c:valAx>
        <c:axId val="2094734552"/>
        <c:scaling>
          <c:orientation val="minMax"/>
          <c:max val="1"/>
          <c:min val="0"/>
        </c:scaling>
        <c:delete val="0"/>
        <c:axPos val="l"/>
        <c:majorGridlines>
          <c:spPr>
            <a:ln w="6350" cap="flat">
              <a:solidFill>
                <a:srgbClr val="E1E0D9"/>
              </a:solidFill>
              <a:prstDash val="solid"/>
              <a:round/>
            </a:ln>
          </c:spPr>
        </c:majorGridlines>
        <c:title>
          <c:tx>
            <c:rich>
              <a:bodyPr/>
              <a:lstStyle/>
              <a:p>
                <a:pPr>
                  <a:defRPr sz="1200" b="0" i="0" u="none" strike="noStrike">
                    <a:solidFill>
                      <a:srgbClr val="5E6B7A"/>
                    </a:solidFill>
                    <a:latin typeface="+mn-lt"/>
                  </a:defRPr>
                </a:pPr>
                <a:r>
                  <a:rPr sz="1200" b="0" i="0" u="none" strike="noStrike">
                    <a:solidFill>
                      <a:srgbClr val="5E6B7A"/>
                    </a:solidFill>
                    <a:latin typeface="+mn-lt"/>
                  </a:rPr>
                  <a:t>Failures caught</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E6B7A"/>
                </a:solidFill>
                <a:latin typeface="+mn-lt"/>
              </a:defRPr>
            </a:pPr>
            <a:endParaRPr lang="en-US"/>
          </a:p>
        </c:txPr>
        <c:crossAx val="2094734554"/>
        <c:crosses val="autoZero"/>
        <c:crossBetween val="midCat"/>
        <c:majorUnit val="0.2"/>
      </c:valAx>
      <c:spPr>
        <a:noFill/>
        <a:ln>
          <a:noFill/>
        </a:ln>
        <a:effectLst/>
      </c:spPr>
    </c:plotArea>
    <c:legend>
      <c:legendPos val="b"/>
      <c:overlay val="0"/>
      <c:txPr>
        <a:bodyPr/>
        <a:lstStyle/>
        <a:p>
          <a:pPr>
            <a:defRPr sz="1100">
              <a:solidFill>
                <a:srgbClr val="0E1A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(~20s)
Good morning, sir, and everyone. We are Group 11. I'm [your name], and with me are [names].
Our project is called “Predicting Machine Failure from Process Parameters”. In simple words: can a machine's own readings warn us before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(~120s)
Imagine a factory machine that suddenly breaks in the middle of a shift. The production line stops, the parts it was making are wasted, and the repair has to happen in a hurry. That is expensive.
But a machine gives us clues all the time: how fast it spins, how much twisting force it uses, how hot it runs, and how worn its cutting tool is. Our idea was to use these clues to spot danger early. This idea is called predictive maintenance: fixing a machine just before it fails, instead of after it breaks, or on a fixed schedule that may be far too early.
We set three goals. First, predict: for every run of the machine, estimate the chance that it will fail. Second, explain: show which settings push that risk up. Third, recommend: give safe settings for each product type, so the operator knows how to run the machine safely.
[point right] This is why it matters in a real plant. One, maintenance can happen before a breakdown, not after it. Two, smarter tool changes: we found the risk jumps about forty times once a tool has been used for around two hundred minutes, so tool changes can be planned. Three, safe operating windows: a range of power and force where the risk stays low.
To do all this we needed data, and [Speaker 2] will now show you what our data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(~70s)
Thank you. We used a public dataset called AI4I 2020. It records ten thousand runs of a milling machine. For each run we know six things: the product's quality type, two temperatures, the speed, the torque, which is the twisting force, and how worn the tool is. And we know whether it failed.
Here is the catch: only 339 runs failed. That is just 3.4 percent, about one failure for every 28 healthy runs. [point to chart] The chart shows the five types of failure.
This creates two traps. [point to cards] First, five columns record which type of failure happened. They give the answer away, like reading the answer key during an exam, so we removed them. This mistake is called data leakage. Second, because failures are rare, a lazy model that always says “no failure” is 96.6 percent accurate, and still useless. So instead of accuracy, we use a score called PR-AUC, which measures how well the real failures are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(~70s)
Here is how we built the solution, in six steps.
One, we checked the data and removed the columns that give the answer away. Two, we added three features from physics: power, the temperature gap, and tool wear times torque, because these are what actually break machines.
Three, failures are rare, so we created extra failure examples for the model to learn from, with a method called SMOTE, and only from the training data, never from the test data.
Four, we compared three models. Each was tested five times on data it had never seen. This is called cross-validation, and it makes the results trustworthy.
Five, we fine-tuned the best model and set its alarm so it catches about nine out of ten failures. Six, we explained its decisions and turned them into safe settings.
[Speaker 3] will now show you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(~70s)
Thanks. The winner was the Random Forest, with a score of 0.915 out of 1. For comparison, random guessing would score only 0.034.
[point to left chart] This chart shows the key trade-off. Moving right means catching more failures; staying high means fewer false alarms. The orange line, our Random Forest, stays at the top the longest, so it is the best. The score we use is simply the area under each line: the bigger, the better. The blue line, the simplest model, drops quickly, because machine failures don't follow straight-line rules.
[point to middle chart] This second chart is a popular way to compare models, but notice that all three look good on it. That is exactly why we did not rely on it.
[point to cards] In practice, our model catches 89 percent of failures before they happen, and about half of its alarms are real. The other half are cheap extra inspections, a fair price for catching nine out of ten breakdowns.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(~60s)
To sum up, four points. Our predictions are reliable. Adding features from physics made a big difference. Our testing was honest: a careless setup could have shown a fake, near-perfect score of 0.999. And the model can explain itself: its reasons match the machine's real failure rules, even though we never told it those rules.
[point right] For a factory, this becomes simple advice: keep power between 4.75 and 8 kilowatts, change the tool before 200 minutes of use, keep torque below 54 newton-metres, and when the temperature gap gets small, keep the speed above 1,390 rpm.
We also built an interactive dashboard, where anyone can move these settings and instantly see the risk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(~10s)
Thank you for listening. We're happy to take your questions, and [console person] can show you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Ligh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losing-Dar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188720"/>
            <a:ext cx="76809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Group 11  ·  Predicting Machine Failure from Process Parameters</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011680"/>
            <a:ext cx="7315200" cy="128016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685800" y="640080"/>
            <a:ext cx="7315200" cy="365760"/>
          </a:xfrm>
          <a:prstGeom prst="rect">
            <a:avLst/>
          </a:prstGeom>
          <a:noFill/>
          <a:ln/>
        </p:spPr>
        <p:txBody>
          <a:bodyPr wrap="square" lIns="0" tIns="0" rIns="0" bIns="0" rtlCol="0" anchor="ctr"/>
          <a:lstStyle/>
          <a:p>
            <a:pPr indent="0" marL="0">
              <a:buNone/>
            </a:pPr>
            <a:r>
              <a:rPr lang="en-US" sz="1300" b="1" spc="400" kern="0" dirty="0">
                <a:solidFill>
                  <a:schemeClr val="accent2"/>
                </a:solidFill>
              </a:rPr>
              <a:t>AI IN MANUFACTURING  ·  COURSE PROJECT</a:t>
            </a:r>
            <a:endParaRPr lang="en-US" sz="1300" dirty="0"/>
          </a:p>
        </p:txBody>
      </p:sp>
      <p:sp>
        <p:nvSpPr>
          <p:cNvPr id="3" name="Text 0"/>
          <p:cNvSpPr/>
          <p:nvPr>
            <p:ph idx="100" type="title" hasCustomPrompt="1"/>
          </p:nvPr>
        </p:nvSpPr>
        <p:spPr>
          <a:xfrm>
            <a:off x="685800" y="1188720"/>
            <a:ext cx="7680960" cy="1828800"/>
          </a:xfrm>
          <a:prstGeom prst="rect">
            <a:avLst/>
          </a:prstGeom>
          <a:noFill/>
          <a:ln/>
        </p:spPr>
        <p:txBody>
          <a:bodyPr wrap="square" lIns="0" tIns="0" rIns="0" bIns="0" rtlCol="0" anchor="t"/>
          <a:lstStyle/>
          <a:p>
            <a:pPr algn="l" indent="0" marL="0">
              <a:buNone/>
            </a:pPr>
            <a:r>
              <a:rPr lang="en-US" sz="4400" b="1" dirty="0">
                <a:solidFill>
                  <a:schemeClr val="bg1"/>
                </a:solidFill>
              </a:rPr>
              <a:t>Predicting Machine Failure from Process Parameters</a:t>
            </a:r>
            <a:endParaRPr lang="en-US" sz="4400" dirty="0"/>
          </a:p>
        </p:txBody>
      </p:sp>
      <p:sp>
        <p:nvSpPr>
          <p:cNvPr id="4" name="Subtitle"/>
          <p:cNvSpPr txBox="1"/>
          <p:nvPr/>
        </p:nvSpPr>
        <p:spPr>
          <a:xfrm>
            <a:off x="685800" y="3063240"/>
            <a:ext cx="7498080" cy="731520"/>
          </a:xfrm>
          <a:prstGeom prst="rect">
            <a:avLst/>
          </a:prstGeom>
          <a:noFill/>
          <a:ln/>
        </p:spPr>
        <p:txBody>
          <a:bodyPr wrap="square" lIns="0" tIns="0" rIns="0" bIns="0" rtlCol="0" anchor="ctr"/>
          <a:lstStyle/>
          <a:p>
            <a:pPr indent="0" marL="0">
              <a:buNone/>
            </a:pPr>
            <a:r>
              <a:rPr lang="en-US" sz="1800" dirty="0">
                <a:solidFill>
                  <a:schemeClr val="accent5"/>
                </a:solidFill>
              </a:rPr>
              <a:t>Failure prediction, explanation and safe operating ranges on the AI4I 2020 predictive-maintenance dataset</a:t>
            </a:r>
            <a:endParaRPr lang="en-US" sz="1800" dirty="0"/>
          </a:p>
        </p:txBody>
      </p:sp>
      <p:sp>
        <p:nvSpPr>
          <p:cNvPr id="5" name="Group card"/>
          <p:cNvSpPr/>
          <p:nvPr/>
        </p:nvSpPr>
        <p:spPr>
          <a:xfrm>
            <a:off x="685800" y="4114800"/>
            <a:ext cx="7680960" cy="2103120"/>
          </a:xfrm>
          <a:prstGeom prst="roundRect">
            <a:avLst>
              <a:gd name="adj" fmla="val 6087"/>
            </a:avLst>
          </a:prstGeom>
          <a:solidFill>
            <a:schemeClr val="bg1">
              <a:alpha val="8000"/>
            </a:schemeClr>
          </a:solidFill>
          <a:ln w="9525">
            <a:solidFill>
              <a:srgbClr val="6FA8EC">
                <a:alpha val="40000"/>
              </a:srgbClr>
            </a:solidFill>
            <a:prstDash val="solid"/>
          </a:ln>
        </p:spPr>
      </p:sp>
      <p:sp>
        <p:nvSpPr>
          <p:cNvPr id="6" name="Group label"/>
          <p:cNvSpPr txBox="1"/>
          <p:nvPr/>
        </p:nvSpPr>
        <p:spPr>
          <a:xfrm>
            <a:off x="1005840" y="4315968"/>
            <a:ext cx="27432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GROUP 11</a:t>
            </a:r>
            <a:endParaRPr lang="en-US" sz="1400" dirty="0"/>
          </a:p>
        </p:txBody>
      </p:sp>
      <p:sp>
        <p:nvSpPr>
          <p:cNvPr id="7" name="Member 1"/>
          <p:cNvSpPr txBox="1"/>
          <p:nvPr/>
        </p:nvSpPr>
        <p:spPr>
          <a:xfrm>
            <a:off x="1005840" y="4754880"/>
            <a:ext cx="3520440" cy="566928"/>
          </a:xfrm>
          <a:prstGeom prst="rect">
            <a:avLst/>
          </a:prstGeom>
          <a:noFill/>
          <a:ln/>
        </p:spPr>
        <p:txBody>
          <a:bodyPr wrap="square" lIns="0" tIns="0" rIns="0" bIns="0" rtlCol="0" anchor="t"/>
          <a:lstStyle/>
          <a:p>
            <a:pPr indent="0" marL="0">
              <a:buNone/>
            </a:pPr>
            <a:r>
              <a:rPr lang="en-US" sz="1600" b="1" dirty="0">
                <a:solidFill>
                  <a:schemeClr val="bg1"/>
                </a:solidFill>
              </a:rPr>
              <a:t>Muhammed Muhyudheen</a:t>
            </a:r>
            <a:endParaRPr lang="en-US" sz="1600" dirty="0"/>
          </a:p>
          <a:p>
            <a:pPr indent="0" marL="0">
              <a:buNone/>
            </a:pPr>
            <a:r>
              <a:rPr lang="en-US" sz="1200" dirty="0">
                <a:solidFill>
                  <a:schemeClr val="accent5"/>
                </a:solidFill>
              </a:rPr>
              <a:t>B250355ME</a:t>
            </a:r>
            <a:endParaRPr lang="en-US" sz="1600" dirty="0"/>
          </a:p>
        </p:txBody>
      </p:sp>
      <p:sp>
        <p:nvSpPr>
          <p:cNvPr id="8" name="Member 2"/>
          <p:cNvSpPr txBox="1"/>
          <p:nvPr/>
        </p:nvSpPr>
        <p:spPr>
          <a:xfrm>
            <a:off x="4663440" y="4754880"/>
            <a:ext cx="3520440" cy="566928"/>
          </a:xfrm>
          <a:prstGeom prst="rect">
            <a:avLst/>
          </a:prstGeom>
          <a:noFill/>
          <a:ln/>
        </p:spPr>
        <p:txBody>
          <a:bodyPr wrap="square" lIns="0" tIns="0" rIns="0" bIns="0" rtlCol="0" anchor="t"/>
          <a:lstStyle/>
          <a:p>
            <a:pPr indent="0" marL="0">
              <a:buNone/>
            </a:pPr>
            <a:r>
              <a:rPr lang="en-US" sz="1600" b="1" dirty="0">
                <a:solidFill>
                  <a:schemeClr val="bg1"/>
                </a:solidFill>
              </a:rPr>
              <a:t>Mohammed Hisham Kavumpurath</a:t>
            </a:r>
            <a:endParaRPr lang="en-US" sz="1600" dirty="0"/>
          </a:p>
          <a:p>
            <a:pPr indent="0" marL="0">
              <a:buNone/>
            </a:pPr>
            <a:r>
              <a:rPr lang="en-US" sz="1200" dirty="0">
                <a:solidFill>
                  <a:schemeClr val="accent5"/>
                </a:solidFill>
              </a:rPr>
              <a:t>B251001ME</a:t>
            </a:r>
            <a:endParaRPr lang="en-US" sz="1600" dirty="0"/>
          </a:p>
        </p:txBody>
      </p:sp>
      <p:sp>
        <p:nvSpPr>
          <p:cNvPr id="9" name="Member 3"/>
          <p:cNvSpPr txBox="1"/>
          <p:nvPr/>
        </p:nvSpPr>
        <p:spPr>
          <a:xfrm>
            <a:off x="1005840" y="5413248"/>
            <a:ext cx="3520440" cy="566928"/>
          </a:xfrm>
          <a:prstGeom prst="rect">
            <a:avLst/>
          </a:prstGeom>
          <a:noFill/>
          <a:ln/>
        </p:spPr>
        <p:txBody>
          <a:bodyPr wrap="square" lIns="0" tIns="0" rIns="0" bIns="0" rtlCol="0" anchor="t"/>
          <a:lstStyle/>
          <a:p>
            <a:pPr indent="0" marL="0">
              <a:buNone/>
            </a:pPr>
            <a:r>
              <a:rPr lang="en-US" sz="1600" b="1" dirty="0">
                <a:solidFill>
                  <a:schemeClr val="bg1"/>
                </a:solidFill>
              </a:rPr>
              <a:t>Athira T B</a:t>
            </a:r>
            <a:endParaRPr lang="en-US" sz="1600" dirty="0"/>
          </a:p>
          <a:p>
            <a:pPr indent="0" marL="0">
              <a:buNone/>
            </a:pPr>
            <a:r>
              <a:rPr lang="en-US" sz="1200" dirty="0">
                <a:solidFill>
                  <a:schemeClr val="accent5"/>
                </a:solidFill>
              </a:rPr>
              <a:t>B250718ME</a:t>
            </a:r>
            <a:endParaRPr lang="en-US" sz="1600" dirty="0"/>
          </a:p>
        </p:txBody>
      </p:sp>
      <p:sp>
        <p:nvSpPr>
          <p:cNvPr id="10" name="Member 4"/>
          <p:cNvSpPr txBox="1"/>
          <p:nvPr/>
        </p:nvSpPr>
        <p:spPr>
          <a:xfrm>
            <a:off x="4663440" y="5413248"/>
            <a:ext cx="3520440" cy="566928"/>
          </a:xfrm>
          <a:prstGeom prst="rect">
            <a:avLst/>
          </a:prstGeom>
          <a:noFill/>
          <a:ln/>
        </p:spPr>
        <p:txBody>
          <a:bodyPr wrap="square" lIns="0" tIns="0" rIns="0" bIns="0" rtlCol="0" anchor="t"/>
          <a:lstStyle/>
          <a:p>
            <a:pPr indent="0" marL="0">
              <a:buNone/>
            </a:pPr>
            <a:r>
              <a:rPr lang="en-US" sz="1600" b="1" dirty="0">
                <a:solidFill>
                  <a:schemeClr val="bg1"/>
                </a:solidFill>
              </a:rPr>
              <a:t>Aradhana SK</a:t>
            </a:r>
            <a:endParaRPr lang="en-US" sz="1600" dirty="0"/>
          </a:p>
          <a:p>
            <a:pPr indent="0" marL="0">
              <a:buNone/>
            </a:pPr>
            <a:r>
              <a:rPr lang="en-US" sz="1200" dirty="0">
                <a:solidFill>
                  <a:schemeClr val="accent5"/>
                </a:solidFill>
              </a:rPr>
              <a:t>B250689ME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Why predict machine failure?</a:t>
            </a:r>
            <a:endParaRPr lang="en-US" sz="3200" dirty="0"/>
          </a:p>
        </p:txBody>
      </p:sp>
      <p:sp>
        <p:nvSpPr>
          <p:cNvPr id="3" name="Problem statement"/>
          <p:cNvSpPr txBox="1"/>
          <p:nvPr/>
        </p:nvSpPr>
        <p:spPr>
          <a:xfrm>
            <a:off x="548640" y="1325880"/>
            <a:ext cx="5394960" cy="1143000"/>
          </a:xfrm>
          <a:prstGeom prst="rect">
            <a:avLst/>
          </a:prstGeom>
          <a:noFill/>
          <a:ln/>
        </p:spPr>
        <p:txBody>
          <a:bodyPr wrap="square" lIns="0" tIns="0" rIns="0" bIns="0" rtlCol="0" anchor="t"/>
          <a:lstStyle/>
          <a:p>
            <a:pPr indent="0" marL="0">
              <a:buNone/>
            </a:pPr>
            <a:r>
              <a:rPr lang="en-US" sz="1800" dirty="0">
                <a:solidFill>
                  <a:schemeClr val="tx1"/>
                </a:solidFill>
              </a:rPr>
              <a:t>An unplanned breakdown stops the line, scraps parts and forces urgent repairs. If a machine's own settings reveal rising risk, the team can act before it fails.</a:t>
            </a:r>
            <a:endParaRPr lang="en-US" sz="1800" dirty="0"/>
          </a:p>
        </p:txBody>
      </p:sp>
      <p:sp>
        <p:nvSpPr>
          <p:cNvPr id="4" name="Goals header"/>
          <p:cNvSpPr txBox="1"/>
          <p:nvPr/>
        </p:nvSpPr>
        <p:spPr>
          <a:xfrm>
            <a:off x="548640" y="2697480"/>
            <a:ext cx="5394960" cy="365760"/>
          </a:xfrm>
          <a:prstGeom prst="rect">
            <a:avLst/>
          </a:prstGeom>
          <a:noFill/>
          <a:ln/>
        </p:spPr>
        <p:txBody>
          <a:bodyPr wrap="square" lIns="0" tIns="0" rIns="0" bIns="0" rtlCol="0" anchor="ctr"/>
          <a:lstStyle/>
          <a:p>
            <a:pPr indent="0" marL="0">
              <a:buNone/>
            </a:pPr>
            <a:r>
              <a:rPr lang="en-US" sz="1600" b="1" dirty="0">
                <a:solidFill>
                  <a:schemeClr val="accent6"/>
                </a:solidFill>
              </a:rPr>
              <a:t>Our three goals</a:t>
            </a:r>
            <a:endParaRPr lang="en-US" sz="1600" dirty="0"/>
          </a:p>
        </p:txBody>
      </p:sp>
      <p:sp>
        <p:nvSpPr>
          <p:cNvPr id="5" name="Goal 1 card"/>
          <p:cNvSpPr/>
          <p:nvPr/>
        </p:nvSpPr>
        <p:spPr>
          <a:xfrm>
            <a:off x="548640" y="3200400"/>
            <a:ext cx="5394960" cy="804672"/>
          </a:xfrm>
          <a:prstGeom prst="roundRect">
            <a:avLst>
              <a:gd name="adj" fmla="val 13636"/>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6" name="Goal 1 circle"/>
          <p:cNvSpPr/>
          <p:nvPr/>
        </p:nvSpPr>
        <p:spPr>
          <a:xfrm>
            <a:off x="749808" y="3374136"/>
            <a:ext cx="457200" cy="457200"/>
          </a:xfrm>
          <a:prstGeom prst="ellipse">
            <a:avLst/>
          </a:prstGeom>
          <a:solidFill>
            <a:schemeClr val="accent2"/>
          </a:solidFill>
          <a:ln/>
        </p:spPr>
      </p:sp>
      <p:sp>
        <p:nvSpPr>
          <p:cNvPr id="7" name="Goal 1 circle number"/>
          <p:cNvSpPr txBox="1"/>
          <p:nvPr/>
        </p:nvSpPr>
        <p:spPr>
          <a:xfrm>
            <a:off x="749808" y="3374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Goal 1 text"/>
          <p:cNvSpPr txBox="1"/>
          <p:nvPr/>
        </p:nvSpPr>
        <p:spPr>
          <a:xfrm>
            <a:off x="1417320" y="3200400"/>
            <a:ext cx="4389120" cy="804672"/>
          </a:xfrm>
          <a:prstGeom prst="rect">
            <a:avLst/>
          </a:prstGeom>
          <a:noFill/>
          <a:ln/>
        </p:spPr>
        <p:txBody>
          <a:bodyPr wrap="square" lIns="0" tIns="0" rIns="0" bIns="0" rtlCol="0" anchor="ctr"/>
          <a:lstStyle/>
          <a:p>
            <a:pPr indent="0" marL="0">
              <a:buNone/>
            </a:pPr>
            <a:r>
              <a:rPr lang="en-US" sz="1600" b="1" dirty="0">
                <a:solidFill>
                  <a:schemeClr val="tx1"/>
                </a:solidFill>
              </a:rPr>
              <a:t>Predict  </a:t>
            </a:r>
            <a:pPr indent="0" marL="0">
              <a:buNone/>
            </a:pPr>
            <a:r>
              <a:rPr lang="en-US" sz="1600" dirty="0">
                <a:solidFill>
                  <a:schemeClr val="accent6"/>
                </a:solidFill>
              </a:rPr>
              <a:t>the probability that a run will fail</a:t>
            </a:r>
            <a:endParaRPr lang="en-US" sz="1600" dirty="0"/>
          </a:p>
        </p:txBody>
      </p:sp>
      <p:sp>
        <p:nvSpPr>
          <p:cNvPr id="9" name="Goal 2 card"/>
          <p:cNvSpPr/>
          <p:nvPr/>
        </p:nvSpPr>
        <p:spPr>
          <a:xfrm>
            <a:off x="548640" y="4187952"/>
            <a:ext cx="5394960" cy="804672"/>
          </a:xfrm>
          <a:prstGeom prst="roundRect">
            <a:avLst>
              <a:gd name="adj" fmla="val 13636"/>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0" name="Goal 2 circle"/>
          <p:cNvSpPr/>
          <p:nvPr/>
        </p:nvSpPr>
        <p:spPr>
          <a:xfrm>
            <a:off x="749808" y="4361688"/>
            <a:ext cx="457200" cy="457200"/>
          </a:xfrm>
          <a:prstGeom prst="ellipse">
            <a:avLst/>
          </a:prstGeom>
          <a:solidFill>
            <a:schemeClr val="accent2"/>
          </a:solidFill>
          <a:ln/>
        </p:spPr>
      </p:sp>
      <p:sp>
        <p:nvSpPr>
          <p:cNvPr id="11" name="Goal 2 circle number"/>
          <p:cNvSpPr txBox="1"/>
          <p:nvPr/>
        </p:nvSpPr>
        <p:spPr>
          <a:xfrm>
            <a:off x="749808" y="43616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Goal 2 text"/>
          <p:cNvSpPr txBox="1"/>
          <p:nvPr/>
        </p:nvSpPr>
        <p:spPr>
          <a:xfrm>
            <a:off x="1417320" y="4187952"/>
            <a:ext cx="4389120" cy="804672"/>
          </a:xfrm>
          <a:prstGeom prst="rect">
            <a:avLst/>
          </a:prstGeom>
          <a:noFill/>
          <a:ln/>
        </p:spPr>
        <p:txBody>
          <a:bodyPr wrap="square" lIns="0" tIns="0" rIns="0" bIns="0" rtlCol="0" anchor="ctr"/>
          <a:lstStyle/>
          <a:p>
            <a:pPr indent="0" marL="0">
              <a:buNone/>
            </a:pPr>
            <a:r>
              <a:rPr lang="en-US" sz="1600" b="1" dirty="0">
                <a:solidFill>
                  <a:schemeClr val="tx1"/>
                </a:solidFill>
              </a:rPr>
              <a:t>Explain  </a:t>
            </a:r>
            <a:pPr indent="0" marL="0">
              <a:buNone/>
            </a:pPr>
            <a:r>
              <a:rPr lang="en-US" sz="1600" dirty="0">
                <a:solidFill>
                  <a:schemeClr val="accent6"/>
                </a:solidFill>
              </a:rPr>
              <a:t>which settings drive that risk</a:t>
            </a:r>
            <a:endParaRPr lang="en-US" sz="1600" dirty="0"/>
          </a:p>
        </p:txBody>
      </p:sp>
      <p:sp>
        <p:nvSpPr>
          <p:cNvPr id="13" name="Goal 3 card"/>
          <p:cNvSpPr/>
          <p:nvPr/>
        </p:nvSpPr>
        <p:spPr>
          <a:xfrm>
            <a:off x="548640" y="5175504"/>
            <a:ext cx="5394960" cy="804672"/>
          </a:xfrm>
          <a:prstGeom prst="roundRect">
            <a:avLst>
              <a:gd name="adj" fmla="val 13636"/>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4" name="Goal 3 circle"/>
          <p:cNvSpPr/>
          <p:nvPr/>
        </p:nvSpPr>
        <p:spPr>
          <a:xfrm>
            <a:off x="749808" y="5349240"/>
            <a:ext cx="457200" cy="457200"/>
          </a:xfrm>
          <a:prstGeom prst="ellipse">
            <a:avLst/>
          </a:prstGeom>
          <a:solidFill>
            <a:schemeClr val="accent2"/>
          </a:solidFill>
          <a:ln/>
        </p:spPr>
      </p:sp>
      <p:sp>
        <p:nvSpPr>
          <p:cNvPr id="15" name="Goal 3 circle number"/>
          <p:cNvSpPr txBox="1"/>
          <p:nvPr/>
        </p:nvSpPr>
        <p:spPr>
          <a:xfrm>
            <a:off x="749808" y="5349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Goal 3 text"/>
          <p:cNvSpPr txBox="1"/>
          <p:nvPr/>
        </p:nvSpPr>
        <p:spPr>
          <a:xfrm>
            <a:off x="1417320" y="5175504"/>
            <a:ext cx="4389120" cy="804672"/>
          </a:xfrm>
          <a:prstGeom prst="rect">
            <a:avLst/>
          </a:prstGeom>
          <a:noFill/>
          <a:ln/>
        </p:spPr>
        <p:txBody>
          <a:bodyPr wrap="square" lIns="0" tIns="0" rIns="0" bIns="0" rtlCol="0" anchor="ctr"/>
          <a:lstStyle/>
          <a:p>
            <a:pPr indent="0" marL="0">
              <a:buNone/>
            </a:pPr>
            <a:r>
              <a:rPr lang="en-US" sz="1600" b="1" dirty="0">
                <a:solidFill>
                  <a:schemeClr val="tx1"/>
                </a:solidFill>
              </a:rPr>
              <a:t>Recommend  </a:t>
            </a:r>
            <a:pPr indent="0" marL="0">
              <a:buNone/>
            </a:pPr>
            <a:r>
              <a:rPr lang="en-US" sz="1600" dirty="0">
                <a:solidFill>
                  <a:schemeClr val="accent6"/>
                </a:solidFill>
              </a:rPr>
              <a:t>safe operating ranges per product type</a:t>
            </a:r>
            <a:endParaRPr lang="en-US" sz="1600" dirty="0"/>
          </a:p>
        </p:txBody>
      </p:sp>
      <p:sp>
        <p:nvSpPr>
          <p:cNvPr id="17" name="Real-world card"/>
          <p:cNvSpPr/>
          <p:nvPr/>
        </p:nvSpPr>
        <p:spPr>
          <a:xfrm>
            <a:off x="6355080" y="1325880"/>
            <a:ext cx="5303520" cy="4800600"/>
          </a:xfrm>
          <a:prstGeom prst="roundRect">
            <a:avLst>
              <a:gd name="adj" fmla="val 2286"/>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8" name="Real-world header"/>
          <p:cNvSpPr txBox="1"/>
          <p:nvPr/>
        </p:nvSpPr>
        <p:spPr>
          <a:xfrm>
            <a:off x="6675120" y="1554480"/>
            <a:ext cx="4754880" cy="411480"/>
          </a:xfrm>
          <a:prstGeom prst="rect">
            <a:avLst/>
          </a:prstGeom>
          <a:noFill/>
          <a:ln/>
        </p:spPr>
        <p:txBody>
          <a:bodyPr wrap="square" lIns="0" tIns="0" rIns="0" bIns="0" rtlCol="0" anchor="ctr"/>
          <a:lstStyle/>
          <a:p>
            <a:pPr indent="0" marL="0">
              <a:buNone/>
            </a:pPr>
            <a:r>
              <a:rPr lang="en-US" sz="2000" b="1" dirty="0">
                <a:solidFill>
                  <a:schemeClr val="tx1"/>
                </a:solidFill>
              </a:rPr>
              <a:t>How it helps in a real plant</a:t>
            </a:r>
            <a:endParaRPr lang="en-US" sz="2000" dirty="0"/>
          </a:p>
        </p:txBody>
      </p:sp>
      <p:sp>
        <p:nvSpPr>
          <p:cNvPr id="19" name="Use 1 circle"/>
          <p:cNvSpPr/>
          <p:nvPr/>
        </p:nvSpPr>
        <p:spPr>
          <a:xfrm>
            <a:off x="6675120" y="2240280"/>
            <a:ext cx="658368" cy="658368"/>
          </a:xfrm>
          <a:prstGeom prst="ellipse">
            <a:avLst/>
          </a:prstGeom>
          <a:solidFill>
            <a:schemeClr val="accent1"/>
          </a:solidFill>
          <a:ln/>
        </p:spPr>
      </p:sp>
      <p:pic>
        <p:nvPicPr>
          <p:cNvPr id="20" name="Use 1 icon" descr="preencoded.png">    </p:cNvPr>
          <p:cNvPicPr>
            <a:picLocks noChangeAspect="1"/>
          </p:cNvPicPr>
          <p:nvPr/>
        </p:nvPicPr>
        <p:blipFill>
          <a:blip r:embed="rId1"/>
          <a:stretch>
            <a:fillRect/>
          </a:stretch>
        </p:blipFill>
        <p:spPr>
          <a:xfrm>
            <a:off x="6846296" y="2411456"/>
            <a:ext cx="316017" cy="316017"/>
          </a:xfrm>
          <a:prstGeom prst="rect">
            <a:avLst/>
          </a:prstGeom>
        </p:spPr>
      </p:pic>
      <p:sp>
        <p:nvSpPr>
          <p:cNvPr id="21" name="Use 1 text"/>
          <p:cNvSpPr txBox="1"/>
          <p:nvPr/>
        </p:nvSpPr>
        <p:spPr>
          <a:xfrm>
            <a:off x="7543800" y="2194560"/>
            <a:ext cx="3886200" cy="1097280"/>
          </a:xfrm>
          <a:prstGeom prst="rect">
            <a:avLst/>
          </a:prstGeom>
          <a:noFill/>
          <a:ln/>
        </p:spPr>
        <p:txBody>
          <a:bodyPr wrap="square" lIns="0" tIns="0" rIns="0" bIns="0" rtlCol="0" anchor="t"/>
          <a:lstStyle/>
          <a:p>
            <a:pPr indent="0" marL="0">
              <a:buNone/>
            </a:pPr>
            <a:r>
              <a:rPr lang="en-US" sz="1600" b="1" dirty="0">
                <a:solidFill>
                  <a:schemeClr val="tx1"/>
                </a:solidFill>
              </a:rPr>
              <a:t>Maintenance before breakdown</a:t>
            </a:r>
            <a:endParaRPr lang="en-US" sz="1600" dirty="0"/>
          </a:p>
          <a:p>
            <a:pPr indent="0" marL="0">
              <a:buNone/>
            </a:pPr>
            <a:r>
              <a:rPr lang="en-US" sz="1400" dirty="0">
                <a:solidFill>
                  <a:schemeClr val="accent6"/>
                </a:solidFill>
              </a:rPr>
              <a:t>Flag high-risk runs so inspections happen before a failure, not after it.</a:t>
            </a:r>
            <a:endParaRPr lang="en-US" sz="1600" dirty="0"/>
          </a:p>
        </p:txBody>
      </p:sp>
      <p:sp>
        <p:nvSpPr>
          <p:cNvPr id="22" name="Use 2 circle"/>
          <p:cNvSpPr/>
          <p:nvPr/>
        </p:nvSpPr>
        <p:spPr>
          <a:xfrm>
            <a:off x="6675120" y="3502152"/>
            <a:ext cx="658368" cy="658368"/>
          </a:xfrm>
          <a:prstGeom prst="ellipse">
            <a:avLst/>
          </a:prstGeom>
          <a:solidFill>
            <a:schemeClr val="accent1"/>
          </a:solidFill>
          <a:ln/>
        </p:spPr>
      </p:sp>
      <p:pic>
        <p:nvPicPr>
          <p:cNvPr id="23" name="Use 2 icon" descr="preencoded.png">    </p:cNvPr>
          <p:cNvPicPr>
            <a:picLocks noChangeAspect="1"/>
          </p:cNvPicPr>
          <p:nvPr/>
        </p:nvPicPr>
        <p:blipFill>
          <a:blip r:embed="rId2"/>
          <a:stretch>
            <a:fillRect/>
          </a:stretch>
        </p:blipFill>
        <p:spPr>
          <a:xfrm>
            <a:off x="6846296" y="3673328"/>
            <a:ext cx="316017" cy="316017"/>
          </a:xfrm>
          <a:prstGeom prst="rect">
            <a:avLst/>
          </a:prstGeom>
        </p:spPr>
      </p:pic>
      <p:sp>
        <p:nvSpPr>
          <p:cNvPr id="24" name="Use 2 text"/>
          <p:cNvSpPr txBox="1"/>
          <p:nvPr/>
        </p:nvSpPr>
        <p:spPr>
          <a:xfrm>
            <a:off x="7543800" y="3456432"/>
            <a:ext cx="3886200" cy="1097280"/>
          </a:xfrm>
          <a:prstGeom prst="rect">
            <a:avLst/>
          </a:prstGeom>
          <a:noFill/>
          <a:ln/>
        </p:spPr>
        <p:txBody>
          <a:bodyPr wrap="square" lIns="0" tIns="0" rIns="0" bIns="0" rtlCol="0" anchor="t"/>
          <a:lstStyle/>
          <a:p>
            <a:pPr indent="0" marL="0">
              <a:buNone/>
            </a:pPr>
            <a:r>
              <a:rPr lang="en-US" sz="1600" b="1" dirty="0">
                <a:solidFill>
                  <a:schemeClr val="tx1"/>
                </a:solidFill>
              </a:rPr>
              <a:t>Smarter tool changes</a:t>
            </a:r>
            <a:endParaRPr lang="en-US" sz="1600" dirty="0"/>
          </a:p>
          <a:p>
            <a:pPr indent="0" marL="0">
              <a:buNone/>
            </a:pPr>
            <a:r>
              <a:rPr lang="en-US" sz="1400" dirty="0">
                <a:solidFill>
                  <a:schemeClr val="accent6"/>
                </a:solidFill>
              </a:rPr>
              <a:t>Risk rises about 40× once tool wear passes ~200 min, so tools can be changed on schedule.</a:t>
            </a:r>
            <a:endParaRPr lang="en-US" sz="1600" dirty="0"/>
          </a:p>
        </p:txBody>
      </p:sp>
      <p:sp>
        <p:nvSpPr>
          <p:cNvPr id="25" name="Use 3 circle"/>
          <p:cNvSpPr/>
          <p:nvPr/>
        </p:nvSpPr>
        <p:spPr>
          <a:xfrm>
            <a:off x="6675120" y="4764024"/>
            <a:ext cx="658368" cy="658368"/>
          </a:xfrm>
          <a:prstGeom prst="ellipse">
            <a:avLst/>
          </a:prstGeom>
          <a:solidFill>
            <a:schemeClr val="accent1"/>
          </a:solidFill>
          <a:ln/>
        </p:spPr>
      </p:sp>
      <p:pic>
        <p:nvPicPr>
          <p:cNvPr id="26" name="Use 3 icon" descr="preencoded.png">    </p:cNvPr>
          <p:cNvPicPr>
            <a:picLocks noChangeAspect="1"/>
          </p:cNvPicPr>
          <p:nvPr/>
        </p:nvPicPr>
        <p:blipFill>
          <a:blip r:embed="rId3"/>
          <a:stretch>
            <a:fillRect/>
          </a:stretch>
        </p:blipFill>
        <p:spPr>
          <a:xfrm>
            <a:off x="6846296" y="4935200"/>
            <a:ext cx="316017" cy="316017"/>
          </a:xfrm>
          <a:prstGeom prst="rect">
            <a:avLst/>
          </a:prstGeom>
        </p:spPr>
      </p:pic>
      <p:sp>
        <p:nvSpPr>
          <p:cNvPr id="27" name="Use 3 text"/>
          <p:cNvSpPr txBox="1"/>
          <p:nvPr/>
        </p:nvSpPr>
        <p:spPr>
          <a:xfrm>
            <a:off x="7543800" y="4718304"/>
            <a:ext cx="3886200" cy="1097280"/>
          </a:xfrm>
          <a:prstGeom prst="rect">
            <a:avLst/>
          </a:prstGeom>
          <a:noFill/>
          <a:ln/>
        </p:spPr>
        <p:txBody>
          <a:bodyPr wrap="square" lIns="0" tIns="0" rIns="0" bIns="0" rtlCol="0" anchor="t"/>
          <a:lstStyle/>
          <a:p>
            <a:pPr indent="0" marL="0">
              <a:buNone/>
            </a:pPr>
            <a:r>
              <a:rPr lang="en-US" sz="1600" b="1" dirty="0">
                <a:solidFill>
                  <a:schemeClr val="tx1"/>
                </a:solidFill>
              </a:rPr>
              <a:t>Safe operating windows</a:t>
            </a:r>
            <a:endParaRPr lang="en-US" sz="1600" dirty="0"/>
          </a:p>
          <a:p>
            <a:pPr indent="0" marL="0">
              <a:buNone/>
            </a:pPr>
            <a:r>
              <a:rPr lang="en-US" sz="1400" dirty="0">
                <a:solidFill>
                  <a:schemeClr val="accent6"/>
                </a:solidFill>
              </a:rPr>
              <a:t>Keep power and torque inside the band where the model and the physics agree risk is low.</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AI4I 2020: 10,000 machining runs, only 3.4% fail</a:t>
            </a:r>
            <a:endParaRPr lang="en-US" sz="3200" dirty="0"/>
          </a:p>
        </p:txBody>
      </p:sp>
      <p:sp>
        <p:nvSpPr>
          <p:cNvPr id="3" name="Stat 1 card"/>
          <p:cNvSpPr/>
          <p:nvPr/>
        </p:nvSpPr>
        <p:spPr>
          <a:xfrm>
            <a:off x="548640" y="1325880"/>
            <a:ext cx="2606040" cy="1417320"/>
          </a:xfrm>
          <a:prstGeom prst="roundRect">
            <a:avLst>
              <a:gd name="adj" fmla="val 7742"/>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4" name="Stat 1 value"/>
          <p:cNvSpPr txBox="1"/>
          <p:nvPr/>
        </p:nvSpPr>
        <p:spPr>
          <a:xfrm>
            <a:off x="777240" y="1444752"/>
            <a:ext cx="2194560" cy="640080"/>
          </a:xfrm>
          <a:prstGeom prst="rect">
            <a:avLst/>
          </a:prstGeom>
          <a:noFill/>
          <a:ln/>
        </p:spPr>
        <p:txBody>
          <a:bodyPr wrap="square" lIns="0" tIns="0" rIns="0" bIns="0" rtlCol="0" anchor="ctr"/>
          <a:lstStyle/>
          <a:p>
            <a:pPr indent="0" marL="0">
              <a:buNone/>
            </a:pPr>
            <a:r>
              <a:rPr lang="en-US" sz="3600" b="1" dirty="0">
                <a:solidFill>
                  <a:schemeClr val="tx1"/>
                </a:solidFill>
              </a:rPr>
              <a:t>10,000</a:t>
            </a:r>
            <a:endParaRPr lang="en-US" sz="3600" dirty="0"/>
          </a:p>
        </p:txBody>
      </p:sp>
      <p:sp>
        <p:nvSpPr>
          <p:cNvPr id="5" name="Stat 1 label"/>
          <p:cNvSpPr txBox="1"/>
          <p:nvPr/>
        </p:nvSpPr>
        <p:spPr>
          <a:xfrm>
            <a:off x="777240" y="2103120"/>
            <a:ext cx="2240280" cy="548640"/>
          </a:xfrm>
          <a:prstGeom prst="rect">
            <a:avLst/>
          </a:prstGeom>
          <a:noFill/>
          <a:ln/>
        </p:spPr>
        <p:txBody>
          <a:bodyPr wrap="square" lIns="0" tIns="0" rIns="0" bIns="0" rtlCol="0" anchor="t"/>
          <a:lstStyle/>
          <a:p>
            <a:pPr indent="0" marL="0">
              <a:buNone/>
            </a:pPr>
            <a:r>
              <a:rPr lang="en-US" sz="1200" dirty="0">
                <a:solidFill>
                  <a:schemeClr val="accent6"/>
                </a:solidFill>
              </a:rPr>
              <a:t>machining runs, no missing values</a:t>
            </a:r>
            <a:endParaRPr lang="en-US" sz="1200" dirty="0"/>
          </a:p>
        </p:txBody>
      </p:sp>
      <p:sp>
        <p:nvSpPr>
          <p:cNvPr id="6" name="Stat 2 card"/>
          <p:cNvSpPr/>
          <p:nvPr/>
        </p:nvSpPr>
        <p:spPr>
          <a:xfrm>
            <a:off x="3383280" y="1325880"/>
            <a:ext cx="2606040" cy="1417320"/>
          </a:xfrm>
          <a:prstGeom prst="roundRect">
            <a:avLst>
              <a:gd name="adj" fmla="val 7742"/>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7" name="Stat 2 value"/>
          <p:cNvSpPr txBox="1"/>
          <p:nvPr/>
        </p:nvSpPr>
        <p:spPr>
          <a:xfrm>
            <a:off x="3611880" y="1444752"/>
            <a:ext cx="2194560" cy="640080"/>
          </a:xfrm>
          <a:prstGeom prst="rect">
            <a:avLst/>
          </a:prstGeom>
          <a:noFill/>
          <a:ln/>
        </p:spPr>
        <p:txBody>
          <a:bodyPr wrap="square" lIns="0" tIns="0" rIns="0" bIns="0" rtlCol="0" anchor="ctr"/>
          <a:lstStyle/>
          <a:p>
            <a:pPr indent="0" marL="0">
              <a:buNone/>
            </a:pPr>
            <a:r>
              <a:rPr lang="en-US" sz="3600" b="1" dirty="0">
                <a:solidFill>
                  <a:schemeClr val="tx1"/>
                </a:solidFill>
              </a:rPr>
              <a:t>6</a:t>
            </a:r>
            <a:endParaRPr lang="en-US" sz="3600" dirty="0"/>
          </a:p>
        </p:txBody>
      </p:sp>
      <p:sp>
        <p:nvSpPr>
          <p:cNvPr id="8" name="Stat 2 label"/>
          <p:cNvSpPr txBox="1"/>
          <p:nvPr/>
        </p:nvSpPr>
        <p:spPr>
          <a:xfrm>
            <a:off x="3611880" y="2103120"/>
            <a:ext cx="2240280" cy="548640"/>
          </a:xfrm>
          <a:prstGeom prst="rect">
            <a:avLst/>
          </a:prstGeom>
          <a:noFill/>
          <a:ln/>
        </p:spPr>
        <p:txBody>
          <a:bodyPr wrap="square" lIns="0" tIns="0" rIns="0" bIns="0" rtlCol="0" anchor="t"/>
          <a:lstStyle/>
          <a:p>
            <a:pPr indent="0" marL="0">
              <a:buNone/>
            </a:pPr>
            <a:r>
              <a:rPr lang="en-US" sz="1200" dirty="0">
                <a:solidFill>
                  <a:schemeClr val="accent6"/>
                </a:solidFill>
              </a:rPr>
              <a:t>inputs: product type + 5 process readings</a:t>
            </a:r>
            <a:endParaRPr lang="en-US" sz="1200" dirty="0"/>
          </a:p>
        </p:txBody>
      </p:sp>
      <p:sp>
        <p:nvSpPr>
          <p:cNvPr id="9" name="Stat 3 card"/>
          <p:cNvSpPr/>
          <p:nvPr/>
        </p:nvSpPr>
        <p:spPr>
          <a:xfrm>
            <a:off x="6217920" y="1325880"/>
            <a:ext cx="2606040" cy="1417320"/>
          </a:xfrm>
          <a:prstGeom prst="roundRect">
            <a:avLst>
              <a:gd name="adj" fmla="val 7742"/>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0" name="Stat 3 value"/>
          <p:cNvSpPr txBox="1"/>
          <p:nvPr/>
        </p:nvSpPr>
        <p:spPr>
          <a:xfrm>
            <a:off x="6446520" y="1444752"/>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3.39%</a:t>
            </a:r>
            <a:endParaRPr lang="en-US" sz="3600" dirty="0"/>
          </a:p>
        </p:txBody>
      </p:sp>
      <p:sp>
        <p:nvSpPr>
          <p:cNvPr id="11" name="Stat 3 label"/>
          <p:cNvSpPr txBox="1"/>
          <p:nvPr/>
        </p:nvSpPr>
        <p:spPr>
          <a:xfrm>
            <a:off x="6446520" y="2103120"/>
            <a:ext cx="2240280" cy="548640"/>
          </a:xfrm>
          <a:prstGeom prst="rect">
            <a:avLst/>
          </a:prstGeom>
          <a:noFill/>
          <a:ln/>
        </p:spPr>
        <p:txBody>
          <a:bodyPr wrap="square" lIns="0" tIns="0" rIns="0" bIns="0" rtlCol="0" anchor="t"/>
          <a:lstStyle/>
          <a:p>
            <a:pPr indent="0" marL="0">
              <a:buNone/>
            </a:pPr>
            <a:r>
              <a:rPr lang="en-US" sz="1200" dirty="0">
                <a:solidFill>
                  <a:schemeClr val="accent6"/>
                </a:solidFill>
              </a:rPr>
              <a:t>of runs fail (339 failures)</a:t>
            </a:r>
            <a:endParaRPr lang="en-US" sz="1200" dirty="0"/>
          </a:p>
        </p:txBody>
      </p:sp>
      <p:sp>
        <p:nvSpPr>
          <p:cNvPr id="12" name="Stat 4 card"/>
          <p:cNvSpPr/>
          <p:nvPr/>
        </p:nvSpPr>
        <p:spPr>
          <a:xfrm>
            <a:off x="9052560" y="1325880"/>
            <a:ext cx="2606040" cy="1417320"/>
          </a:xfrm>
          <a:prstGeom prst="roundRect">
            <a:avLst>
              <a:gd name="adj" fmla="val 7742"/>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3" name="Stat 4 value"/>
          <p:cNvSpPr txBox="1"/>
          <p:nvPr/>
        </p:nvSpPr>
        <p:spPr>
          <a:xfrm>
            <a:off x="9281160" y="1444752"/>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28.5 : 1</a:t>
            </a:r>
            <a:endParaRPr lang="en-US" sz="3600" dirty="0"/>
          </a:p>
        </p:txBody>
      </p:sp>
      <p:sp>
        <p:nvSpPr>
          <p:cNvPr id="14" name="Stat 4 label"/>
          <p:cNvSpPr txBox="1"/>
          <p:nvPr/>
        </p:nvSpPr>
        <p:spPr>
          <a:xfrm>
            <a:off x="9281160" y="2103120"/>
            <a:ext cx="2240280" cy="548640"/>
          </a:xfrm>
          <a:prstGeom prst="rect">
            <a:avLst/>
          </a:prstGeom>
          <a:noFill/>
          <a:ln/>
        </p:spPr>
        <p:txBody>
          <a:bodyPr wrap="square" lIns="0" tIns="0" rIns="0" bIns="0" rtlCol="0" anchor="t"/>
          <a:lstStyle/>
          <a:p>
            <a:pPr indent="0" marL="0">
              <a:buNone/>
            </a:pPr>
            <a:r>
              <a:rPr lang="en-US" sz="1200" dirty="0">
                <a:solidFill>
                  <a:schemeClr val="accent6"/>
                </a:solidFill>
              </a:rPr>
              <a:t>healthy-to-failure ratio</a:t>
            </a:r>
            <a:endParaRPr lang="en-US" sz="1200" dirty="0"/>
          </a:p>
        </p:txBody>
      </p:sp>
      <p:sp>
        <p:nvSpPr>
          <p:cNvPr id="15" name="Failure types card"/>
          <p:cNvSpPr/>
          <p:nvPr/>
        </p:nvSpPr>
        <p:spPr>
          <a:xfrm>
            <a:off x="548640" y="3017520"/>
            <a:ext cx="6172200" cy="3154680"/>
          </a:xfrm>
          <a:prstGeom prst="roundRect">
            <a:avLst>
              <a:gd name="adj" fmla="val 3478"/>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graphicFrame>
        <p:nvGraphicFramePr>
          <p:cNvPr id="16" name="Failure types chart" descr=""/>
          <p:cNvGraphicFramePr/>
          <p:nvPr/>
        </p:nvGraphicFramePr>
        <p:xfrm>
          <a:off x="685800" y="3108960"/>
          <a:ext cx="5897880" cy="2971800"/>
        </p:xfrm>
        <a:graphic xmlns:a="http://schemas.openxmlformats.org/drawingml/2006/main">
          <a:graphicData uri="http://schemas.openxmlformats.org/drawingml/2006/chart">
            <c:chart xmlns:c="http://schemas.openxmlformats.org/drawingml/2006/chart" r:id="rId1"/>
          </a:graphicData>
        </a:graphic>
      </p:graphicFrame>
      <p:sp>
        <p:nvSpPr>
          <p:cNvPr id="17" name="Trap 1 card"/>
          <p:cNvSpPr/>
          <p:nvPr/>
        </p:nvSpPr>
        <p:spPr>
          <a:xfrm>
            <a:off x="6995160" y="3017520"/>
            <a:ext cx="4663440" cy="1481328"/>
          </a:xfrm>
          <a:prstGeom prst="roundRect">
            <a:avLst>
              <a:gd name="adj" fmla="val 7407"/>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8" name="Trap 1 circle"/>
          <p:cNvSpPr/>
          <p:nvPr/>
        </p:nvSpPr>
        <p:spPr>
          <a:xfrm>
            <a:off x="7223760" y="3273552"/>
            <a:ext cx="603504" cy="603504"/>
          </a:xfrm>
          <a:prstGeom prst="ellipse">
            <a:avLst/>
          </a:prstGeom>
          <a:solidFill>
            <a:schemeClr val="accent2"/>
          </a:solidFill>
          <a:ln/>
        </p:spPr>
      </p:sp>
      <p:pic>
        <p:nvPicPr>
          <p:cNvPr id="19" name="Trap 1 icon" descr="preencoded.png">    </p:cNvPr>
          <p:cNvPicPr>
            <a:picLocks noChangeAspect="1"/>
          </p:cNvPicPr>
          <p:nvPr/>
        </p:nvPicPr>
        <p:blipFill>
          <a:blip r:embed="rId2"/>
          <a:stretch>
            <a:fillRect/>
          </a:stretch>
        </p:blipFill>
        <p:spPr>
          <a:xfrm>
            <a:off x="7380671" y="3430463"/>
            <a:ext cx="289682" cy="289682"/>
          </a:xfrm>
          <a:prstGeom prst="rect">
            <a:avLst/>
          </a:prstGeom>
        </p:spPr>
      </p:pic>
      <p:sp>
        <p:nvSpPr>
          <p:cNvPr id="20" name="Trap 1 text"/>
          <p:cNvSpPr txBox="1"/>
          <p:nvPr/>
        </p:nvSpPr>
        <p:spPr>
          <a:xfrm>
            <a:off x="8046720" y="3182112"/>
            <a:ext cx="3474720" cy="1188720"/>
          </a:xfrm>
          <a:prstGeom prst="rect">
            <a:avLst/>
          </a:prstGeom>
          <a:noFill/>
          <a:ln/>
        </p:spPr>
        <p:txBody>
          <a:bodyPr wrap="square" lIns="0" tIns="0" rIns="0" bIns="0" rtlCol="0" anchor="t"/>
          <a:lstStyle/>
          <a:p>
            <a:pPr indent="0" marL="0">
              <a:buNone/>
            </a:pPr>
            <a:r>
              <a:rPr lang="en-US" sz="1600" b="1" dirty="0">
                <a:solidFill>
                  <a:schemeClr val="tx1"/>
                </a:solidFill>
              </a:rPr>
              <a:t>Answer-giving columns removed</a:t>
            </a:r>
            <a:endParaRPr lang="en-US" sz="1600" dirty="0"/>
          </a:p>
          <a:p>
            <a:pPr indent="0" marL="0">
              <a:buNone/>
            </a:pPr>
            <a:r>
              <a:rPr lang="en-US" sz="1400" dirty="0">
                <a:solidFill>
                  <a:schemeClr val="accent6"/>
                </a:solidFill>
              </a:rPr>
              <a:t>Five columns record which failure happened. They give the answer away (data leakage), so the model never sees them.</a:t>
            </a:r>
            <a:endParaRPr lang="en-US" sz="1600" dirty="0"/>
          </a:p>
        </p:txBody>
      </p:sp>
      <p:sp>
        <p:nvSpPr>
          <p:cNvPr id="21" name="Trap 2 card"/>
          <p:cNvSpPr/>
          <p:nvPr/>
        </p:nvSpPr>
        <p:spPr>
          <a:xfrm>
            <a:off x="6995160" y="4663440"/>
            <a:ext cx="4663440" cy="1481328"/>
          </a:xfrm>
          <a:prstGeom prst="roundRect">
            <a:avLst>
              <a:gd name="adj" fmla="val 7407"/>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22" name="Trap 2 circle"/>
          <p:cNvSpPr/>
          <p:nvPr/>
        </p:nvSpPr>
        <p:spPr>
          <a:xfrm>
            <a:off x="7223760" y="4919472"/>
            <a:ext cx="603504" cy="603504"/>
          </a:xfrm>
          <a:prstGeom prst="ellipse">
            <a:avLst/>
          </a:prstGeom>
          <a:solidFill>
            <a:schemeClr val="accent1"/>
          </a:solidFill>
          <a:ln/>
        </p:spPr>
      </p:sp>
      <p:pic>
        <p:nvPicPr>
          <p:cNvPr id="23" name="Trap 2 icon" descr="preencoded.png">    </p:cNvPr>
          <p:cNvPicPr>
            <a:picLocks noChangeAspect="1"/>
          </p:cNvPicPr>
          <p:nvPr/>
        </p:nvPicPr>
        <p:blipFill>
          <a:blip r:embed="rId3"/>
          <a:stretch>
            <a:fillRect/>
          </a:stretch>
        </p:blipFill>
        <p:spPr>
          <a:xfrm>
            <a:off x="7380671" y="5076383"/>
            <a:ext cx="289682" cy="289682"/>
          </a:xfrm>
          <a:prstGeom prst="rect">
            <a:avLst/>
          </a:prstGeom>
        </p:spPr>
      </p:pic>
      <p:sp>
        <p:nvSpPr>
          <p:cNvPr id="24" name="Trap 2 text"/>
          <p:cNvSpPr txBox="1"/>
          <p:nvPr/>
        </p:nvSpPr>
        <p:spPr>
          <a:xfrm>
            <a:off x="8046720" y="4828032"/>
            <a:ext cx="3474720" cy="1188720"/>
          </a:xfrm>
          <a:prstGeom prst="rect">
            <a:avLst/>
          </a:prstGeom>
          <a:noFill/>
          <a:ln/>
        </p:spPr>
        <p:txBody>
          <a:bodyPr wrap="square" lIns="0" tIns="0" rIns="0" bIns="0" rtlCol="0" anchor="t"/>
          <a:lstStyle/>
          <a:p>
            <a:pPr indent="0" marL="0">
              <a:buNone/>
            </a:pPr>
            <a:r>
              <a:rPr lang="en-US" sz="1600" b="1" dirty="0">
                <a:solidFill>
                  <a:schemeClr val="tx1"/>
                </a:solidFill>
              </a:rPr>
              <a:t>Rare failures handled</a:t>
            </a:r>
            <a:endParaRPr lang="en-US" sz="1600" dirty="0"/>
          </a:p>
          <a:p>
            <a:pPr indent="0" marL="0">
              <a:buNone/>
            </a:pPr>
            <a:r>
              <a:rPr lang="en-US" sz="1400" dirty="0">
                <a:solidFill>
                  <a:schemeClr val="accent6"/>
                </a:solidFill>
              </a:rPr>
              <a:t>Always saying “no failure” is 96.6% accurate but useless, so we score how well failures are found (PR-AUC).</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Workflow: from raw data to safe operating ranges</a:t>
            </a:r>
            <a:endParaRPr lang="en-US" sz="3200" dirty="0"/>
          </a:p>
        </p:txBody>
      </p:sp>
      <p:sp>
        <p:nvSpPr>
          <p:cNvPr id="3" name="Step 1 card"/>
          <p:cNvSpPr/>
          <p:nvPr/>
        </p:nvSpPr>
        <p:spPr>
          <a:xfrm>
            <a:off x="548640" y="137160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4" name="Step 1 number"/>
          <p:cNvSpPr/>
          <p:nvPr/>
        </p:nvSpPr>
        <p:spPr>
          <a:xfrm>
            <a:off x="777240" y="1600200"/>
            <a:ext cx="457200" cy="457200"/>
          </a:xfrm>
          <a:prstGeom prst="ellipse">
            <a:avLst/>
          </a:prstGeom>
          <a:solidFill>
            <a:schemeClr val="accent2"/>
          </a:solidFill>
          <a:ln/>
        </p:spPr>
      </p:sp>
      <p:sp>
        <p:nvSpPr>
          <p:cNvPr id="5" name="Step 1 number number"/>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ep 1 circle"/>
          <p:cNvSpPr/>
          <p:nvPr/>
        </p:nvSpPr>
        <p:spPr>
          <a:xfrm>
            <a:off x="3291840" y="1572768"/>
            <a:ext cx="512064" cy="512064"/>
          </a:xfrm>
          <a:prstGeom prst="ellipse">
            <a:avLst/>
          </a:prstGeom>
          <a:solidFill>
            <a:schemeClr val="bg2"/>
          </a:solidFill>
          <a:ln/>
        </p:spPr>
      </p:sp>
      <p:pic>
        <p:nvPicPr>
          <p:cNvPr id="7" name="Step 1 icon" descr="preencoded.png">    </p:cNvPr>
          <p:cNvPicPr>
            <a:picLocks noChangeAspect="1"/>
          </p:cNvPicPr>
          <p:nvPr/>
        </p:nvPicPr>
        <p:blipFill>
          <a:blip r:embed="rId1"/>
          <a:stretch>
            <a:fillRect/>
          </a:stretch>
        </p:blipFill>
        <p:spPr>
          <a:xfrm>
            <a:off x="3424977" y="1705905"/>
            <a:ext cx="245791" cy="245791"/>
          </a:xfrm>
          <a:prstGeom prst="rect">
            <a:avLst/>
          </a:prstGeom>
        </p:spPr>
      </p:pic>
      <p:sp>
        <p:nvSpPr>
          <p:cNvPr id="8" name="Step 1 text"/>
          <p:cNvSpPr txBox="1"/>
          <p:nvPr/>
        </p:nvSpPr>
        <p:spPr>
          <a:xfrm>
            <a:off x="777240" y="221284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Check the data</a:t>
            </a:r>
            <a:endParaRPr lang="en-US" sz="1800" dirty="0"/>
          </a:p>
          <a:p>
            <a:pPr indent="0" marL="0">
              <a:buNone/>
            </a:pPr>
            <a:r>
              <a:rPr lang="en-US" sz="1400" dirty="0">
                <a:solidFill>
                  <a:schemeClr val="accent6"/>
                </a:solidFill>
              </a:rPr>
              <a:t>Explore it, and remove the columns that give the answer away</a:t>
            </a:r>
            <a:endParaRPr lang="en-US" sz="1800" dirty="0"/>
          </a:p>
        </p:txBody>
      </p:sp>
      <p:sp>
        <p:nvSpPr>
          <p:cNvPr id="9" name="Arrow 1"/>
          <p:cNvSpPr/>
          <p:nvPr/>
        </p:nvSpPr>
        <p:spPr>
          <a:xfrm>
            <a:off x="4041648" y="2240280"/>
            <a:ext cx="274320" cy="274320"/>
          </a:xfrm>
          <a:prstGeom prst="rightArrow">
            <a:avLst/>
          </a:prstGeom>
          <a:solidFill>
            <a:schemeClr val="accent2"/>
          </a:solidFill>
          <a:ln/>
        </p:spPr>
      </p:sp>
      <p:sp>
        <p:nvSpPr>
          <p:cNvPr id="10" name="Step 2 card"/>
          <p:cNvSpPr/>
          <p:nvPr/>
        </p:nvSpPr>
        <p:spPr>
          <a:xfrm>
            <a:off x="4361688" y="137160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1" name="Step 2 number"/>
          <p:cNvSpPr/>
          <p:nvPr/>
        </p:nvSpPr>
        <p:spPr>
          <a:xfrm>
            <a:off x="4590288" y="1600200"/>
            <a:ext cx="457200" cy="457200"/>
          </a:xfrm>
          <a:prstGeom prst="ellipse">
            <a:avLst/>
          </a:prstGeom>
          <a:solidFill>
            <a:schemeClr val="accent2"/>
          </a:solidFill>
          <a:ln/>
        </p:spPr>
      </p:sp>
      <p:sp>
        <p:nvSpPr>
          <p:cNvPr id="12" name="Step 2 number number"/>
          <p:cNvSpPr txBox="1"/>
          <p:nvPr/>
        </p:nvSpPr>
        <p:spPr>
          <a:xfrm>
            <a:off x="4590288"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ep 2 circle"/>
          <p:cNvSpPr/>
          <p:nvPr/>
        </p:nvSpPr>
        <p:spPr>
          <a:xfrm>
            <a:off x="7104888" y="1572768"/>
            <a:ext cx="512064" cy="512064"/>
          </a:xfrm>
          <a:prstGeom prst="ellipse">
            <a:avLst/>
          </a:prstGeom>
          <a:solidFill>
            <a:schemeClr val="bg2"/>
          </a:solidFill>
          <a:ln/>
        </p:spPr>
      </p:sp>
      <p:pic>
        <p:nvPicPr>
          <p:cNvPr id="14" name="Step 2 icon" descr="preencoded.png">    </p:cNvPr>
          <p:cNvPicPr>
            <a:picLocks noChangeAspect="1"/>
          </p:cNvPicPr>
          <p:nvPr/>
        </p:nvPicPr>
        <p:blipFill>
          <a:blip r:embed="rId2"/>
          <a:stretch>
            <a:fillRect/>
          </a:stretch>
        </p:blipFill>
        <p:spPr>
          <a:xfrm>
            <a:off x="7238025" y="1705905"/>
            <a:ext cx="245791" cy="245791"/>
          </a:xfrm>
          <a:prstGeom prst="rect">
            <a:avLst/>
          </a:prstGeom>
        </p:spPr>
      </p:pic>
      <p:sp>
        <p:nvSpPr>
          <p:cNvPr id="15" name="Step 2 text"/>
          <p:cNvSpPr txBox="1"/>
          <p:nvPr/>
        </p:nvSpPr>
        <p:spPr>
          <a:xfrm>
            <a:off x="4590288" y="221284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Add physics features</a:t>
            </a:r>
            <a:endParaRPr lang="en-US" sz="1800" dirty="0"/>
          </a:p>
          <a:p>
            <a:pPr indent="0" marL="0">
              <a:buNone/>
            </a:pPr>
            <a:r>
              <a:rPr lang="en-US" sz="1400" dirty="0">
                <a:solidFill>
                  <a:schemeClr val="accent6"/>
                </a:solidFill>
              </a:rPr>
              <a:t>Power, temperature gap, and wear × torque</a:t>
            </a:r>
            <a:endParaRPr lang="en-US" sz="1800" dirty="0"/>
          </a:p>
        </p:txBody>
      </p:sp>
      <p:sp>
        <p:nvSpPr>
          <p:cNvPr id="16" name="Arrow 2"/>
          <p:cNvSpPr/>
          <p:nvPr/>
        </p:nvSpPr>
        <p:spPr>
          <a:xfrm>
            <a:off x="7854696" y="2240280"/>
            <a:ext cx="274320" cy="274320"/>
          </a:xfrm>
          <a:prstGeom prst="rightArrow">
            <a:avLst/>
          </a:prstGeom>
          <a:solidFill>
            <a:schemeClr val="accent2"/>
          </a:solidFill>
          <a:ln/>
        </p:spPr>
      </p:sp>
      <p:sp>
        <p:nvSpPr>
          <p:cNvPr id="17" name="Step 3 card"/>
          <p:cNvSpPr/>
          <p:nvPr/>
        </p:nvSpPr>
        <p:spPr>
          <a:xfrm>
            <a:off x="8174736" y="137160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8" name="Step 3 number"/>
          <p:cNvSpPr/>
          <p:nvPr/>
        </p:nvSpPr>
        <p:spPr>
          <a:xfrm>
            <a:off x="8403336" y="1600200"/>
            <a:ext cx="457200" cy="457200"/>
          </a:xfrm>
          <a:prstGeom prst="ellipse">
            <a:avLst/>
          </a:prstGeom>
          <a:solidFill>
            <a:schemeClr val="accent2"/>
          </a:solidFill>
          <a:ln/>
        </p:spPr>
      </p:sp>
      <p:sp>
        <p:nvSpPr>
          <p:cNvPr id="19" name="Step 3 number number"/>
          <p:cNvSpPr txBox="1"/>
          <p:nvPr/>
        </p:nvSpPr>
        <p:spPr>
          <a:xfrm>
            <a:off x="8403336"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Step 3 circle"/>
          <p:cNvSpPr/>
          <p:nvPr/>
        </p:nvSpPr>
        <p:spPr>
          <a:xfrm>
            <a:off x="10917936" y="1572768"/>
            <a:ext cx="512064" cy="512064"/>
          </a:xfrm>
          <a:prstGeom prst="ellipse">
            <a:avLst/>
          </a:prstGeom>
          <a:solidFill>
            <a:schemeClr val="bg2"/>
          </a:solidFill>
          <a:ln/>
        </p:spPr>
      </p:sp>
      <p:pic>
        <p:nvPicPr>
          <p:cNvPr id="21" name="Step 3 icon" descr="preencoded.png">    </p:cNvPr>
          <p:cNvPicPr>
            <a:picLocks noChangeAspect="1"/>
          </p:cNvPicPr>
          <p:nvPr/>
        </p:nvPicPr>
        <p:blipFill>
          <a:blip r:embed="rId3"/>
          <a:stretch>
            <a:fillRect/>
          </a:stretch>
        </p:blipFill>
        <p:spPr>
          <a:xfrm>
            <a:off x="11051073" y="1705905"/>
            <a:ext cx="245791" cy="245791"/>
          </a:xfrm>
          <a:prstGeom prst="rect">
            <a:avLst/>
          </a:prstGeom>
        </p:spPr>
      </p:pic>
      <p:sp>
        <p:nvSpPr>
          <p:cNvPr id="22" name="Step 3 text"/>
          <p:cNvSpPr txBox="1"/>
          <p:nvPr/>
        </p:nvSpPr>
        <p:spPr>
          <a:xfrm>
            <a:off x="8403336" y="221284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Balance the data</a:t>
            </a:r>
            <a:endParaRPr lang="en-US" sz="1800" dirty="0"/>
          </a:p>
          <a:p>
            <a:pPr indent="0" marL="0">
              <a:buNone/>
            </a:pPr>
            <a:r>
              <a:rPr lang="en-US" sz="1400" dirty="0">
                <a:solidFill>
                  <a:schemeClr val="accent6"/>
                </a:solidFill>
              </a:rPr>
              <a:t>Create extra failure examples (SMOTE), only from training data</a:t>
            </a:r>
            <a:endParaRPr lang="en-US" sz="1800" dirty="0"/>
          </a:p>
        </p:txBody>
      </p:sp>
      <p:sp>
        <p:nvSpPr>
          <p:cNvPr id="23" name="Step 4 card"/>
          <p:cNvSpPr/>
          <p:nvPr/>
        </p:nvSpPr>
        <p:spPr>
          <a:xfrm>
            <a:off x="548640" y="374904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24" name="Step 4 number"/>
          <p:cNvSpPr/>
          <p:nvPr/>
        </p:nvSpPr>
        <p:spPr>
          <a:xfrm>
            <a:off x="777240" y="3977640"/>
            <a:ext cx="457200" cy="457200"/>
          </a:xfrm>
          <a:prstGeom prst="ellipse">
            <a:avLst/>
          </a:prstGeom>
          <a:solidFill>
            <a:schemeClr val="accent2"/>
          </a:solidFill>
          <a:ln/>
        </p:spPr>
      </p:sp>
      <p:sp>
        <p:nvSpPr>
          <p:cNvPr id="25" name="Step 4 number number"/>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Step 4 circle"/>
          <p:cNvSpPr/>
          <p:nvPr/>
        </p:nvSpPr>
        <p:spPr>
          <a:xfrm>
            <a:off x="3291840" y="3950208"/>
            <a:ext cx="512064" cy="512064"/>
          </a:xfrm>
          <a:prstGeom prst="ellipse">
            <a:avLst/>
          </a:prstGeom>
          <a:solidFill>
            <a:schemeClr val="bg2"/>
          </a:solidFill>
          <a:ln/>
        </p:spPr>
      </p:sp>
      <p:pic>
        <p:nvPicPr>
          <p:cNvPr id="27" name="Step 4 icon" descr="preencoded.png">    </p:cNvPr>
          <p:cNvPicPr>
            <a:picLocks noChangeAspect="1"/>
          </p:cNvPicPr>
          <p:nvPr/>
        </p:nvPicPr>
        <p:blipFill>
          <a:blip r:embed="rId4"/>
          <a:stretch>
            <a:fillRect/>
          </a:stretch>
        </p:blipFill>
        <p:spPr>
          <a:xfrm>
            <a:off x="3424977" y="4083345"/>
            <a:ext cx="245791" cy="245791"/>
          </a:xfrm>
          <a:prstGeom prst="rect">
            <a:avLst/>
          </a:prstGeom>
        </p:spPr>
      </p:pic>
      <p:sp>
        <p:nvSpPr>
          <p:cNvPr id="28" name="Step 4 text"/>
          <p:cNvSpPr txBox="1"/>
          <p:nvPr/>
        </p:nvSpPr>
        <p:spPr>
          <a:xfrm>
            <a:off x="777240" y="459028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Compare 3 models</a:t>
            </a:r>
            <a:endParaRPr lang="en-US" sz="1800" dirty="0"/>
          </a:p>
          <a:p>
            <a:pPr indent="0" marL="0">
              <a:buNone/>
            </a:pPr>
            <a:r>
              <a:rPr lang="en-US" sz="1400" dirty="0">
                <a:solidFill>
                  <a:schemeClr val="accent6"/>
                </a:solidFill>
              </a:rPr>
              <a:t>Each tested 5 times on data it never saw (cross-validation)</a:t>
            </a:r>
            <a:endParaRPr lang="en-US" sz="1800" dirty="0"/>
          </a:p>
        </p:txBody>
      </p:sp>
      <p:sp>
        <p:nvSpPr>
          <p:cNvPr id="29" name="Arrow 4"/>
          <p:cNvSpPr/>
          <p:nvPr/>
        </p:nvSpPr>
        <p:spPr>
          <a:xfrm>
            <a:off x="4041648" y="4617720"/>
            <a:ext cx="274320" cy="274320"/>
          </a:xfrm>
          <a:prstGeom prst="rightArrow">
            <a:avLst/>
          </a:prstGeom>
          <a:solidFill>
            <a:schemeClr val="accent2"/>
          </a:solidFill>
          <a:ln/>
        </p:spPr>
      </p:sp>
      <p:sp>
        <p:nvSpPr>
          <p:cNvPr id="30" name="Step 5 card"/>
          <p:cNvSpPr/>
          <p:nvPr/>
        </p:nvSpPr>
        <p:spPr>
          <a:xfrm>
            <a:off x="4361688" y="374904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31" name="Step 5 number"/>
          <p:cNvSpPr/>
          <p:nvPr/>
        </p:nvSpPr>
        <p:spPr>
          <a:xfrm>
            <a:off x="4590288" y="3977640"/>
            <a:ext cx="457200" cy="457200"/>
          </a:xfrm>
          <a:prstGeom prst="ellipse">
            <a:avLst/>
          </a:prstGeom>
          <a:solidFill>
            <a:schemeClr val="accent2"/>
          </a:solidFill>
          <a:ln/>
        </p:spPr>
      </p:sp>
      <p:sp>
        <p:nvSpPr>
          <p:cNvPr id="32" name="Step 5 number number"/>
          <p:cNvSpPr txBox="1"/>
          <p:nvPr/>
        </p:nvSpPr>
        <p:spPr>
          <a:xfrm>
            <a:off x="4590288" y="3977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tep 5 circle"/>
          <p:cNvSpPr/>
          <p:nvPr/>
        </p:nvSpPr>
        <p:spPr>
          <a:xfrm>
            <a:off x="7104888" y="3950208"/>
            <a:ext cx="512064" cy="512064"/>
          </a:xfrm>
          <a:prstGeom prst="ellipse">
            <a:avLst/>
          </a:prstGeom>
          <a:solidFill>
            <a:schemeClr val="bg2"/>
          </a:solidFill>
          <a:ln/>
        </p:spPr>
      </p:sp>
      <p:pic>
        <p:nvPicPr>
          <p:cNvPr id="34" name="Step 5 icon" descr="preencoded.png">    </p:cNvPr>
          <p:cNvPicPr>
            <a:picLocks noChangeAspect="1"/>
          </p:cNvPicPr>
          <p:nvPr/>
        </p:nvPicPr>
        <p:blipFill>
          <a:blip r:embed="rId5"/>
          <a:stretch>
            <a:fillRect/>
          </a:stretch>
        </p:blipFill>
        <p:spPr>
          <a:xfrm>
            <a:off x="7238025" y="4083345"/>
            <a:ext cx="245791" cy="245791"/>
          </a:xfrm>
          <a:prstGeom prst="rect">
            <a:avLst/>
          </a:prstGeom>
        </p:spPr>
      </p:pic>
      <p:sp>
        <p:nvSpPr>
          <p:cNvPr id="35" name="Step 5 text"/>
          <p:cNvSpPr txBox="1"/>
          <p:nvPr/>
        </p:nvSpPr>
        <p:spPr>
          <a:xfrm>
            <a:off x="4590288" y="459028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Tune and set the alarm</a:t>
            </a:r>
            <a:endParaRPr lang="en-US" sz="1800" dirty="0"/>
          </a:p>
          <a:p>
            <a:pPr indent="0" marL="0">
              <a:buNone/>
            </a:pPr>
            <a:r>
              <a:rPr lang="en-US" sz="1400" dirty="0">
                <a:solidFill>
                  <a:schemeClr val="accent6"/>
                </a:solidFill>
              </a:rPr>
              <a:t>Best settings found; alarm set to catch about 9 in 10 failures</a:t>
            </a:r>
            <a:endParaRPr lang="en-US" sz="1800" dirty="0"/>
          </a:p>
        </p:txBody>
      </p:sp>
      <p:sp>
        <p:nvSpPr>
          <p:cNvPr id="36" name="Arrow 5"/>
          <p:cNvSpPr/>
          <p:nvPr/>
        </p:nvSpPr>
        <p:spPr>
          <a:xfrm>
            <a:off x="7854696" y="4617720"/>
            <a:ext cx="274320" cy="274320"/>
          </a:xfrm>
          <a:prstGeom prst="rightArrow">
            <a:avLst/>
          </a:prstGeom>
          <a:solidFill>
            <a:schemeClr val="accent2"/>
          </a:solidFill>
          <a:ln/>
        </p:spPr>
      </p:sp>
      <p:sp>
        <p:nvSpPr>
          <p:cNvPr id="37" name="Step 6 card"/>
          <p:cNvSpPr/>
          <p:nvPr/>
        </p:nvSpPr>
        <p:spPr>
          <a:xfrm>
            <a:off x="8174736" y="3749040"/>
            <a:ext cx="342900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38" name="Step 6 number"/>
          <p:cNvSpPr/>
          <p:nvPr/>
        </p:nvSpPr>
        <p:spPr>
          <a:xfrm>
            <a:off x="8403336" y="3977640"/>
            <a:ext cx="457200" cy="457200"/>
          </a:xfrm>
          <a:prstGeom prst="ellipse">
            <a:avLst/>
          </a:prstGeom>
          <a:solidFill>
            <a:schemeClr val="accent2"/>
          </a:solidFill>
          <a:ln/>
        </p:spPr>
      </p:sp>
      <p:sp>
        <p:nvSpPr>
          <p:cNvPr id="39" name="Step 6 number number"/>
          <p:cNvSpPr txBox="1"/>
          <p:nvPr/>
        </p:nvSpPr>
        <p:spPr>
          <a:xfrm>
            <a:off x="8403336" y="3977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0" name="Step 6 circle"/>
          <p:cNvSpPr/>
          <p:nvPr/>
        </p:nvSpPr>
        <p:spPr>
          <a:xfrm>
            <a:off x="10917936" y="3950208"/>
            <a:ext cx="512064" cy="512064"/>
          </a:xfrm>
          <a:prstGeom prst="ellipse">
            <a:avLst/>
          </a:prstGeom>
          <a:solidFill>
            <a:schemeClr val="bg2"/>
          </a:solidFill>
          <a:ln/>
        </p:spPr>
      </p:sp>
      <p:pic>
        <p:nvPicPr>
          <p:cNvPr id="41" name="Step 6 icon" descr="preencoded.png">    </p:cNvPr>
          <p:cNvPicPr>
            <a:picLocks noChangeAspect="1"/>
          </p:cNvPicPr>
          <p:nvPr/>
        </p:nvPicPr>
        <p:blipFill>
          <a:blip r:embed="rId6"/>
          <a:stretch>
            <a:fillRect/>
          </a:stretch>
        </p:blipFill>
        <p:spPr>
          <a:xfrm>
            <a:off x="11051073" y="4083345"/>
            <a:ext cx="245791" cy="245791"/>
          </a:xfrm>
          <a:prstGeom prst="rect">
            <a:avLst/>
          </a:prstGeom>
        </p:spPr>
      </p:pic>
      <p:sp>
        <p:nvSpPr>
          <p:cNvPr id="42" name="Step 6 text"/>
          <p:cNvSpPr txBox="1"/>
          <p:nvPr/>
        </p:nvSpPr>
        <p:spPr>
          <a:xfrm>
            <a:off x="8403336" y="4590288"/>
            <a:ext cx="3017520" cy="1097280"/>
          </a:xfrm>
          <a:prstGeom prst="rect">
            <a:avLst/>
          </a:prstGeom>
          <a:noFill/>
          <a:ln/>
        </p:spPr>
        <p:txBody>
          <a:bodyPr wrap="square" lIns="0" tIns="0" rIns="0" bIns="0" rtlCol="0" anchor="t"/>
          <a:lstStyle/>
          <a:p>
            <a:pPr indent="0" marL="0">
              <a:buNone/>
            </a:pPr>
            <a:r>
              <a:rPr lang="en-US" sz="1800" b="1" dirty="0">
                <a:solidFill>
                  <a:schemeClr val="tx1"/>
                </a:solidFill>
              </a:rPr>
              <a:t>Explain and recommend</a:t>
            </a:r>
            <a:endParaRPr lang="en-US" sz="1800" dirty="0"/>
          </a:p>
          <a:p>
            <a:pPr indent="0" marL="0">
              <a:buNone/>
            </a:pPr>
            <a:r>
              <a:rPr lang="en-US" sz="1400" dirty="0">
                <a:solidFill>
                  <a:schemeClr val="accent6"/>
                </a:solidFill>
              </a:rPr>
              <a:t>Show why each prediction was made (SHAP), then find safe settings</a:t>
            </a:r>
            <a:endParaRPr lang="en-US" sz="1800" dirty="0"/>
          </a:p>
        </p:txBody>
      </p:sp>
      <p:sp>
        <p:nvSpPr>
          <p:cNvPr id="43" name="Method note"/>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300" i="1" dirty="0">
                <a:solidFill>
                  <a:schemeClr val="accent6"/>
                </a:solidFill>
              </a:rPr>
              <a:t>Main score: PR-AUC, how well real failures are found   ·   every result is averaged over 5 tests   ·   fully repeatable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Results: Random Forest finds failures best (PR-AUC 0.915)</a:t>
            </a:r>
            <a:endParaRPr lang="en-US" sz="3200" dirty="0"/>
          </a:p>
        </p:txBody>
      </p:sp>
      <p:sp>
        <p:nvSpPr>
          <p:cNvPr id="3" name="PR card"/>
          <p:cNvSpPr/>
          <p:nvPr/>
        </p:nvSpPr>
        <p:spPr>
          <a:xfrm>
            <a:off x="548640" y="1325880"/>
            <a:ext cx="4343400" cy="4434840"/>
          </a:xfrm>
          <a:prstGeom prst="roundRect">
            <a:avLst>
              <a:gd name="adj" fmla="val 2526"/>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graphicFrame>
        <p:nvGraphicFramePr>
          <p:cNvPr id="4" name="PR curve chart" descr=""/>
          <p:cNvGraphicFramePr/>
          <p:nvPr/>
        </p:nvGraphicFramePr>
        <p:xfrm>
          <a:off x="640080" y="1417320"/>
          <a:ext cx="4160520" cy="4251960"/>
        </p:xfrm>
        <a:graphic xmlns:a="http://schemas.openxmlformats.org/drawingml/2006/main">
          <a:graphicData uri="http://schemas.openxmlformats.org/drawingml/2006/chart">
            <c:chart xmlns:c="http://schemas.openxmlformats.org/drawingml/2006/chart" r:id="rId1"/>
          </a:graphicData>
        </a:graphic>
      </p:graphicFrame>
      <p:sp>
        <p:nvSpPr>
          <p:cNvPr id="5" name="ROC card"/>
          <p:cNvSpPr/>
          <p:nvPr/>
        </p:nvSpPr>
        <p:spPr>
          <a:xfrm>
            <a:off x="5120640" y="1325880"/>
            <a:ext cx="3886200" cy="4434840"/>
          </a:xfrm>
          <a:prstGeom prst="roundRect">
            <a:avLst>
              <a:gd name="adj" fmla="val 2824"/>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graphicFrame>
        <p:nvGraphicFramePr>
          <p:cNvPr id="6" name="ROC curve chart" descr=""/>
          <p:cNvGraphicFramePr/>
          <p:nvPr/>
        </p:nvGraphicFramePr>
        <p:xfrm>
          <a:off x="5212080" y="1417320"/>
          <a:ext cx="3703320" cy="4251960"/>
        </p:xfrm>
        <a:graphic xmlns:a="http://schemas.openxmlformats.org/drawingml/2006/main">
          <a:graphicData uri="http://schemas.openxmlformats.org/drawingml/2006/chart">
            <c:chart xmlns:c="http://schemas.openxmlformats.org/drawingml/2006/chart" r:id="rId2"/>
          </a:graphicData>
        </a:graphic>
      </p:graphicFrame>
      <p:sp>
        <p:nvSpPr>
          <p:cNvPr id="7" name="KPI 1 card"/>
          <p:cNvSpPr/>
          <p:nvPr/>
        </p:nvSpPr>
        <p:spPr>
          <a:xfrm>
            <a:off x="9235440" y="1325880"/>
            <a:ext cx="242316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8" name="KPI 1 value"/>
          <p:cNvSpPr txBox="1"/>
          <p:nvPr/>
        </p:nvSpPr>
        <p:spPr>
          <a:xfrm>
            <a:off x="9418320" y="1435608"/>
            <a:ext cx="2103120" cy="566928"/>
          </a:xfrm>
          <a:prstGeom prst="rect">
            <a:avLst/>
          </a:prstGeom>
          <a:noFill/>
          <a:ln/>
        </p:spPr>
        <p:txBody>
          <a:bodyPr wrap="square" lIns="0" tIns="0" rIns="0" bIns="0" rtlCol="0" anchor="ctr"/>
          <a:lstStyle/>
          <a:p>
            <a:pPr indent="0" marL="0">
              <a:buNone/>
            </a:pPr>
            <a:r>
              <a:rPr lang="en-US" sz="3200" b="1" dirty="0">
                <a:solidFill>
                  <a:schemeClr val="accent2"/>
                </a:solidFill>
              </a:rPr>
              <a:t>89.4%</a:t>
            </a:r>
            <a:endParaRPr lang="en-US" sz="3200" dirty="0"/>
          </a:p>
        </p:txBody>
      </p:sp>
      <p:sp>
        <p:nvSpPr>
          <p:cNvPr id="9" name="KPI 1 label"/>
          <p:cNvSpPr txBox="1"/>
          <p:nvPr/>
        </p:nvSpPr>
        <p:spPr>
          <a:xfrm>
            <a:off x="9418320" y="2020824"/>
            <a:ext cx="2148840" cy="603504"/>
          </a:xfrm>
          <a:prstGeom prst="rect">
            <a:avLst/>
          </a:prstGeom>
          <a:noFill/>
          <a:ln/>
        </p:spPr>
        <p:txBody>
          <a:bodyPr wrap="square" lIns="0" tIns="0" rIns="0" bIns="0" rtlCol="0" anchor="t"/>
          <a:lstStyle/>
          <a:p>
            <a:pPr indent="0" marL="0">
              <a:buNone/>
            </a:pPr>
            <a:r>
              <a:rPr lang="en-US" sz="1400" dirty="0">
                <a:solidFill>
                  <a:schemeClr val="tx1"/>
                </a:solidFill>
              </a:rPr>
              <a:t>of failures caught</a:t>
            </a:r>
            <a:endParaRPr lang="en-US" sz="1400" dirty="0"/>
          </a:p>
          <a:p>
            <a:pPr indent="0" marL="0">
              <a:buNone/>
            </a:pPr>
            <a:r>
              <a:rPr lang="en-US" sz="1100" dirty="0">
                <a:solidFill>
                  <a:schemeClr val="accent6"/>
                </a:solidFill>
              </a:rPr>
              <a:t>recall ± 1.6%</a:t>
            </a:r>
            <a:endParaRPr lang="en-US" sz="1400" dirty="0"/>
          </a:p>
        </p:txBody>
      </p:sp>
      <p:sp>
        <p:nvSpPr>
          <p:cNvPr id="10" name="KPI 2 card"/>
          <p:cNvSpPr/>
          <p:nvPr/>
        </p:nvSpPr>
        <p:spPr>
          <a:xfrm>
            <a:off x="9235440" y="2834640"/>
            <a:ext cx="242316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1" name="KPI 2 value"/>
          <p:cNvSpPr txBox="1"/>
          <p:nvPr/>
        </p:nvSpPr>
        <p:spPr>
          <a:xfrm>
            <a:off x="9418320" y="2944368"/>
            <a:ext cx="2103120" cy="566928"/>
          </a:xfrm>
          <a:prstGeom prst="rect">
            <a:avLst/>
          </a:prstGeom>
          <a:noFill/>
          <a:ln/>
        </p:spPr>
        <p:txBody>
          <a:bodyPr wrap="square" lIns="0" tIns="0" rIns="0" bIns="0" rtlCol="0" anchor="ctr"/>
          <a:lstStyle/>
          <a:p>
            <a:pPr indent="0" marL="0">
              <a:buNone/>
            </a:pPr>
            <a:r>
              <a:rPr lang="en-US" sz="3200" b="1" dirty="0">
                <a:solidFill>
                  <a:schemeClr val="tx1"/>
                </a:solidFill>
              </a:rPr>
              <a:t>52.2%</a:t>
            </a:r>
            <a:endParaRPr lang="en-US" sz="3200" dirty="0"/>
          </a:p>
        </p:txBody>
      </p:sp>
      <p:sp>
        <p:nvSpPr>
          <p:cNvPr id="12" name="KPI 2 label"/>
          <p:cNvSpPr txBox="1"/>
          <p:nvPr/>
        </p:nvSpPr>
        <p:spPr>
          <a:xfrm>
            <a:off x="9418320" y="3529584"/>
            <a:ext cx="2148840" cy="603504"/>
          </a:xfrm>
          <a:prstGeom prst="rect">
            <a:avLst/>
          </a:prstGeom>
          <a:noFill/>
          <a:ln/>
        </p:spPr>
        <p:txBody>
          <a:bodyPr wrap="square" lIns="0" tIns="0" rIns="0" bIns="0" rtlCol="0" anchor="t"/>
          <a:lstStyle/>
          <a:p>
            <a:pPr indent="0" marL="0">
              <a:buNone/>
            </a:pPr>
            <a:r>
              <a:rPr lang="en-US" sz="1400" dirty="0">
                <a:solidFill>
                  <a:schemeClr val="tx1"/>
                </a:solidFill>
              </a:rPr>
              <a:t>of alarms are real</a:t>
            </a:r>
            <a:endParaRPr lang="en-US" sz="1400" dirty="0"/>
          </a:p>
          <a:p>
            <a:pPr indent="0" marL="0">
              <a:buNone/>
            </a:pPr>
            <a:r>
              <a:rPr lang="en-US" sz="1100" dirty="0">
                <a:solidFill>
                  <a:schemeClr val="accent6"/>
                </a:solidFill>
              </a:rPr>
              <a:t>precision ± 3.6%</a:t>
            </a:r>
            <a:endParaRPr lang="en-US" sz="1400" dirty="0"/>
          </a:p>
        </p:txBody>
      </p:sp>
      <p:sp>
        <p:nvSpPr>
          <p:cNvPr id="13" name="KPI 3 card"/>
          <p:cNvSpPr/>
          <p:nvPr/>
        </p:nvSpPr>
        <p:spPr>
          <a:xfrm>
            <a:off x="9235440" y="4343400"/>
            <a:ext cx="2423160" cy="1371600"/>
          </a:xfrm>
          <a:prstGeom prst="roundRect">
            <a:avLst>
              <a:gd name="adj" fmla="val 8000"/>
            </a:avLst>
          </a:prstGeom>
          <a:solidFill>
            <a:schemeClr val="bg1"/>
          </a:solidFill>
          <a:ln w="9525">
            <a:solidFill>
              <a:srgbClr val="DCE3EC"/>
            </a:solidFill>
            <a:prstDash val="solid"/>
          </a:ln>
          <a:effectLst>
            <a:outerShdw sx="100000" sy="100000" kx="0" ky="0" algn="bl" rotWithShape="0" blurRad="127000" dist="25400" dir="5400000">
              <a:srgbClr val="0E1A2B">
                <a:alpha val="12000"/>
              </a:srgbClr>
            </a:outerShdw>
          </a:effectLst>
        </p:spPr>
      </p:sp>
      <p:sp>
        <p:nvSpPr>
          <p:cNvPr id="14" name="KPI 3 value"/>
          <p:cNvSpPr txBox="1"/>
          <p:nvPr/>
        </p:nvSpPr>
        <p:spPr>
          <a:xfrm>
            <a:off x="9418320" y="4453128"/>
            <a:ext cx="2103120" cy="566928"/>
          </a:xfrm>
          <a:prstGeom prst="rect">
            <a:avLst/>
          </a:prstGeom>
          <a:noFill/>
          <a:ln/>
        </p:spPr>
        <p:txBody>
          <a:bodyPr wrap="square" lIns="0" tIns="0" rIns="0" bIns="0" rtlCol="0" anchor="ctr"/>
          <a:lstStyle/>
          <a:p>
            <a:pPr indent="0" marL="0">
              <a:buNone/>
            </a:pPr>
            <a:r>
              <a:rPr lang="en-US" sz="3200" b="1" dirty="0">
                <a:solidFill>
                  <a:schemeClr val="accent3"/>
                </a:solidFill>
              </a:rPr>
              <a:t>+0.040</a:t>
            </a:r>
            <a:endParaRPr lang="en-US" sz="3200" dirty="0"/>
          </a:p>
        </p:txBody>
      </p:sp>
      <p:sp>
        <p:nvSpPr>
          <p:cNvPr id="15" name="KPI 3 label"/>
          <p:cNvSpPr txBox="1"/>
          <p:nvPr/>
        </p:nvSpPr>
        <p:spPr>
          <a:xfrm>
            <a:off x="9418320" y="5038344"/>
            <a:ext cx="2148840" cy="603504"/>
          </a:xfrm>
          <a:prstGeom prst="rect">
            <a:avLst/>
          </a:prstGeom>
          <a:noFill/>
          <a:ln/>
        </p:spPr>
        <p:txBody>
          <a:bodyPr wrap="square" lIns="0" tIns="0" rIns="0" bIns="0" rtlCol="0" anchor="t"/>
          <a:lstStyle/>
          <a:p>
            <a:pPr indent="0" marL="0">
              <a:buNone/>
            </a:pPr>
            <a:r>
              <a:rPr lang="en-US" sz="1400" dirty="0">
                <a:solidFill>
                  <a:schemeClr val="tx1"/>
                </a:solidFill>
              </a:rPr>
              <a:t>better than XGBoost</a:t>
            </a:r>
            <a:endParaRPr lang="en-US" sz="1400" dirty="0"/>
          </a:p>
          <a:p>
            <a:pPr indent="0" marL="0">
              <a:buNone/>
            </a:pPr>
            <a:r>
              <a:rPr lang="en-US" sz="1100" dirty="0">
                <a:solidFill>
                  <a:schemeClr val="accent6"/>
                </a:solidFill>
              </a:rPr>
              <a:t>won all 5 tests</a:t>
            </a:r>
            <a:endParaRPr lang="en-US" sz="1400" dirty="0"/>
          </a:p>
        </p:txBody>
      </p:sp>
      <p:sp>
        <p:nvSpPr>
          <p:cNvPr id="16" name="Results note"/>
          <p:cNvSpPr txBox="1"/>
          <p:nvPr/>
        </p:nvSpPr>
        <p:spPr>
          <a:xfrm>
            <a:off x="548640" y="5897880"/>
            <a:ext cx="11109960" cy="411480"/>
          </a:xfrm>
          <a:prstGeom prst="rect">
            <a:avLst/>
          </a:prstGeom>
          <a:noFill/>
          <a:ln/>
        </p:spPr>
        <p:txBody>
          <a:bodyPr wrap="square" lIns="0" tIns="0" rIns="0" bIns="0" rtlCol="0" anchor="t"/>
          <a:lstStyle/>
          <a:p>
            <a:pPr indent="0" marL="0">
              <a:buNone/>
            </a:pPr>
            <a:r>
              <a:rPr lang="en-US" sz="1100" dirty="0">
                <a:solidFill>
                  <a:schemeClr val="accent6"/>
                </a:solidFill>
              </a:rPr>
              <a:t>Higher is better on both charts. Every prediction comes from a model that never saw that run. Random guessing would score 0.034. Alarm level 0.056, set to catch about 9 in 10 failures.</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Summary: accurate, explainable and physically sound</a:t>
            </a:r>
            <a:endParaRPr lang="en-US" sz="3200" dirty="0"/>
          </a:p>
        </p:txBody>
      </p:sp>
      <p:sp>
        <p:nvSpPr>
          <p:cNvPr id="3" name="Takeaway 1 circle"/>
          <p:cNvSpPr/>
          <p:nvPr/>
        </p:nvSpPr>
        <p:spPr>
          <a:xfrm>
            <a:off x="548640" y="1417320"/>
            <a:ext cx="621792" cy="621792"/>
          </a:xfrm>
          <a:prstGeom prst="ellipse">
            <a:avLst/>
          </a:prstGeom>
          <a:solidFill>
            <a:schemeClr val="accent2"/>
          </a:solidFill>
          <a:ln/>
        </p:spPr>
      </p:sp>
      <p:pic>
        <p:nvPicPr>
          <p:cNvPr id="4" name="Takeaway 1 icon" descr="preencoded.png">    </p:cNvPr>
          <p:cNvPicPr>
            <a:picLocks noChangeAspect="1"/>
          </p:cNvPicPr>
          <p:nvPr/>
        </p:nvPicPr>
        <p:blipFill>
          <a:blip r:embed="rId1"/>
          <a:stretch>
            <a:fillRect/>
          </a:stretch>
        </p:blipFill>
        <p:spPr>
          <a:xfrm>
            <a:off x="710306" y="1578986"/>
            <a:ext cx="298460" cy="298460"/>
          </a:xfrm>
          <a:prstGeom prst="rect">
            <a:avLst/>
          </a:prstGeom>
        </p:spPr>
      </p:pic>
      <p:sp>
        <p:nvSpPr>
          <p:cNvPr id="5" name="Takeaway 1 text"/>
          <p:cNvSpPr txBox="1"/>
          <p:nvPr/>
        </p:nvSpPr>
        <p:spPr>
          <a:xfrm>
            <a:off x="1417320" y="1371600"/>
            <a:ext cx="5486400" cy="1051560"/>
          </a:xfrm>
          <a:prstGeom prst="rect">
            <a:avLst/>
          </a:prstGeom>
          <a:noFill/>
          <a:ln/>
        </p:spPr>
        <p:txBody>
          <a:bodyPr wrap="square" lIns="0" tIns="0" rIns="0" bIns="0" rtlCol="0" anchor="t"/>
          <a:lstStyle/>
          <a:p>
            <a:pPr indent="0" marL="0">
              <a:buNone/>
            </a:pPr>
            <a:r>
              <a:rPr lang="en-US" sz="1700" b="1" dirty="0">
                <a:solidFill>
                  <a:schemeClr val="tx1"/>
                </a:solidFill>
              </a:rPr>
              <a:t>Reliable prediction</a:t>
            </a:r>
            <a:endParaRPr lang="en-US" sz="1700" dirty="0"/>
          </a:p>
          <a:p>
            <a:pPr indent="0" marL="0">
              <a:buNone/>
            </a:pPr>
            <a:r>
              <a:rPr lang="en-US" sz="1400" dirty="0">
                <a:solidFill>
                  <a:schemeClr val="accent6"/>
                </a:solidFill>
              </a:rPr>
              <a:t>Score 0.915 out of 1 (guessing: 0.034); catches about 9 in 10 failures.</a:t>
            </a:r>
            <a:endParaRPr lang="en-US" sz="1700" dirty="0"/>
          </a:p>
        </p:txBody>
      </p:sp>
      <p:sp>
        <p:nvSpPr>
          <p:cNvPr id="6" name="Takeaway 2 circle"/>
          <p:cNvSpPr/>
          <p:nvPr/>
        </p:nvSpPr>
        <p:spPr>
          <a:xfrm>
            <a:off x="548640" y="2606040"/>
            <a:ext cx="621792" cy="621792"/>
          </a:xfrm>
          <a:prstGeom prst="ellipse">
            <a:avLst/>
          </a:prstGeom>
          <a:solidFill>
            <a:schemeClr val="accent1"/>
          </a:solidFill>
          <a:ln/>
        </p:spPr>
      </p:sp>
      <p:pic>
        <p:nvPicPr>
          <p:cNvPr id="7" name="Takeaway 2 icon" descr="preencoded.png">    </p:cNvPr>
          <p:cNvPicPr>
            <a:picLocks noChangeAspect="1"/>
          </p:cNvPicPr>
          <p:nvPr/>
        </p:nvPicPr>
        <p:blipFill>
          <a:blip r:embed="rId2"/>
          <a:stretch>
            <a:fillRect/>
          </a:stretch>
        </p:blipFill>
        <p:spPr>
          <a:xfrm>
            <a:off x="710306" y="2767706"/>
            <a:ext cx="298460" cy="298460"/>
          </a:xfrm>
          <a:prstGeom prst="rect">
            <a:avLst/>
          </a:prstGeom>
        </p:spPr>
      </p:pic>
      <p:sp>
        <p:nvSpPr>
          <p:cNvPr id="8" name="Takeaway 2 text"/>
          <p:cNvSpPr txBox="1"/>
          <p:nvPr/>
        </p:nvSpPr>
        <p:spPr>
          <a:xfrm>
            <a:off x="1417320" y="2560320"/>
            <a:ext cx="5486400" cy="1051560"/>
          </a:xfrm>
          <a:prstGeom prst="rect">
            <a:avLst/>
          </a:prstGeom>
          <a:noFill/>
          <a:ln/>
        </p:spPr>
        <p:txBody>
          <a:bodyPr wrap="square" lIns="0" tIns="0" rIns="0" bIns="0" rtlCol="0" anchor="t"/>
          <a:lstStyle/>
          <a:p>
            <a:pPr indent="0" marL="0">
              <a:buNone/>
            </a:pPr>
            <a:r>
              <a:rPr lang="en-US" sz="1700" b="1" dirty="0">
                <a:solidFill>
                  <a:schemeClr val="tx1"/>
                </a:solidFill>
              </a:rPr>
              <a:t>Physics features matter</a:t>
            </a:r>
            <a:endParaRPr lang="en-US" sz="1700" dirty="0"/>
          </a:p>
          <a:p>
            <a:pPr indent="0" marL="0">
              <a:buNone/>
            </a:pPr>
            <a:r>
              <a:rPr lang="en-US" sz="1400" dirty="0">
                <a:solidFill>
                  <a:schemeClr val="accent6"/>
                </a:solidFill>
              </a:rPr>
              <a:t>Power, temperature gap and wear × torque raised the score by 0.08–0.14.</a:t>
            </a:r>
            <a:endParaRPr lang="en-US" sz="1700" dirty="0"/>
          </a:p>
        </p:txBody>
      </p:sp>
      <p:sp>
        <p:nvSpPr>
          <p:cNvPr id="9" name="Takeaway 3 circle"/>
          <p:cNvSpPr/>
          <p:nvPr/>
        </p:nvSpPr>
        <p:spPr>
          <a:xfrm>
            <a:off x="548640" y="3794760"/>
            <a:ext cx="621792" cy="621792"/>
          </a:xfrm>
          <a:prstGeom prst="ellipse">
            <a:avLst/>
          </a:prstGeom>
          <a:solidFill>
            <a:schemeClr val="accent3"/>
          </a:solidFill>
          <a:ln/>
        </p:spPr>
      </p:sp>
      <p:pic>
        <p:nvPicPr>
          <p:cNvPr id="10" name="Takeaway 3 icon" descr="preencoded.png">    </p:cNvPr>
          <p:cNvPicPr>
            <a:picLocks noChangeAspect="1"/>
          </p:cNvPicPr>
          <p:nvPr/>
        </p:nvPicPr>
        <p:blipFill>
          <a:blip r:embed="rId3"/>
          <a:stretch>
            <a:fillRect/>
          </a:stretch>
        </p:blipFill>
        <p:spPr>
          <a:xfrm>
            <a:off x="710306" y="3956426"/>
            <a:ext cx="298460" cy="298460"/>
          </a:xfrm>
          <a:prstGeom prst="rect">
            <a:avLst/>
          </a:prstGeom>
        </p:spPr>
      </p:pic>
      <p:sp>
        <p:nvSpPr>
          <p:cNvPr id="11" name="Takeaway 3 text"/>
          <p:cNvSpPr txBox="1"/>
          <p:nvPr/>
        </p:nvSpPr>
        <p:spPr>
          <a:xfrm>
            <a:off x="1417320" y="3749040"/>
            <a:ext cx="5486400" cy="1051560"/>
          </a:xfrm>
          <a:prstGeom prst="rect">
            <a:avLst/>
          </a:prstGeom>
          <a:noFill/>
          <a:ln/>
        </p:spPr>
        <p:txBody>
          <a:bodyPr wrap="square" lIns="0" tIns="0" rIns="0" bIns="0" rtlCol="0" anchor="t"/>
          <a:lstStyle/>
          <a:p>
            <a:pPr indent="0" marL="0">
              <a:buNone/>
            </a:pPr>
            <a:r>
              <a:rPr lang="en-US" sz="1700" b="1" dirty="0">
                <a:solidFill>
                  <a:schemeClr val="tx1"/>
                </a:solidFill>
              </a:rPr>
              <a:t>Honest evaluation</a:t>
            </a:r>
            <a:endParaRPr lang="en-US" sz="1700" dirty="0"/>
          </a:p>
          <a:p>
            <a:pPr indent="0" marL="0">
              <a:buNone/>
            </a:pPr>
            <a:r>
              <a:rPr lang="en-US" sz="1400" dirty="0">
                <a:solidFill>
                  <a:schemeClr val="accent6"/>
                </a:solidFill>
              </a:rPr>
              <a:t>Always tested on unseen data. A careless setup would have faked 0.999.</a:t>
            </a:r>
            <a:endParaRPr lang="en-US" sz="1700" dirty="0"/>
          </a:p>
        </p:txBody>
      </p:sp>
      <p:sp>
        <p:nvSpPr>
          <p:cNvPr id="12" name="Takeaway 4 circle"/>
          <p:cNvSpPr/>
          <p:nvPr/>
        </p:nvSpPr>
        <p:spPr>
          <a:xfrm>
            <a:off x="548640" y="4983480"/>
            <a:ext cx="621792" cy="621792"/>
          </a:xfrm>
          <a:prstGeom prst="ellipse">
            <a:avLst/>
          </a:prstGeom>
          <a:solidFill>
            <a:schemeClr val="accent6"/>
          </a:solidFill>
          <a:ln/>
        </p:spPr>
      </p:sp>
      <p:pic>
        <p:nvPicPr>
          <p:cNvPr id="13" name="Takeaway 4 icon" descr="preencoded.png">    </p:cNvPr>
          <p:cNvPicPr>
            <a:picLocks noChangeAspect="1"/>
          </p:cNvPicPr>
          <p:nvPr/>
        </p:nvPicPr>
        <p:blipFill>
          <a:blip r:embed="rId4"/>
          <a:stretch>
            <a:fillRect/>
          </a:stretch>
        </p:blipFill>
        <p:spPr>
          <a:xfrm>
            <a:off x="710306" y="5145146"/>
            <a:ext cx="298460" cy="298460"/>
          </a:xfrm>
          <a:prstGeom prst="rect">
            <a:avLst/>
          </a:prstGeom>
        </p:spPr>
      </p:pic>
      <p:sp>
        <p:nvSpPr>
          <p:cNvPr id="14" name="Takeaway 4 text"/>
          <p:cNvSpPr txBox="1"/>
          <p:nvPr/>
        </p:nvSpPr>
        <p:spPr>
          <a:xfrm>
            <a:off x="1417320" y="4937760"/>
            <a:ext cx="5486400" cy="1051560"/>
          </a:xfrm>
          <a:prstGeom prst="rect">
            <a:avLst/>
          </a:prstGeom>
          <a:noFill/>
          <a:ln/>
        </p:spPr>
        <p:txBody>
          <a:bodyPr wrap="square" lIns="0" tIns="0" rIns="0" bIns="0" rtlCol="0" anchor="t"/>
          <a:lstStyle/>
          <a:p>
            <a:pPr indent="0" marL="0">
              <a:buNone/>
            </a:pPr>
            <a:r>
              <a:rPr lang="en-US" sz="1700" b="1" dirty="0">
                <a:solidFill>
                  <a:schemeClr val="tx1"/>
                </a:solidFill>
              </a:rPr>
              <a:t>Explains itself</a:t>
            </a:r>
            <a:endParaRPr lang="en-US" sz="1700" dirty="0"/>
          </a:p>
          <a:p>
            <a:pPr indent="0" marL="0">
              <a:buNone/>
            </a:pPr>
            <a:r>
              <a:rPr lang="en-US" sz="1400" dirty="0">
                <a:solidFill>
                  <a:schemeClr val="accent6"/>
                </a:solidFill>
              </a:rPr>
              <a:t>Its explanations (SHAP) match the machine's real failure rules.</a:t>
            </a:r>
            <a:endParaRPr lang="en-US" sz="1700" dirty="0"/>
          </a:p>
        </p:txBody>
      </p:sp>
      <p:sp>
        <p:nvSpPr>
          <p:cNvPr id="15" name="Window card"/>
          <p:cNvSpPr/>
          <p:nvPr/>
        </p:nvSpPr>
        <p:spPr>
          <a:xfrm>
            <a:off x="7178040" y="1325880"/>
            <a:ext cx="4480560" cy="4846320"/>
          </a:xfrm>
          <a:prstGeom prst="roundRect">
            <a:avLst>
              <a:gd name="adj" fmla="val 2857"/>
            </a:avLst>
          </a:prstGeom>
          <a:solidFill>
            <a:schemeClr val="tx1"/>
          </a:solidFill>
          <a:ln/>
          <a:effectLst>
            <a:outerShdw sx="100000" sy="100000" kx="0" ky="0" algn="bl" rotWithShape="0" blurRad="127000" dist="25400" dir="5400000">
              <a:srgbClr val="0E1A2B">
                <a:alpha val="12000"/>
              </a:srgbClr>
            </a:outerShdw>
          </a:effectLst>
        </p:spPr>
      </p:sp>
      <p:sp>
        <p:nvSpPr>
          <p:cNvPr id="16" name="Window header"/>
          <p:cNvSpPr txBox="1"/>
          <p:nvPr/>
        </p:nvSpPr>
        <p:spPr>
          <a:xfrm>
            <a:off x="7498080" y="1554480"/>
            <a:ext cx="3931920" cy="411480"/>
          </a:xfrm>
          <a:prstGeom prst="rect">
            <a:avLst/>
          </a:prstGeom>
          <a:noFill/>
          <a:ln/>
        </p:spPr>
        <p:txBody>
          <a:bodyPr wrap="square" lIns="0" tIns="0" rIns="0" bIns="0" rtlCol="0" anchor="ctr"/>
          <a:lstStyle/>
          <a:p>
            <a:pPr indent="0" marL="0">
              <a:buNone/>
            </a:pPr>
            <a:r>
              <a:rPr lang="en-US" sz="1900" b="1" dirty="0">
                <a:solidFill>
                  <a:schemeClr val="bg1"/>
                </a:solidFill>
              </a:rPr>
              <a:t>Recommended operating window</a:t>
            </a:r>
            <a:endParaRPr lang="en-US" sz="1900" dirty="0"/>
          </a:p>
        </p:txBody>
      </p:sp>
      <p:sp>
        <p:nvSpPr>
          <p:cNvPr id="17" name="Window item 1"/>
          <p:cNvSpPr txBox="1"/>
          <p:nvPr/>
        </p:nvSpPr>
        <p:spPr>
          <a:xfrm>
            <a:off x="7498080" y="2148840"/>
            <a:ext cx="3931920" cy="822960"/>
          </a:xfrm>
          <a:prstGeom prst="rect">
            <a:avLst/>
          </a:prstGeom>
          <a:noFill/>
          <a:ln/>
        </p:spPr>
        <p:txBody>
          <a:bodyPr wrap="square" lIns="0" tIns="0" rIns="0" bIns="0" rtlCol="0" anchor="t"/>
          <a:lstStyle/>
          <a:p>
            <a:pPr indent="0" marL="0">
              <a:buNone/>
            </a:pPr>
            <a:r>
              <a:rPr lang="en-US" sz="2400" b="1" dirty="0">
                <a:solidFill>
                  <a:schemeClr val="accent2"/>
                </a:solidFill>
              </a:rPr>
              <a:t>4.75 – 8 kW</a:t>
            </a:r>
            <a:endParaRPr lang="en-US" sz="2400" dirty="0"/>
          </a:p>
          <a:p>
            <a:pPr indent="0" marL="0">
              <a:buNone/>
            </a:pPr>
            <a:r>
              <a:rPr lang="en-US" sz="1300" dirty="0">
                <a:solidFill>
                  <a:schemeClr val="accent5"/>
                </a:solidFill>
              </a:rPr>
              <a:t>power band to stay inside</a:t>
            </a:r>
            <a:endParaRPr lang="en-US" sz="2400" dirty="0"/>
          </a:p>
        </p:txBody>
      </p:sp>
      <p:sp>
        <p:nvSpPr>
          <p:cNvPr id="18" name="Window item 2"/>
          <p:cNvSpPr txBox="1"/>
          <p:nvPr/>
        </p:nvSpPr>
        <p:spPr>
          <a:xfrm>
            <a:off x="7498080" y="3044952"/>
            <a:ext cx="3931920" cy="822960"/>
          </a:xfrm>
          <a:prstGeom prst="rect">
            <a:avLst/>
          </a:prstGeom>
          <a:noFill/>
          <a:ln/>
        </p:spPr>
        <p:txBody>
          <a:bodyPr wrap="square" lIns="0" tIns="0" rIns="0" bIns="0" rtlCol="0" anchor="t"/>
          <a:lstStyle/>
          <a:p>
            <a:pPr indent="0" marL="0">
              <a:buNone/>
            </a:pPr>
            <a:r>
              <a:rPr lang="en-US" sz="2400" b="1" dirty="0">
                <a:solidFill>
                  <a:schemeClr val="accent2"/>
                </a:solidFill>
              </a:rPr>
              <a:t>&lt; 200 min</a:t>
            </a:r>
            <a:endParaRPr lang="en-US" sz="2400" dirty="0"/>
          </a:p>
          <a:p>
            <a:pPr indent="0" marL="0">
              <a:buNone/>
            </a:pPr>
            <a:r>
              <a:rPr lang="en-US" sz="1300" dirty="0">
                <a:solidFill>
                  <a:schemeClr val="accent5"/>
                </a:solidFill>
              </a:rPr>
              <a:t>tool wear: change the tool before this</a:t>
            </a:r>
            <a:endParaRPr lang="en-US" sz="2400" dirty="0"/>
          </a:p>
        </p:txBody>
      </p:sp>
      <p:sp>
        <p:nvSpPr>
          <p:cNvPr id="19" name="Window item 3"/>
          <p:cNvSpPr txBox="1"/>
          <p:nvPr/>
        </p:nvSpPr>
        <p:spPr>
          <a:xfrm>
            <a:off x="7498080" y="3941064"/>
            <a:ext cx="3931920" cy="822960"/>
          </a:xfrm>
          <a:prstGeom prst="rect">
            <a:avLst/>
          </a:prstGeom>
          <a:noFill/>
          <a:ln/>
        </p:spPr>
        <p:txBody>
          <a:bodyPr wrap="square" lIns="0" tIns="0" rIns="0" bIns="0" rtlCol="0" anchor="t"/>
          <a:lstStyle/>
          <a:p>
            <a:pPr indent="0" marL="0">
              <a:buNone/>
            </a:pPr>
            <a:r>
              <a:rPr lang="en-US" sz="2400" b="1" dirty="0">
                <a:solidFill>
                  <a:schemeClr val="accent2"/>
                </a:solidFill>
              </a:rPr>
              <a:t>≤ 54 Nm</a:t>
            </a:r>
            <a:endParaRPr lang="en-US" sz="2400" dirty="0"/>
          </a:p>
          <a:p>
            <a:pPr indent="0" marL="0">
              <a:buNone/>
            </a:pPr>
            <a:r>
              <a:rPr lang="en-US" sz="1300" dirty="0">
                <a:solidFill>
                  <a:schemeClr val="accent5"/>
                </a:solidFill>
              </a:rPr>
              <a:t>max torque (58.5 Nm for Type M)</a:t>
            </a:r>
            <a:endParaRPr lang="en-US" sz="2400" dirty="0"/>
          </a:p>
        </p:txBody>
      </p:sp>
      <p:sp>
        <p:nvSpPr>
          <p:cNvPr id="20" name="Window item 4"/>
          <p:cNvSpPr txBox="1"/>
          <p:nvPr/>
        </p:nvSpPr>
        <p:spPr>
          <a:xfrm>
            <a:off x="7498080" y="4837176"/>
            <a:ext cx="3931920" cy="822960"/>
          </a:xfrm>
          <a:prstGeom prst="rect">
            <a:avLst/>
          </a:prstGeom>
          <a:noFill/>
          <a:ln/>
        </p:spPr>
        <p:txBody>
          <a:bodyPr wrap="square" lIns="0" tIns="0" rIns="0" bIns="0" rtlCol="0" anchor="t"/>
          <a:lstStyle/>
          <a:p>
            <a:pPr indent="0" marL="0">
              <a:buNone/>
            </a:pPr>
            <a:r>
              <a:rPr lang="en-US" sz="2400" b="1" dirty="0">
                <a:solidFill>
                  <a:schemeClr val="accent2"/>
                </a:solidFill>
              </a:rPr>
              <a:t>≥ 1,390 rpm</a:t>
            </a:r>
            <a:endParaRPr lang="en-US" sz="2400" dirty="0"/>
          </a:p>
          <a:p>
            <a:pPr indent="0" marL="0">
              <a:buNone/>
            </a:pPr>
            <a:r>
              <a:rPr lang="en-US" sz="1300" dirty="0">
                <a:solidFill>
                  <a:schemeClr val="accent5"/>
                </a:solidFill>
              </a:rPr>
              <a:t>minimum speed when the temperature gap is below 8.6 K</a:t>
            </a:r>
            <a:endParaRPr lang="en-US" sz="2400" dirty="0"/>
          </a:p>
        </p:txBody>
      </p:sp>
      <p:sp>
        <p:nvSpPr>
          <p:cNvPr id="21" name="Dashboard note"/>
          <p:cNvSpPr txBox="1"/>
          <p:nvPr/>
        </p:nvSpPr>
        <p:spPr>
          <a:xfrm>
            <a:off x="7498080" y="5715000"/>
            <a:ext cx="3931920" cy="365760"/>
          </a:xfrm>
          <a:prstGeom prst="rect">
            <a:avLst/>
          </a:prstGeom>
          <a:noFill/>
          <a:ln/>
        </p:spPr>
        <p:txBody>
          <a:bodyPr wrap="square" lIns="0" tIns="0" rIns="0" bIns="0" rtlCol="0" anchor="ctr"/>
          <a:lstStyle/>
          <a:p>
            <a:pPr indent="0" marL="0">
              <a:buNone/>
            </a:pPr>
            <a:r>
              <a:rPr lang="en-US" sz="1100" i="1" dirty="0">
                <a:solidFill>
                  <a:schemeClr val="accent5"/>
                </a:solidFill>
              </a:rPr>
              <a:t>Try it live in the Streamlit dashboard</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2011680"/>
            <a:ext cx="7315200" cy="1280160"/>
          </a:xfrm>
          <a:prstGeom prst="rect">
            <a:avLst/>
          </a:prstGeom>
          <a:noFill/>
          <a:ln/>
        </p:spPr>
        <p:txBody>
          <a:bodyPr wrap="square" lIns="0" tIns="0" rIns="0" bIns="0" rtlCol="0" anchor="ctr"/>
          <a:lstStyle/>
          <a:p>
            <a:pPr algn="l" indent="0" marL="0">
              <a:buNone/>
            </a:pPr>
            <a:r>
              <a:rPr lang="en-US" sz="6600" b="1" dirty="0">
                <a:solidFill>
                  <a:schemeClr val="bg1"/>
                </a:solidFill>
              </a:rPr>
              <a:t>Thank you</a:t>
            </a:r>
            <a:endParaRPr lang="en-US" sz="6600" dirty="0"/>
          </a:p>
        </p:txBody>
      </p:sp>
      <p:sp>
        <p:nvSpPr>
          <p:cNvPr id="3" name="Questions"/>
          <p:cNvSpPr txBox="1"/>
          <p:nvPr/>
        </p:nvSpPr>
        <p:spPr>
          <a:xfrm>
            <a:off x="685800" y="3337560"/>
            <a:ext cx="7315200" cy="548640"/>
          </a:xfrm>
          <a:prstGeom prst="rect">
            <a:avLst/>
          </a:prstGeom>
          <a:noFill/>
          <a:ln/>
        </p:spPr>
        <p:txBody>
          <a:bodyPr wrap="square" lIns="0" tIns="0" rIns="0" bIns="0" rtlCol="0" anchor="ctr"/>
          <a:lstStyle/>
          <a:p>
            <a:pPr indent="0" marL="0">
              <a:buNone/>
            </a:pPr>
            <a:r>
              <a:rPr lang="en-US" sz="2600" dirty="0">
                <a:solidFill>
                  <a:schemeClr val="accent2"/>
                </a:solidFill>
              </a:rPr>
              <a:t>Questions?</a:t>
            </a:r>
            <a:endParaRPr lang="en-US" sz="2600" dirty="0"/>
          </a:p>
        </p:txBody>
      </p:sp>
      <p:sp>
        <p:nvSpPr>
          <p:cNvPr id="4" name="Team line"/>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400" b="1" spc="300" kern="0" dirty="0">
                <a:solidFill>
                  <a:schemeClr val="accent2"/>
                </a:solidFill>
              </a:rPr>
              <a:t>GROUP 11</a:t>
            </a:r>
            <a:endParaRPr lang="en-US" sz="1400" dirty="0"/>
          </a:p>
          <a:p>
            <a:pPr indent="0" marL="0">
              <a:buNone/>
            </a:pPr>
            <a:r>
              <a:rPr lang="en-US" sz="1400" dirty="0">
                <a:solidFill>
                  <a:schemeClr val="accent5"/>
                </a:solidFill>
              </a:rPr>
              <a:t>Muhammed Muhyudheen  ·  Mohammed Hisham Kavumpurath  ·  Athira T B  ·  Aradhana SK</a:t>
            </a:r>
            <a:endParaRPr lang="en-US" sz="1400" dirty="0"/>
          </a:p>
        </p:txBody>
      </p:sp>
    </p:spTree>
  </p:cSld>
  <p:clrMapOvr>
    <a:masterClrMapping/>
  </p:clrMapOvr>
</p:sld>
</file>

<file path=ppt/theme/theme1.xml><?xml version="1.0" encoding="utf-8"?>
<a:theme xmlns:a="http://schemas.openxmlformats.org/drawingml/2006/main" name="Industrial Night">
  <a:themeElements>
    <a:clrScheme name="Industrial Night">
      <a:dk1>
        <a:srgbClr val="0E1A2B"/>
      </a:dk1>
      <a:lt1>
        <a:srgbClr val="FFFFFF"/>
      </a:lt1>
      <a:dk2>
        <a:srgbClr val="1F3B5C"/>
      </a:dk2>
      <a:lt2>
        <a:srgbClr val="EEF3F9"/>
      </a:lt2>
      <a:accent1>
        <a:srgbClr val="2A78D6"/>
      </a:accent1>
      <a:accent2>
        <a:srgbClr val="EB6834"/>
      </a:accent2>
      <a:accent3>
        <a:srgbClr val="1BAF7A"/>
      </a:accent3>
      <a:accent4>
        <a:srgbClr val="EDA100"/>
      </a:accent4>
      <a:accent5>
        <a:srgbClr val="CADCFC"/>
      </a:accent5>
      <a:accent6>
        <a:srgbClr val="5E6B7A"/>
      </a:accent6>
      <a:hlink>
        <a:srgbClr val="2A78D6"/>
      </a:hlink>
      <a:folHlink>
        <a:srgbClr val="6250D6"/>
      </a:folHlink>
    </a:clrScheme>
    <a:fontScheme name="Industrial N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Machine Failure from Process Parameters</dc:title>
  <dc:subject>PptxGenJS Presentation</dc:subject>
  <dc:creator>Group 11</dc:creator>
  <cp:lastModifiedBy>Group 11</cp:lastModifiedBy>
  <cp:revision>1</cp:revision>
  <dcterms:created xsi:type="dcterms:W3CDTF">2026-10-27T15:59:06Z</dcterms:created>
  <dcterms:modified xsi:type="dcterms:W3CDTF">2026-10-27T15:59:06Z</dcterms:modified>
</cp:coreProperties>
</file>