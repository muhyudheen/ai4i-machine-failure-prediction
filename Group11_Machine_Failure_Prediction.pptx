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120316e-c55f-a9bb-5b3a-ed3f46a42cbe}">
          <p14:sldIdLst>
            <p14:sldId id="256"/>
          </p14:sldIdLst>
        </p14:section>
        <p14:section name="Problem and data" id="{c24c7769-aaf9-8c5a-950e-8a18ac70a326}">
          <p14:sldIdLst>
            <p14:sldId id="257"/>
            <p14:sldId id="258"/>
          </p14:sldIdLst>
        </p14:section>
        <p14:section name="Method" id="{0d88a964-ee75-e6d5-46b4-bc397567feeb}">
          <p14:sldIdLst>
            <p14:sldId id="259"/>
          </p14:sldIdLst>
        </p14:section>
        <p14:section name="Results" id="{4258cedf-864a-416e-ba5d-d09bdf4090e3}">
          <p14:sldIdLst>
            <p14:sldId id="260"/>
            <p14:sldId id="261"/>
          </p14:sldIdLst>
        </p14:section>
        <p14:section name="Close" id="{d55d952f-de69-dba2-6149-9dab478fe948}">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1A2B"/>
                </a:solidFill>
                <a:latin typeface="+mn-lt"/>
              </a:defRPr>
            </a:pPr>
            <a:r>
              <a:rPr sz="1400" b="0" i="0" u="none" strike="noStrike">
                <a:solidFill>
                  <a:srgbClr val="0E1A2B"/>
                </a:solidFill>
                <a:latin typeface="+mn-lt"/>
              </a:rPr>
              <a:t>Failure types (a run can have two)</a:t>
            </a:r>
          </a:p>
        </c:rich>
      </c:tx>
      <c:layout/>
      <c:overlay val="0"/>
    </c:title>
    <c:autoTitleDeleted val="0"/>
    <c:plotArea>
      <c:layout/>
      <c:barChart>
        <c:barDir val="bar"/>
        <c:grouping val="clustered"/>
        <c:varyColors val="0"/>
        <c:ser>
          <c:idx val="0"/>
          <c:order val="0"/>
          <c:tx>
            <c:strRef>
              <c:f>Sheet1!$B$1</c:f>
              <c:strCache>
                <c:ptCount val="1"/>
                <c:pt idx="0">
                  <c:v>Runs</c:v>
                </c:pt>
              </c:strCache>
            </c:strRef>
          </c:tx>
          <c:spPr>
            <a:solidFill>
              <a:srgbClr val="2A78D6"/>
            </a:solidFill>
            <a:effectLst/>
          </c:spPr>
          <c:invertIfNegative val="0"/>
          <c:dLbls>
            <c:numFmt formatCode="#,##0" sourceLinked="0"/>
            <c:txPr>
              <a:bodyPr/>
              <a:lstStyle/>
              <a:p>
                <a:pPr>
                  <a:defRPr b="0" i="0" strike="noStrike" sz="1200" u="none">
                    <a:solidFill>
                      <a:srgbClr val="0E1A2B"/>
                    </a:solidFill>
                    <a:latin typeface="+mn-lt"/>
                  </a:defRPr>
                </a:pPr>
              </a:p>
            </c:txPr>
            <c:showLegendKey val="0"/>
            <c:showVal val="1"/>
            <c:showCatName val="0"/>
            <c:showSerName val="0"/>
            <c:showPercent val="0"/>
            <c:showBubbleSize val="0"/>
            <c:showLeaderLines val="0"/>
          </c:dLbls>
          <c:cat>
            <c:multiLvlStrRef>
              <c:f>Sheet1!$A$2:$A$6</c:f>
              <c:multiLvlStrCache>
                <c:ptCount val="5"/>
                <c:lvl>
                  <c:pt idx="0">
                    <c:v>Heat dissipation</c:v>
                  </c:pt>
                  <c:pt idx="1">
                    <c:v>Overstrain</c:v>
                  </c:pt>
                  <c:pt idx="2">
                    <c:v>Power</c:v>
                  </c:pt>
                  <c:pt idx="3">
                    <c:v>Tool wear</c:v>
                  </c:pt>
                  <c:pt idx="4">
                    <c:v>Random</c:v>
                  </c:pt>
                </c:lvl>
              </c:multiLvlStrCache>
            </c:multiLvlStrRef>
          </c:cat>
          <c:val>
            <c:numRef>
              <c:f>Sheet1!$B$2:$B$6</c:f>
              <c:numCache>
                <c:formatCode>General</c:formatCode>
                <c:ptCount val="5"/>
                <c:pt idx="0">
                  <c:v>115</c:v>
                </c:pt>
                <c:pt idx="1">
                  <c:v>98</c:v>
                </c:pt>
                <c:pt idx="2">
                  <c:v>95</c:v>
                </c:pt>
                <c:pt idx="3">
                  <c:v>46</c:v>
                </c:pt>
                <c:pt idx="4">
                  <c:v>19</c:v>
                </c:pt>
              </c:numCache>
            </c:numRef>
          </c:val>
        </c:ser>
        <c:dLbls>
          <c:numFmt formatCode="#,##0" sourceLinked="0"/>
          <c:txPr>
            <a:bodyPr/>
            <a:lstStyle/>
            <a:p>
              <a:pPr>
                <a:defRPr b="0" i="0" strike="noStrike" sz="1200" u="none">
                  <a:solidFill>
                    <a:srgbClr val="0E1A2B"/>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E6B7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1A2B"/>
                </a:solidFill>
                <a:latin typeface="+mn-lt"/>
              </a:defRPr>
            </a:pPr>
            <a:r>
              <a:rPr sz="1400" b="0" i="0" u="none" strike="noStrike">
                <a:solidFill>
                  <a:srgbClr val="0E1A2B"/>
                </a:solidFill>
                <a:latin typeface="+mn-lt"/>
              </a:rPr>
              <a:t>Precision–recall: the score we use</a:t>
            </a:r>
          </a:p>
        </c:rich>
      </c:tx>
      <c:layout/>
      <c:overlay val="0"/>
    </c:title>
    <c:autoTitleDeleted val="0"/>
    <c:plotArea>
      <c:layout/>
      <c:scatterChart>
        <c:scatterStyle val="lineMarker"/>
        <c:varyColors val="0"/>
        <c:ser>
          <c:idx val="0"/>
          <c:order val="0"/>
          <c:tx>
            <c:strRef>
              <c:f>Sheet1!$B$1</c:f>
              <c:strCache>
                <c:ptCount val="1"/>
                <c:pt idx="0">
                  <c:v>Random Forest  (0.913)</c:v>
                </c:pt>
              </c:strCache>
            </c:strRef>
          </c:tx>
          <c:spPr>
            <a:solidFill>
              <a:srgbClr val="EB6834"/>
            </a:solidFill>
            <a:ln w="31750" cap="flat">
              <a:solidFill>
                <a:srgbClr val="EB6834"/>
              </a:solidFill>
              <a:prstDash val="solid"/>
              <a:round/>
            </a:ln>
            <a:effectLst/>
          </c:spPr>
          <c:marker>
            <c:symbol val="none"/>
            <c:size val="6"/>
            <c:spPr>
              <a:solidFill>
                <a:srgbClr val="EB6834"/>
              </a:solidFill>
              <a:ln w="9525" cap="flat">
                <a:solidFill>
                  <a:srgbClr val="EB6834"/>
                </a:solidFill>
                <a:prstDash val="solid"/>
                <a:round/>
              </a:ln>
              <a:effectLst/>
            </c:spPr>
          </c:marker>
          <c:xVal>
            <c:numRef>
              <c:f>Sheet1!$A$2:$A$102</c:f>
              <c:numCache>
                <c:formatCode>General</c:formatCode>
                <c:ptCount val="101"/>
                <c:pt idx="0">
                  <c:v>0</c:v>
                </c:pt>
                <c:pt idx="1">
                  <c:v>0.01</c:v>
                </c:pt>
                <c:pt idx="2">
                  <c:v>0.02</c:v>
                </c:pt>
                <c:pt idx="3">
                  <c:v>0.03</c:v>
                </c:pt>
                <c:pt idx="4">
                  <c:v>0.04</c:v>
                </c:pt>
                <c:pt idx="5">
                  <c:v>0.05</c:v>
                </c:pt>
                <c:pt idx="6">
                  <c:v>0.06</c:v>
                </c:pt>
                <c:pt idx="7">
                  <c:v>0.07</c:v>
                </c:pt>
                <c:pt idx="8">
                  <c:v>0.08</c:v>
                </c:pt>
                <c:pt idx="9">
                  <c:v>0.09</c:v>
                </c:pt>
                <c:pt idx="10">
                  <c:v>0.1</c:v>
                </c:pt>
                <c:pt idx="11">
                  <c:v>0.11</c:v>
                </c:pt>
                <c:pt idx="12">
                  <c:v>0.12</c:v>
                </c:pt>
                <c:pt idx="13">
                  <c:v>0.13</c:v>
                </c:pt>
                <c:pt idx="14">
                  <c:v>0.14</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c:v>
                </c:pt>
                <c:pt idx="29">
                  <c:v>0.29</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c:v>
                </c:pt>
                <c:pt idx="56">
                  <c:v>0.56</c:v>
                </c:pt>
                <c:pt idx="57">
                  <c:v>0.57</c:v>
                </c:pt>
                <c:pt idx="58">
                  <c:v>0.58</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Sheet1!$B$2:$B$102</c:f>
              <c:numCache>
                <c:formatCode>General</c:formatCode>
                <c:ptCount val="10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pt idx="80">
                  <c:v>0.9963</c:v>
                </c:pt>
                <c:pt idx="81">
                  <c:v>0.9825</c:v>
                </c:pt>
                <c:pt idx="82">
                  <c:v>0.9825</c:v>
                </c:pt>
                <c:pt idx="83">
                  <c:v>0.9758</c:v>
                </c:pt>
                <c:pt idx="84">
                  <c:v>0.9596</c:v>
                </c:pt>
                <c:pt idx="85">
                  <c:v>0.9323</c:v>
                </c:pt>
                <c:pt idx="86">
                  <c:v>0.7591</c:v>
                </c:pt>
                <c:pt idx="87">
                  <c:v>0.7248</c:v>
                </c:pt>
                <c:pt idx="88">
                  <c:v>0.6719</c:v>
                </c:pt>
                <c:pt idx="89">
                  <c:v>0.5655</c:v>
                </c:pt>
                <c:pt idx="90">
                  <c:v>0.5</c:v>
                </c:pt>
                <c:pt idx="91">
                  <c:v>0.4647</c:v>
                </c:pt>
                <c:pt idx="92">
                  <c:v>0.4364</c:v>
                </c:pt>
                <c:pt idx="93">
                  <c:v>0.3955</c:v>
                </c:pt>
                <c:pt idx="94">
                  <c:v>0.3867</c:v>
                </c:pt>
                <c:pt idx="95">
                  <c:v>0.3821</c:v>
                </c:pt>
                <c:pt idx="96">
                  <c:v>0.349</c:v>
                </c:pt>
                <c:pt idx="97">
                  <c:v>0.3043</c:v>
                </c:pt>
                <c:pt idx="98">
                  <c:v>0.0748</c:v>
                </c:pt>
                <c:pt idx="99">
                  <c:v>0.0439</c:v>
                </c:pt>
                <c:pt idx="100">
                  <c:v>0.0348</c:v>
                </c:pt>
              </c:numCache>
            </c:numRef>
          </c:yVal>
          <c:smooth val="0"/>
        </c:ser>
        <c:ser>
          <c:idx val="1"/>
          <c:order val="1"/>
          <c:tx>
            <c:strRef>
              <c:f>Sheet1!$C$1</c:f>
              <c:strCache>
                <c:ptCount val="1"/>
                <c:pt idx="0">
                  <c:v>XGBoost  (0.872)</c:v>
                </c:pt>
              </c:strCache>
            </c:strRef>
          </c:tx>
          <c:spPr>
            <a:solidFill>
              <a:srgbClr val="1BAF7A"/>
            </a:solidFill>
            <a:ln w="31750" cap="flat">
              <a:solidFill>
                <a:srgbClr val="1BAF7A"/>
              </a:solidFill>
              <a:prstDash val="solid"/>
              <a:round/>
            </a:ln>
            <a:effectLst/>
          </c:spPr>
          <c:marker>
            <c:symbol val="none"/>
            <c:size val="6"/>
            <c:spPr>
              <a:solidFill>
                <a:srgbClr val="1BAF7A"/>
              </a:solidFill>
              <a:ln w="9525" cap="flat">
                <a:solidFill>
                  <a:srgbClr val="1BAF7A"/>
                </a:solidFill>
                <a:prstDash val="solid"/>
                <a:round/>
              </a:ln>
              <a:effectLst/>
            </c:spPr>
          </c:marker>
          <c:xVal>
            <c:numRef>
              <c:f>Sheet1!$A$2:$A$102</c:f>
              <c:numCache>
                <c:formatCode>General</c:formatCode>
                <c:ptCount val="101"/>
                <c:pt idx="0">
                  <c:v>0</c:v>
                </c:pt>
                <c:pt idx="1">
                  <c:v>0.01</c:v>
                </c:pt>
                <c:pt idx="2">
                  <c:v>0.02</c:v>
                </c:pt>
                <c:pt idx="3">
                  <c:v>0.03</c:v>
                </c:pt>
                <c:pt idx="4">
                  <c:v>0.04</c:v>
                </c:pt>
                <c:pt idx="5">
                  <c:v>0.05</c:v>
                </c:pt>
                <c:pt idx="6">
                  <c:v>0.06</c:v>
                </c:pt>
                <c:pt idx="7">
                  <c:v>0.07</c:v>
                </c:pt>
                <c:pt idx="8">
                  <c:v>0.08</c:v>
                </c:pt>
                <c:pt idx="9">
                  <c:v>0.09</c:v>
                </c:pt>
                <c:pt idx="10">
                  <c:v>0.1</c:v>
                </c:pt>
                <c:pt idx="11">
                  <c:v>0.11</c:v>
                </c:pt>
                <c:pt idx="12">
                  <c:v>0.12</c:v>
                </c:pt>
                <c:pt idx="13">
                  <c:v>0.13</c:v>
                </c:pt>
                <c:pt idx="14">
                  <c:v>0.14</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c:v>
                </c:pt>
                <c:pt idx="29">
                  <c:v>0.29</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c:v>
                </c:pt>
                <c:pt idx="56">
                  <c:v>0.56</c:v>
                </c:pt>
                <c:pt idx="57">
                  <c:v>0.57</c:v>
                </c:pt>
                <c:pt idx="58">
                  <c:v>0.58</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Sheet1!$C$2:$C$102</c:f>
              <c:numCache>
                <c:formatCode>General</c:formatCode>
                <c:ptCount val="10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0.9922</c:v>
                </c:pt>
                <c:pt idx="37">
                  <c:v>0.9922</c:v>
                </c:pt>
                <c:pt idx="38">
                  <c:v>0.9887</c:v>
                </c:pt>
                <c:pt idx="39">
                  <c:v>0.9887</c:v>
                </c:pt>
                <c:pt idx="40">
                  <c:v>0.9887</c:v>
                </c:pt>
                <c:pt idx="41">
                  <c:v>0.9887</c:v>
                </c:pt>
                <c:pt idx="42">
                  <c:v>0.9887</c:v>
                </c:pt>
                <c:pt idx="43">
                  <c:v>0.9887</c:v>
                </c:pt>
                <c:pt idx="44">
                  <c:v>0.9887</c:v>
                </c:pt>
                <c:pt idx="45">
                  <c:v>0.9887</c:v>
                </c:pt>
                <c:pt idx="46">
                  <c:v>0.9887</c:v>
                </c:pt>
                <c:pt idx="47">
                  <c:v>0.9887</c:v>
                </c:pt>
                <c:pt idx="48">
                  <c:v>0.9887</c:v>
                </c:pt>
                <c:pt idx="49">
                  <c:v>0.9887</c:v>
                </c:pt>
                <c:pt idx="50">
                  <c:v>0.9887</c:v>
                </c:pt>
                <c:pt idx="51">
                  <c:v>0.9887</c:v>
                </c:pt>
                <c:pt idx="52">
                  <c:v>0.9784</c:v>
                </c:pt>
                <c:pt idx="53">
                  <c:v>0.9784</c:v>
                </c:pt>
                <c:pt idx="54">
                  <c:v>0.9709</c:v>
                </c:pt>
                <c:pt idx="55">
                  <c:v>0.9709</c:v>
                </c:pt>
                <c:pt idx="56">
                  <c:v>0.9709</c:v>
                </c:pt>
                <c:pt idx="57">
                  <c:v>0.9709</c:v>
                </c:pt>
                <c:pt idx="58">
                  <c:v>0.9709</c:v>
                </c:pt>
                <c:pt idx="59">
                  <c:v>0.9671</c:v>
                </c:pt>
                <c:pt idx="60">
                  <c:v>0.9671</c:v>
                </c:pt>
                <c:pt idx="61">
                  <c:v>0.9636</c:v>
                </c:pt>
                <c:pt idx="62">
                  <c:v>0.9636</c:v>
                </c:pt>
                <c:pt idx="63">
                  <c:v>0.96</c:v>
                </c:pt>
                <c:pt idx="64">
                  <c:v>0.9574</c:v>
                </c:pt>
                <c:pt idx="65">
                  <c:v>0.9574</c:v>
                </c:pt>
                <c:pt idx="66">
                  <c:v>0.9574</c:v>
                </c:pt>
                <c:pt idx="67">
                  <c:v>0.9506</c:v>
                </c:pt>
                <c:pt idx="68">
                  <c:v>0.9506</c:v>
                </c:pt>
                <c:pt idx="69">
                  <c:v>0.9474</c:v>
                </c:pt>
                <c:pt idx="70">
                  <c:v>0.9444</c:v>
                </c:pt>
                <c:pt idx="71">
                  <c:v>0.9344</c:v>
                </c:pt>
                <c:pt idx="72">
                  <c:v>0.9316</c:v>
                </c:pt>
                <c:pt idx="73">
                  <c:v>0.9304</c:v>
                </c:pt>
                <c:pt idx="74">
                  <c:v>0.9304</c:v>
                </c:pt>
                <c:pt idx="75">
                  <c:v>0.9209</c:v>
                </c:pt>
                <c:pt idx="76">
                  <c:v>0.9181</c:v>
                </c:pt>
                <c:pt idx="77">
                  <c:v>0.9161</c:v>
                </c:pt>
                <c:pt idx="78">
                  <c:v>0.911</c:v>
                </c:pt>
                <c:pt idx="79">
                  <c:v>0.9085</c:v>
                </c:pt>
                <c:pt idx="80">
                  <c:v>0.8977</c:v>
                </c:pt>
                <c:pt idx="81">
                  <c:v>0.8958</c:v>
                </c:pt>
                <c:pt idx="82">
                  <c:v>0.8688</c:v>
                </c:pt>
                <c:pt idx="83">
                  <c:v>0.8571</c:v>
                </c:pt>
                <c:pt idx="84">
                  <c:v>0.8006</c:v>
                </c:pt>
                <c:pt idx="85">
                  <c:v>0.6524</c:v>
                </c:pt>
                <c:pt idx="86">
                  <c:v>0.5923</c:v>
                </c:pt>
                <c:pt idx="87">
                  <c:v>0.506</c:v>
                </c:pt>
                <c:pt idx="88">
                  <c:v>0.4333</c:v>
                </c:pt>
                <c:pt idx="89">
                  <c:v>0.3948</c:v>
                </c:pt>
                <c:pt idx="90">
                  <c:v>0.3538</c:v>
                </c:pt>
                <c:pt idx="91">
                  <c:v>0.3411</c:v>
                </c:pt>
                <c:pt idx="92">
                  <c:v>0.3074</c:v>
                </c:pt>
                <c:pt idx="93">
                  <c:v>0.2787</c:v>
                </c:pt>
                <c:pt idx="94">
                  <c:v>0.2562</c:v>
                </c:pt>
                <c:pt idx="95">
                  <c:v>0.2263</c:v>
                </c:pt>
                <c:pt idx="96">
                  <c:v>0.2116</c:v>
                </c:pt>
                <c:pt idx="97">
                  <c:v>0.1959</c:v>
                </c:pt>
                <c:pt idx="98">
                  <c:v>0.1338</c:v>
                </c:pt>
                <c:pt idx="99">
                  <c:v>0.1009</c:v>
                </c:pt>
                <c:pt idx="100">
                  <c:v>0.0371</c:v>
                </c:pt>
              </c:numCache>
            </c:numRef>
          </c:yVal>
          <c:smooth val="0"/>
        </c:ser>
        <c:ser>
          <c:idx val="2"/>
          <c:order val="2"/>
          <c:tx>
            <c:strRef>
              <c:f>Sheet1!$D$1</c:f>
              <c:strCache>
                <c:ptCount val="1"/>
                <c:pt idx="0">
                  <c:v>Logistic Regression  (0.486)</c:v>
                </c:pt>
              </c:strCache>
            </c:strRef>
          </c:tx>
          <c:spPr>
            <a:solidFill>
              <a:srgbClr val="2A78D6"/>
            </a:solidFill>
            <a:ln w="31750" cap="flat">
              <a:solidFill>
                <a:srgbClr val="2A78D6"/>
              </a:solidFill>
              <a:prstDash val="solid"/>
              <a:round/>
            </a:ln>
            <a:effectLst/>
          </c:spPr>
          <c:marker>
            <c:symbol val="none"/>
            <c:size val="6"/>
            <c:spPr>
              <a:solidFill>
                <a:srgbClr val="2A78D6"/>
              </a:solidFill>
              <a:ln w="9525" cap="flat">
                <a:solidFill>
                  <a:srgbClr val="2A78D6"/>
                </a:solidFill>
                <a:prstDash val="solid"/>
                <a:round/>
              </a:ln>
              <a:effectLst/>
            </c:spPr>
          </c:marker>
          <c:xVal>
            <c:numRef>
              <c:f>Sheet1!$A$2:$A$102</c:f>
              <c:numCache>
                <c:formatCode>General</c:formatCode>
                <c:ptCount val="101"/>
                <c:pt idx="0">
                  <c:v>0</c:v>
                </c:pt>
                <c:pt idx="1">
                  <c:v>0.01</c:v>
                </c:pt>
                <c:pt idx="2">
                  <c:v>0.02</c:v>
                </c:pt>
                <c:pt idx="3">
                  <c:v>0.03</c:v>
                </c:pt>
                <c:pt idx="4">
                  <c:v>0.04</c:v>
                </c:pt>
                <c:pt idx="5">
                  <c:v>0.05</c:v>
                </c:pt>
                <c:pt idx="6">
                  <c:v>0.06</c:v>
                </c:pt>
                <c:pt idx="7">
                  <c:v>0.07</c:v>
                </c:pt>
                <c:pt idx="8">
                  <c:v>0.08</c:v>
                </c:pt>
                <c:pt idx="9">
                  <c:v>0.09</c:v>
                </c:pt>
                <c:pt idx="10">
                  <c:v>0.1</c:v>
                </c:pt>
                <c:pt idx="11">
                  <c:v>0.11</c:v>
                </c:pt>
                <c:pt idx="12">
                  <c:v>0.12</c:v>
                </c:pt>
                <c:pt idx="13">
                  <c:v>0.13</c:v>
                </c:pt>
                <c:pt idx="14">
                  <c:v>0.14</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c:v>
                </c:pt>
                <c:pt idx="29">
                  <c:v>0.29</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c:v>
                </c:pt>
                <c:pt idx="56">
                  <c:v>0.56</c:v>
                </c:pt>
                <c:pt idx="57">
                  <c:v>0.57</c:v>
                </c:pt>
                <c:pt idx="58">
                  <c:v>0.58</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Sheet1!$D$2:$D$102</c:f>
              <c:numCache>
                <c:formatCode>General</c:formatCode>
                <c:ptCount val="101"/>
                <c:pt idx="0">
                  <c:v>1</c:v>
                </c:pt>
                <c:pt idx="1">
                  <c:v>1</c:v>
                </c:pt>
                <c:pt idx="2">
                  <c:v>1</c:v>
                </c:pt>
                <c:pt idx="3">
                  <c:v>0.9394</c:v>
                </c:pt>
                <c:pt idx="4">
                  <c:v>0.9394</c:v>
                </c:pt>
                <c:pt idx="5">
                  <c:v>0.9394</c:v>
                </c:pt>
                <c:pt idx="6">
                  <c:v>0.9394</c:v>
                </c:pt>
                <c:pt idx="7">
                  <c:v>0.9394</c:v>
                </c:pt>
                <c:pt idx="8">
                  <c:v>0.9394</c:v>
                </c:pt>
                <c:pt idx="9">
                  <c:v>0.9394</c:v>
                </c:pt>
                <c:pt idx="10">
                  <c:v>0.9211</c:v>
                </c:pt>
                <c:pt idx="11">
                  <c:v>0.9048</c:v>
                </c:pt>
                <c:pt idx="12">
                  <c:v>0.902</c:v>
                </c:pt>
                <c:pt idx="13">
                  <c:v>0.902</c:v>
                </c:pt>
                <c:pt idx="14">
                  <c:v>0.8929</c:v>
                </c:pt>
                <c:pt idx="15">
                  <c:v>0.8833</c:v>
                </c:pt>
                <c:pt idx="16">
                  <c:v>0.873</c:v>
                </c:pt>
                <c:pt idx="17">
                  <c:v>0.8676</c:v>
                </c:pt>
                <c:pt idx="18">
                  <c:v>0.863</c:v>
                </c:pt>
                <c:pt idx="19">
                  <c:v>0.859</c:v>
                </c:pt>
                <c:pt idx="20">
                  <c:v>0.85</c:v>
                </c:pt>
                <c:pt idx="21">
                  <c:v>0.7766</c:v>
                </c:pt>
                <c:pt idx="22">
                  <c:v>0.7653</c:v>
                </c:pt>
                <c:pt idx="23">
                  <c:v>0.7358</c:v>
                </c:pt>
                <c:pt idx="24">
                  <c:v>0.7281</c:v>
                </c:pt>
                <c:pt idx="25">
                  <c:v>0.7107</c:v>
                </c:pt>
                <c:pt idx="26">
                  <c:v>0.7008</c:v>
                </c:pt>
                <c:pt idx="27">
                  <c:v>0.6934</c:v>
                </c:pt>
                <c:pt idx="28">
                  <c:v>0.6934</c:v>
                </c:pt>
                <c:pt idx="29">
                  <c:v>0.6689</c:v>
                </c:pt>
                <c:pt idx="30">
                  <c:v>0.65</c:v>
                </c:pt>
                <c:pt idx="31">
                  <c:v>0.6386</c:v>
                </c:pt>
                <c:pt idx="32">
                  <c:v>0.6369</c:v>
                </c:pt>
                <c:pt idx="33">
                  <c:v>0.6369</c:v>
                </c:pt>
                <c:pt idx="34">
                  <c:v>0.6257</c:v>
                </c:pt>
                <c:pt idx="35">
                  <c:v>0.6154</c:v>
                </c:pt>
                <c:pt idx="36">
                  <c:v>0.5962</c:v>
                </c:pt>
                <c:pt idx="37">
                  <c:v>0.5915</c:v>
                </c:pt>
                <c:pt idx="38">
                  <c:v>0.5759</c:v>
                </c:pt>
                <c:pt idx="39">
                  <c:v>0.5615</c:v>
                </c:pt>
                <c:pt idx="40">
                  <c:v>0.5615</c:v>
                </c:pt>
                <c:pt idx="41">
                  <c:v>0.5605</c:v>
                </c:pt>
                <c:pt idx="42">
                  <c:v>0.5496</c:v>
                </c:pt>
                <c:pt idx="43">
                  <c:v>0.5428</c:v>
                </c:pt>
                <c:pt idx="44">
                  <c:v>0.531</c:v>
                </c:pt>
                <c:pt idx="45">
                  <c:v>0.531</c:v>
                </c:pt>
                <c:pt idx="46">
                  <c:v>0.5302</c:v>
                </c:pt>
                <c:pt idx="47">
                  <c:v>0.5279</c:v>
                </c:pt>
                <c:pt idx="48">
                  <c:v>0.5191</c:v>
                </c:pt>
                <c:pt idx="49">
                  <c:v>0.4926</c:v>
                </c:pt>
                <c:pt idx="50">
                  <c:v>0.4645</c:v>
                </c:pt>
                <c:pt idx="51">
                  <c:v>0.4589</c:v>
                </c:pt>
                <c:pt idx="52">
                  <c:v>0.4464</c:v>
                </c:pt>
                <c:pt idx="53">
                  <c:v>0.4412</c:v>
                </c:pt>
                <c:pt idx="54">
                  <c:v>0.4299</c:v>
                </c:pt>
                <c:pt idx="55">
                  <c:v>0.4172</c:v>
                </c:pt>
                <c:pt idx="56">
                  <c:v>0.4113</c:v>
                </c:pt>
                <c:pt idx="57">
                  <c:v>0.3959</c:v>
                </c:pt>
                <c:pt idx="58">
                  <c:v>0.3818</c:v>
                </c:pt>
                <c:pt idx="59">
                  <c:v>0.3738</c:v>
                </c:pt>
                <c:pt idx="60">
                  <c:v>0.3696</c:v>
                </c:pt>
                <c:pt idx="61">
                  <c:v>0.3696</c:v>
                </c:pt>
                <c:pt idx="62">
                  <c:v>0.3453</c:v>
                </c:pt>
                <c:pt idx="63">
                  <c:v>0.3441</c:v>
                </c:pt>
                <c:pt idx="64">
                  <c:v>0.3401</c:v>
                </c:pt>
                <c:pt idx="65">
                  <c:v>0.3127</c:v>
                </c:pt>
                <c:pt idx="66">
                  <c:v>0.3107</c:v>
                </c:pt>
                <c:pt idx="67">
                  <c:v>0.2973</c:v>
                </c:pt>
                <c:pt idx="68">
                  <c:v>0.288</c:v>
                </c:pt>
                <c:pt idx="69">
                  <c:v>0.2833</c:v>
                </c:pt>
                <c:pt idx="70">
                  <c:v>0.2705</c:v>
                </c:pt>
                <c:pt idx="71">
                  <c:v>0.2575</c:v>
                </c:pt>
                <c:pt idx="72">
                  <c:v>0.2457</c:v>
                </c:pt>
                <c:pt idx="73">
                  <c:v>0.2394</c:v>
                </c:pt>
                <c:pt idx="74">
                  <c:v>0.2286</c:v>
                </c:pt>
                <c:pt idx="75">
                  <c:v>0.2181</c:v>
                </c:pt>
                <c:pt idx="76">
                  <c:v>0.2138</c:v>
                </c:pt>
                <c:pt idx="77">
                  <c:v>0.206</c:v>
                </c:pt>
                <c:pt idx="78">
                  <c:v>0.2017</c:v>
                </c:pt>
                <c:pt idx="79">
                  <c:v>0.1999</c:v>
                </c:pt>
                <c:pt idx="80">
                  <c:v>0.1792</c:v>
                </c:pt>
                <c:pt idx="81">
                  <c:v>0.1787</c:v>
                </c:pt>
                <c:pt idx="82">
                  <c:v>0.1716</c:v>
                </c:pt>
                <c:pt idx="83">
                  <c:v>0.1649</c:v>
                </c:pt>
                <c:pt idx="84">
                  <c:v>0.1606</c:v>
                </c:pt>
                <c:pt idx="85">
                  <c:v>0.1496</c:v>
                </c:pt>
                <c:pt idx="86">
                  <c:v>0.1453</c:v>
                </c:pt>
                <c:pt idx="87">
                  <c:v>0.1331</c:v>
                </c:pt>
                <c:pt idx="88">
                  <c:v>0.1321</c:v>
                </c:pt>
                <c:pt idx="89">
                  <c:v>0.1301</c:v>
                </c:pt>
                <c:pt idx="90">
                  <c:v>0.1197</c:v>
                </c:pt>
                <c:pt idx="91">
                  <c:v>0.1047</c:v>
                </c:pt>
                <c:pt idx="92">
                  <c:v>0.0974</c:v>
                </c:pt>
                <c:pt idx="93">
                  <c:v>0.0856</c:v>
                </c:pt>
                <c:pt idx="94">
                  <c:v>0.0789</c:v>
                </c:pt>
                <c:pt idx="95">
                  <c:v>0.0751</c:v>
                </c:pt>
                <c:pt idx="96">
                  <c:v>0.0685</c:v>
                </c:pt>
                <c:pt idx="97">
                  <c:v>0.0652</c:v>
                </c:pt>
                <c:pt idx="98">
                  <c:v>0.0603</c:v>
                </c:pt>
                <c:pt idx="99">
                  <c:v>0.0454</c:v>
                </c:pt>
                <c:pt idx="100">
                  <c:v>0.0395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majorGridlines>
          <c:spPr>
            <a:ln w="6350" cap="flat">
              <a:solidFill>
                <a:srgbClr val="E1E0D9"/>
              </a:solidFill>
              <a:prstDash val="solid"/>
              <a:round/>
            </a:ln>
          </c:spPr>
        </c:majorGridlines>
        <c:title>
          <c:tx>
            <c:rich>
              <a:bodyPr/>
              <a:lstStyle/>
              <a:p>
                <a:pPr>
                  <a:defRPr sz="1200" b="0" i="0" u="none" strike="noStrike">
                    <a:solidFill>
                      <a:srgbClr val="5E6B7A"/>
                    </a:solidFill>
                    <a:latin typeface="+mn-lt"/>
                  </a:defRPr>
                </a:pPr>
                <a:r>
                  <a:rPr sz="1200" b="0" i="0" u="none" strike="noStrike">
                    <a:solidFill>
                      <a:srgbClr val="5E6B7A"/>
                    </a:solidFill>
                    <a:latin typeface="+mn-lt"/>
                  </a:rPr>
                  <a:t>Failures caught (recall)</a:t>
                </a:r>
              </a:p>
            </c:rich>
          </c:tx>
          <c:layout/>
          <c:overlay val="0"/>
        </c:title>
        <c:numFmt formatCode="0.0"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5E6B7A"/>
                </a:solidFill>
                <a:latin typeface="+mn-lt"/>
              </a:defRPr>
            </a:pPr>
            <a:endParaRPr lang="en-US"/>
          </a:p>
        </c:txPr>
        <c:crossAx val="2094734552"/>
        <c:crosses val="autoZero"/>
        <c:auto val="1"/>
        <c:lblAlgn val="ctr"/>
        <c:noMultiLvlLbl val="1"/>
        <c:majorUnit val="0.2"/>
      </c:valAx>
      <c:valAx>
        <c:axId val="2094734552"/>
        <c:scaling>
          <c:orientation val="minMax"/>
          <c:max val="1"/>
          <c:min val="0"/>
        </c:scaling>
        <c:delete val="0"/>
        <c:axPos val="l"/>
        <c:majorGridlines>
          <c:spPr>
            <a:ln w="6350" cap="flat">
              <a:solidFill>
                <a:srgbClr val="E1E0D9"/>
              </a:solidFill>
              <a:prstDash val="solid"/>
              <a:round/>
            </a:ln>
          </c:spPr>
        </c:majorGridlines>
        <c:title>
          <c:tx>
            <c:rich>
              <a:bodyPr/>
              <a:lstStyle/>
              <a:p>
                <a:pPr>
                  <a:defRPr sz="1200" b="0" i="0" u="none" strike="noStrike">
                    <a:solidFill>
                      <a:srgbClr val="5E6B7A"/>
                    </a:solidFill>
                    <a:latin typeface="+mn-lt"/>
                  </a:defRPr>
                </a:pPr>
                <a:r>
                  <a:rPr sz="1200" b="0" i="0" u="none" strike="noStrike">
                    <a:solidFill>
                      <a:srgbClr val="5E6B7A"/>
                    </a:solidFill>
                    <a:latin typeface="+mn-lt"/>
                  </a:rPr>
                  <a:t>Alarms that are real (precision)</a:t>
                </a:r>
              </a:p>
            </c:rich>
          </c:tx>
          <c:layout/>
          <c:overlay val="0"/>
        </c:title>
        <c:numFmt formatCode="0.0"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5E6B7A"/>
                </a:solidFill>
                <a:latin typeface="+mn-lt"/>
              </a:defRPr>
            </a:pPr>
            <a:endParaRPr lang="en-US"/>
          </a:p>
        </c:txPr>
        <c:crossAx val="2094734554"/>
        <c:crosses val="autoZero"/>
        <c:crossBetween val="midCat"/>
        <c:majorUnit val="0.2"/>
      </c:valAx>
      <c:spPr>
        <a:noFill/>
        <a:ln>
          <a:noFill/>
        </a:ln>
        <a:effectLst/>
      </c:spPr>
    </c:plotArea>
    <c:legend>
      <c:legendPos val="b"/>
      <c:overlay val="0"/>
      <c:txPr>
        <a:bodyPr/>
        <a:lstStyle/>
        <a:p>
          <a:pPr>
            <a:defRPr sz="1100">
              <a:solidFill>
                <a:srgbClr val="0E1A2B"/>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1A2B"/>
                </a:solidFill>
                <a:latin typeface="+mn-lt"/>
              </a:defRPr>
            </a:pPr>
            <a:r>
              <a:rPr sz="1400" b="0" i="0" u="none" strike="noStrike">
                <a:solidFill>
                  <a:srgbClr val="0E1A2B"/>
                </a:solidFill>
                <a:latin typeface="+mn-lt"/>
              </a:rPr>
              <a:t>ROC: looks good for every model</a:t>
            </a:r>
          </a:p>
        </c:rich>
      </c:tx>
      <c:layout/>
      <c:overlay val="0"/>
    </c:title>
    <c:autoTitleDeleted val="0"/>
    <c:plotArea>
      <c:layout/>
      <c:scatterChart>
        <c:scatterStyle val="lineMarker"/>
        <c:varyColors val="0"/>
        <c:ser>
          <c:idx val="0"/>
          <c:order val="0"/>
          <c:tx>
            <c:strRef>
              <c:f>Sheet1!$B$1</c:f>
              <c:strCache>
                <c:ptCount val="1"/>
                <c:pt idx="0">
                  <c:v>Random Forest  (0.979)</c:v>
                </c:pt>
              </c:strCache>
            </c:strRef>
          </c:tx>
          <c:spPr>
            <a:solidFill>
              <a:srgbClr val="EB6834"/>
            </a:solidFill>
            <a:ln w="31750" cap="flat">
              <a:solidFill>
                <a:srgbClr val="EB6834"/>
              </a:solidFill>
              <a:prstDash val="solid"/>
              <a:round/>
            </a:ln>
            <a:effectLst/>
          </c:spPr>
          <c:marker>
            <c:symbol val="none"/>
            <c:size val="6"/>
            <c:spPr>
              <a:solidFill>
                <a:srgbClr val="EB6834"/>
              </a:solidFill>
              <a:ln w="9525" cap="flat">
                <a:solidFill>
                  <a:srgbClr val="EB6834"/>
                </a:solidFill>
                <a:prstDash val="solid"/>
                <a:round/>
              </a:ln>
              <a:effectLst/>
            </c:spPr>
          </c:marker>
          <c:xVal>
            <c:numRef>
              <c:f>Sheet1!$A$2:$A$75</c:f>
              <c:numCache>
                <c:formatCode>General</c:formatCode>
                <c:ptCount val="74"/>
                <c:pt idx="0">
                  <c:v>0</c:v>
                </c:pt>
                <c:pt idx="1">
                  <c:v>0.002</c:v>
                </c:pt>
                <c:pt idx="2">
                  <c:v>0.004</c:v>
                </c:pt>
                <c:pt idx="3">
                  <c:v>0.006</c:v>
                </c:pt>
                <c:pt idx="4">
                  <c:v>0.008</c:v>
                </c:pt>
                <c:pt idx="5">
                  <c:v>0.01</c:v>
                </c:pt>
                <c:pt idx="6">
                  <c:v>0.012</c:v>
                </c:pt>
                <c:pt idx="7">
                  <c:v>0.014</c:v>
                </c:pt>
                <c:pt idx="8">
                  <c:v>0.016</c:v>
                </c:pt>
                <c:pt idx="9">
                  <c:v>0.018</c:v>
                </c:pt>
                <c:pt idx="10">
                  <c:v>0.02</c:v>
                </c:pt>
                <c:pt idx="11">
                  <c:v>0.022</c:v>
                </c:pt>
                <c:pt idx="12">
                  <c:v>0.024</c:v>
                </c:pt>
                <c:pt idx="13">
                  <c:v>0.026</c:v>
                </c:pt>
                <c:pt idx="14">
                  <c:v>0.028</c:v>
                </c:pt>
                <c:pt idx="15">
                  <c:v>0.03</c:v>
                </c:pt>
                <c:pt idx="16">
                  <c:v>0.032</c:v>
                </c:pt>
                <c:pt idx="17">
                  <c:v>0.034</c:v>
                </c:pt>
                <c:pt idx="18">
                  <c:v>0.036</c:v>
                </c:pt>
                <c:pt idx="19">
                  <c:v>0.038</c:v>
                </c:pt>
                <c:pt idx="20">
                  <c:v>0.04</c:v>
                </c:pt>
                <c:pt idx="21">
                  <c:v>0.042</c:v>
                </c:pt>
                <c:pt idx="22">
                  <c:v>0.044</c:v>
                </c:pt>
                <c:pt idx="23">
                  <c:v>0.046</c:v>
                </c:pt>
                <c:pt idx="24">
                  <c:v>0.048</c:v>
                </c:pt>
                <c:pt idx="25">
                  <c:v>0.05</c:v>
                </c:pt>
                <c:pt idx="26">
                  <c:v>0.06</c:v>
                </c:pt>
                <c:pt idx="27">
                  <c:v>0.08</c:v>
                </c:pt>
                <c:pt idx="28">
                  <c:v>0.1</c:v>
                </c:pt>
                <c:pt idx="29">
                  <c:v>0.12</c:v>
                </c:pt>
                <c:pt idx="30">
                  <c:v>0.14</c:v>
                </c:pt>
                <c:pt idx="31">
                  <c:v>0.16</c:v>
                </c:pt>
                <c:pt idx="32">
                  <c:v>0.18</c:v>
                </c:pt>
                <c:pt idx="33">
                  <c:v>0.2</c:v>
                </c:pt>
                <c:pt idx="34">
                  <c:v>0.22</c:v>
                </c:pt>
                <c:pt idx="35">
                  <c:v>0.24</c:v>
                </c:pt>
                <c:pt idx="36">
                  <c:v>0.26</c:v>
                </c:pt>
                <c:pt idx="37">
                  <c:v>0.28</c:v>
                </c:pt>
                <c:pt idx="38">
                  <c:v>0.3</c:v>
                </c:pt>
                <c:pt idx="39">
                  <c:v>0.32</c:v>
                </c:pt>
                <c:pt idx="40">
                  <c:v>0.34</c:v>
                </c:pt>
                <c:pt idx="41">
                  <c:v>0.36</c:v>
                </c:pt>
                <c:pt idx="42">
                  <c:v>0.38</c:v>
                </c:pt>
                <c:pt idx="43">
                  <c:v>0.4</c:v>
                </c:pt>
                <c:pt idx="44">
                  <c:v>0.42</c:v>
                </c:pt>
                <c:pt idx="45">
                  <c:v>0.44</c:v>
                </c:pt>
                <c:pt idx="46">
                  <c:v>0.46</c:v>
                </c:pt>
                <c:pt idx="47">
                  <c:v>0.48</c:v>
                </c:pt>
                <c:pt idx="48">
                  <c:v>0.5</c:v>
                </c:pt>
                <c:pt idx="49">
                  <c:v>0.52</c:v>
                </c:pt>
                <c:pt idx="50">
                  <c:v>0.54</c:v>
                </c:pt>
                <c:pt idx="51">
                  <c:v>0.56</c:v>
                </c:pt>
                <c:pt idx="52">
                  <c:v>0.58</c:v>
                </c:pt>
                <c:pt idx="53">
                  <c:v>0.6</c:v>
                </c:pt>
                <c:pt idx="54">
                  <c:v>0.62</c:v>
                </c:pt>
                <c:pt idx="55">
                  <c:v>0.64</c:v>
                </c:pt>
                <c:pt idx="56">
                  <c:v>0.66</c:v>
                </c:pt>
                <c:pt idx="57">
                  <c:v>0.68</c:v>
                </c:pt>
                <c:pt idx="58">
                  <c:v>0.7</c:v>
                </c:pt>
                <c:pt idx="59">
                  <c:v>0.72</c:v>
                </c:pt>
                <c:pt idx="60">
                  <c:v>0.74</c:v>
                </c:pt>
                <c:pt idx="61">
                  <c:v>0.76</c:v>
                </c:pt>
                <c:pt idx="62">
                  <c:v>0.78</c:v>
                </c:pt>
                <c:pt idx="63">
                  <c:v>0.8</c:v>
                </c:pt>
                <c:pt idx="64">
                  <c:v>0.82</c:v>
                </c:pt>
                <c:pt idx="65">
                  <c:v>0.84</c:v>
                </c:pt>
                <c:pt idx="66">
                  <c:v>0.86</c:v>
                </c:pt>
                <c:pt idx="67">
                  <c:v>0.88</c:v>
                </c:pt>
                <c:pt idx="68">
                  <c:v>0.9</c:v>
                </c:pt>
                <c:pt idx="69">
                  <c:v>0.92</c:v>
                </c:pt>
                <c:pt idx="70">
                  <c:v>0.94</c:v>
                </c:pt>
                <c:pt idx="71">
                  <c:v>0.96</c:v>
                </c:pt>
                <c:pt idx="72">
                  <c:v>0.98</c:v>
                </c:pt>
                <c:pt idx="73">
                  <c:v>1</c:v>
                </c:pt>
              </c:numCache>
            </c:numRef>
          </c:xVal>
          <c:yVal>
            <c:numRef>
              <c:f>Sheet1!$B$2:$B$75</c:f>
              <c:numCache>
                <c:formatCode>General</c:formatCode>
                <c:ptCount val="74"/>
                <c:pt idx="0">
                  <c:v>0.7994</c:v>
                </c:pt>
                <c:pt idx="1">
                  <c:v>0.8496</c:v>
                </c:pt>
                <c:pt idx="2">
                  <c:v>0.8525</c:v>
                </c:pt>
                <c:pt idx="3">
                  <c:v>0.8525</c:v>
                </c:pt>
                <c:pt idx="4">
                  <c:v>0.8555</c:v>
                </c:pt>
                <c:pt idx="5">
                  <c:v>0.8643</c:v>
                </c:pt>
                <c:pt idx="6">
                  <c:v>0.8702</c:v>
                </c:pt>
                <c:pt idx="7">
                  <c:v>0.8761</c:v>
                </c:pt>
                <c:pt idx="8">
                  <c:v>0.882</c:v>
                </c:pt>
                <c:pt idx="9">
                  <c:v>0.882</c:v>
                </c:pt>
                <c:pt idx="10">
                  <c:v>0.882</c:v>
                </c:pt>
                <c:pt idx="11">
                  <c:v>0.885</c:v>
                </c:pt>
                <c:pt idx="12">
                  <c:v>0.8879</c:v>
                </c:pt>
                <c:pt idx="13">
                  <c:v>0.8968</c:v>
                </c:pt>
                <c:pt idx="14">
                  <c:v>0.8997</c:v>
                </c:pt>
                <c:pt idx="15">
                  <c:v>0.8997</c:v>
                </c:pt>
                <c:pt idx="16">
                  <c:v>0.9027</c:v>
                </c:pt>
                <c:pt idx="17">
                  <c:v>0.9056</c:v>
                </c:pt>
                <c:pt idx="18">
                  <c:v>0.9086</c:v>
                </c:pt>
                <c:pt idx="19">
                  <c:v>0.9115</c:v>
                </c:pt>
                <c:pt idx="20">
                  <c:v>0.9174</c:v>
                </c:pt>
                <c:pt idx="21">
                  <c:v>0.9204</c:v>
                </c:pt>
                <c:pt idx="22">
                  <c:v>0.9233</c:v>
                </c:pt>
                <c:pt idx="23">
                  <c:v>0.9233</c:v>
                </c:pt>
                <c:pt idx="24">
                  <c:v>0.9263</c:v>
                </c:pt>
                <c:pt idx="25">
                  <c:v>0.9322</c:v>
                </c:pt>
                <c:pt idx="26">
                  <c:v>0.9587</c:v>
                </c:pt>
                <c:pt idx="27">
                  <c:v>0.9705</c:v>
                </c:pt>
                <c:pt idx="28">
                  <c:v>0.9705</c:v>
                </c:pt>
                <c:pt idx="29">
                  <c:v>0.9735</c:v>
                </c:pt>
                <c:pt idx="30">
                  <c:v>0.9735</c:v>
                </c:pt>
                <c:pt idx="31">
                  <c:v>0.9735</c:v>
                </c:pt>
                <c:pt idx="32">
                  <c:v>0.9735</c:v>
                </c:pt>
                <c:pt idx="33">
                  <c:v>0.9735</c:v>
                </c:pt>
                <c:pt idx="34">
                  <c:v>0.9794</c:v>
                </c:pt>
                <c:pt idx="35">
                  <c:v>0.9794</c:v>
                </c:pt>
                <c:pt idx="36">
                  <c:v>0.9794</c:v>
                </c:pt>
                <c:pt idx="37">
                  <c:v>0.9794</c:v>
                </c:pt>
                <c:pt idx="38">
                  <c:v>0.9794</c:v>
                </c:pt>
                <c:pt idx="39">
                  <c:v>0.9794</c:v>
                </c:pt>
                <c:pt idx="40">
                  <c:v>0.9794</c:v>
                </c:pt>
                <c:pt idx="41">
                  <c:v>0.9794</c:v>
                </c:pt>
                <c:pt idx="42">
                  <c:v>0.9794</c:v>
                </c:pt>
                <c:pt idx="43">
                  <c:v>0.9794</c:v>
                </c:pt>
                <c:pt idx="44">
                  <c:v>0.9794</c:v>
                </c:pt>
                <c:pt idx="45">
                  <c:v>0.9823</c:v>
                </c:pt>
                <c:pt idx="46">
                  <c:v>0.9823</c:v>
                </c:pt>
                <c:pt idx="47">
                  <c:v>0.9823</c:v>
                </c:pt>
                <c:pt idx="48">
                  <c:v>0.9823</c:v>
                </c:pt>
                <c:pt idx="49">
                  <c:v>0.9823</c:v>
                </c:pt>
                <c:pt idx="50">
                  <c:v>0.9823</c:v>
                </c:pt>
                <c:pt idx="51">
                  <c:v>0.9823</c:v>
                </c:pt>
                <c:pt idx="52">
                  <c:v>0.9823</c:v>
                </c:pt>
                <c:pt idx="53">
                  <c:v>0.9823</c:v>
                </c:pt>
                <c:pt idx="54">
                  <c:v>0.9823</c:v>
                </c:pt>
                <c:pt idx="55">
                  <c:v>0.9823</c:v>
                </c:pt>
                <c:pt idx="56">
                  <c:v>0.9823</c:v>
                </c:pt>
                <c:pt idx="57">
                  <c:v>0.9823</c:v>
                </c:pt>
                <c:pt idx="58">
                  <c:v>0.9853</c:v>
                </c:pt>
                <c:pt idx="59">
                  <c:v>0.9853</c:v>
                </c:pt>
                <c:pt idx="60">
                  <c:v>0.9882</c:v>
                </c:pt>
                <c:pt idx="61">
                  <c:v>0.9912</c:v>
                </c:pt>
                <c:pt idx="62">
                  <c:v>0.9912</c:v>
                </c:pt>
                <c:pt idx="63">
                  <c:v>0.9912</c:v>
                </c:pt>
                <c:pt idx="64">
                  <c:v>0.9941</c:v>
                </c:pt>
                <c:pt idx="65">
                  <c:v>0.9949</c:v>
                </c:pt>
                <c:pt idx="66">
                  <c:v>0.9971</c:v>
                </c:pt>
                <c:pt idx="67">
                  <c:v>0.9971</c:v>
                </c:pt>
                <c:pt idx="68">
                  <c:v>0.9971</c:v>
                </c:pt>
                <c:pt idx="69">
                  <c:v>0.9971</c:v>
                </c:pt>
                <c:pt idx="70">
                  <c:v>0.9971</c:v>
                </c:pt>
                <c:pt idx="71">
                  <c:v>0.9971</c:v>
                </c:pt>
                <c:pt idx="72">
                  <c:v>1</c:v>
                </c:pt>
                <c:pt idx="73">
                  <c:v>1</c:v>
                </c:pt>
              </c:numCache>
            </c:numRef>
          </c:yVal>
          <c:smooth val="0"/>
        </c:ser>
        <c:ser>
          <c:idx val="1"/>
          <c:order val="1"/>
          <c:tx>
            <c:strRef>
              <c:f>Sheet1!$C$1</c:f>
              <c:strCache>
                <c:ptCount val="1"/>
                <c:pt idx="0">
                  <c:v>XGBoost  (0.980)</c:v>
                </c:pt>
              </c:strCache>
            </c:strRef>
          </c:tx>
          <c:spPr>
            <a:solidFill>
              <a:srgbClr val="1BAF7A"/>
            </a:solidFill>
            <a:ln w="31750" cap="flat">
              <a:solidFill>
                <a:srgbClr val="1BAF7A"/>
              </a:solidFill>
              <a:prstDash val="solid"/>
              <a:round/>
            </a:ln>
            <a:effectLst/>
          </c:spPr>
          <c:marker>
            <c:symbol val="none"/>
            <c:size val="6"/>
            <c:spPr>
              <a:solidFill>
                <a:srgbClr val="1BAF7A"/>
              </a:solidFill>
              <a:ln w="9525" cap="flat">
                <a:solidFill>
                  <a:srgbClr val="1BAF7A"/>
                </a:solidFill>
                <a:prstDash val="solid"/>
                <a:round/>
              </a:ln>
              <a:effectLst/>
            </c:spPr>
          </c:marker>
          <c:xVal>
            <c:numRef>
              <c:f>Sheet1!$A$2:$A$75</c:f>
              <c:numCache>
                <c:formatCode>General</c:formatCode>
                <c:ptCount val="74"/>
                <c:pt idx="0">
                  <c:v>0</c:v>
                </c:pt>
                <c:pt idx="1">
                  <c:v>0.002</c:v>
                </c:pt>
                <c:pt idx="2">
                  <c:v>0.004</c:v>
                </c:pt>
                <c:pt idx="3">
                  <c:v>0.006</c:v>
                </c:pt>
                <c:pt idx="4">
                  <c:v>0.008</c:v>
                </c:pt>
                <c:pt idx="5">
                  <c:v>0.01</c:v>
                </c:pt>
                <c:pt idx="6">
                  <c:v>0.012</c:v>
                </c:pt>
                <c:pt idx="7">
                  <c:v>0.014</c:v>
                </c:pt>
                <c:pt idx="8">
                  <c:v>0.016</c:v>
                </c:pt>
                <c:pt idx="9">
                  <c:v>0.018</c:v>
                </c:pt>
                <c:pt idx="10">
                  <c:v>0.02</c:v>
                </c:pt>
                <c:pt idx="11">
                  <c:v>0.022</c:v>
                </c:pt>
                <c:pt idx="12">
                  <c:v>0.024</c:v>
                </c:pt>
                <c:pt idx="13">
                  <c:v>0.026</c:v>
                </c:pt>
                <c:pt idx="14">
                  <c:v>0.028</c:v>
                </c:pt>
                <c:pt idx="15">
                  <c:v>0.03</c:v>
                </c:pt>
                <c:pt idx="16">
                  <c:v>0.032</c:v>
                </c:pt>
                <c:pt idx="17">
                  <c:v>0.034</c:v>
                </c:pt>
                <c:pt idx="18">
                  <c:v>0.036</c:v>
                </c:pt>
                <c:pt idx="19">
                  <c:v>0.038</c:v>
                </c:pt>
                <c:pt idx="20">
                  <c:v>0.04</c:v>
                </c:pt>
                <c:pt idx="21">
                  <c:v>0.042</c:v>
                </c:pt>
                <c:pt idx="22">
                  <c:v>0.044</c:v>
                </c:pt>
                <c:pt idx="23">
                  <c:v>0.046</c:v>
                </c:pt>
                <c:pt idx="24">
                  <c:v>0.048</c:v>
                </c:pt>
                <c:pt idx="25">
                  <c:v>0.05</c:v>
                </c:pt>
                <c:pt idx="26">
                  <c:v>0.06</c:v>
                </c:pt>
                <c:pt idx="27">
                  <c:v>0.08</c:v>
                </c:pt>
                <c:pt idx="28">
                  <c:v>0.1</c:v>
                </c:pt>
                <c:pt idx="29">
                  <c:v>0.12</c:v>
                </c:pt>
                <c:pt idx="30">
                  <c:v>0.14</c:v>
                </c:pt>
                <c:pt idx="31">
                  <c:v>0.16</c:v>
                </c:pt>
                <c:pt idx="32">
                  <c:v>0.18</c:v>
                </c:pt>
                <c:pt idx="33">
                  <c:v>0.2</c:v>
                </c:pt>
                <c:pt idx="34">
                  <c:v>0.22</c:v>
                </c:pt>
                <c:pt idx="35">
                  <c:v>0.24</c:v>
                </c:pt>
                <c:pt idx="36">
                  <c:v>0.26</c:v>
                </c:pt>
                <c:pt idx="37">
                  <c:v>0.28</c:v>
                </c:pt>
                <c:pt idx="38">
                  <c:v>0.3</c:v>
                </c:pt>
                <c:pt idx="39">
                  <c:v>0.32</c:v>
                </c:pt>
                <c:pt idx="40">
                  <c:v>0.34</c:v>
                </c:pt>
                <c:pt idx="41">
                  <c:v>0.36</c:v>
                </c:pt>
                <c:pt idx="42">
                  <c:v>0.38</c:v>
                </c:pt>
                <c:pt idx="43">
                  <c:v>0.4</c:v>
                </c:pt>
                <c:pt idx="44">
                  <c:v>0.42</c:v>
                </c:pt>
                <c:pt idx="45">
                  <c:v>0.44</c:v>
                </c:pt>
                <c:pt idx="46">
                  <c:v>0.46</c:v>
                </c:pt>
                <c:pt idx="47">
                  <c:v>0.48</c:v>
                </c:pt>
                <c:pt idx="48">
                  <c:v>0.5</c:v>
                </c:pt>
                <c:pt idx="49">
                  <c:v>0.52</c:v>
                </c:pt>
                <c:pt idx="50">
                  <c:v>0.54</c:v>
                </c:pt>
                <c:pt idx="51">
                  <c:v>0.56</c:v>
                </c:pt>
                <c:pt idx="52">
                  <c:v>0.58</c:v>
                </c:pt>
                <c:pt idx="53">
                  <c:v>0.6</c:v>
                </c:pt>
                <c:pt idx="54">
                  <c:v>0.62</c:v>
                </c:pt>
                <c:pt idx="55">
                  <c:v>0.64</c:v>
                </c:pt>
                <c:pt idx="56">
                  <c:v>0.66</c:v>
                </c:pt>
                <c:pt idx="57">
                  <c:v>0.68</c:v>
                </c:pt>
                <c:pt idx="58">
                  <c:v>0.7</c:v>
                </c:pt>
                <c:pt idx="59">
                  <c:v>0.72</c:v>
                </c:pt>
                <c:pt idx="60">
                  <c:v>0.74</c:v>
                </c:pt>
                <c:pt idx="61">
                  <c:v>0.76</c:v>
                </c:pt>
                <c:pt idx="62">
                  <c:v>0.78</c:v>
                </c:pt>
                <c:pt idx="63">
                  <c:v>0.8</c:v>
                </c:pt>
                <c:pt idx="64">
                  <c:v>0.82</c:v>
                </c:pt>
                <c:pt idx="65">
                  <c:v>0.84</c:v>
                </c:pt>
                <c:pt idx="66">
                  <c:v>0.86</c:v>
                </c:pt>
                <c:pt idx="67">
                  <c:v>0.88</c:v>
                </c:pt>
                <c:pt idx="68">
                  <c:v>0.9</c:v>
                </c:pt>
                <c:pt idx="69">
                  <c:v>0.92</c:v>
                </c:pt>
                <c:pt idx="70">
                  <c:v>0.94</c:v>
                </c:pt>
                <c:pt idx="71">
                  <c:v>0.96</c:v>
                </c:pt>
                <c:pt idx="72">
                  <c:v>0.98</c:v>
                </c:pt>
                <c:pt idx="73">
                  <c:v>1</c:v>
                </c:pt>
              </c:numCache>
            </c:numRef>
          </c:xVal>
          <c:yVal>
            <c:numRef>
              <c:f>Sheet1!$C$2:$C$75</c:f>
              <c:numCache>
                <c:formatCode>General</c:formatCode>
                <c:ptCount val="74"/>
                <c:pt idx="0">
                  <c:v>0.351</c:v>
                </c:pt>
                <c:pt idx="1">
                  <c:v>0.7493</c:v>
                </c:pt>
                <c:pt idx="2">
                  <c:v>0.8171</c:v>
                </c:pt>
                <c:pt idx="3">
                  <c:v>0.8348</c:v>
                </c:pt>
                <c:pt idx="4">
                  <c:v>0.8437</c:v>
                </c:pt>
                <c:pt idx="5">
                  <c:v>0.8466</c:v>
                </c:pt>
                <c:pt idx="6">
                  <c:v>0.8466</c:v>
                </c:pt>
                <c:pt idx="7">
                  <c:v>0.8466</c:v>
                </c:pt>
                <c:pt idx="8">
                  <c:v>0.8525</c:v>
                </c:pt>
                <c:pt idx="9">
                  <c:v>0.8525</c:v>
                </c:pt>
                <c:pt idx="10">
                  <c:v>0.8555</c:v>
                </c:pt>
                <c:pt idx="11">
                  <c:v>0.8614</c:v>
                </c:pt>
                <c:pt idx="12">
                  <c:v>0.8614</c:v>
                </c:pt>
                <c:pt idx="13">
                  <c:v>0.8643</c:v>
                </c:pt>
                <c:pt idx="14">
                  <c:v>0.8673</c:v>
                </c:pt>
                <c:pt idx="15">
                  <c:v>0.8702</c:v>
                </c:pt>
                <c:pt idx="16">
                  <c:v>0.8702</c:v>
                </c:pt>
                <c:pt idx="17">
                  <c:v>0.8702</c:v>
                </c:pt>
                <c:pt idx="18">
                  <c:v>0.8732</c:v>
                </c:pt>
                <c:pt idx="19">
                  <c:v>0.8791</c:v>
                </c:pt>
                <c:pt idx="20">
                  <c:v>0.8791</c:v>
                </c:pt>
                <c:pt idx="21">
                  <c:v>0.882</c:v>
                </c:pt>
                <c:pt idx="22">
                  <c:v>0.882</c:v>
                </c:pt>
                <c:pt idx="23">
                  <c:v>0.8879</c:v>
                </c:pt>
                <c:pt idx="24">
                  <c:v>0.8909</c:v>
                </c:pt>
                <c:pt idx="25">
                  <c:v>0.8968</c:v>
                </c:pt>
                <c:pt idx="26">
                  <c:v>0.9086</c:v>
                </c:pt>
                <c:pt idx="27">
                  <c:v>0.9263</c:v>
                </c:pt>
                <c:pt idx="28">
                  <c:v>0.944</c:v>
                </c:pt>
                <c:pt idx="29">
                  <c:v>0.9558</c:v>
                </c:pt>
                <c:pt idx="30">
                  <c:v>0.9705</c:v>
                </c:pt>
                <c:pt idx="31">
                  <c:v>0.9735</c:v>
                </c:pt>
                <c:pt idx="32">
                  <c:v>0.9794</c:v>
                </c:pt>
                <c:pt idx="33">
                  <c:v>0.9794</c:v>
                </c:pt>
                <c:pt idx="34">
                  <c:v>0.9794</c:v>
                </c:pt>
                <c:pt idx="35">
                  <c:v>0.9853</c:v>
                </c:pt>
                <c:pt idx="36">
                  <c:v>0.9853</c:v>
                </c:pt>
                <c:pt idx="37">
                  <c:v>0.9853</c:v>
                </c:pt>
                <c:pt idx="38">
                  <c:v>0.9882</c:v>
                </c:pt>
                <c:pt idx="39">
                  <c:v>0.9941</c:v>
                </c:pt>
                <c:pt idx="40">
                  <c:v>0.9941</c:v>
                </c:pt>
                <c:pt idx="41">
                  <c:v>0.9941</c:v>
                </c:pt>
                <c:pt idx="42">
                  <c:v>0.9941</c:v>
                </c:pt>
                <c:pt idx="43">
                  <c:v>0.9941</c:v>
                </c:pt>
                <c:pt idx="44">
                  <c:v>0.9941</c:v>
                </c:pt>
                <c:pt idx="45">
                  <c:v>0.9941</c:v>
                </c:pt>
                <c:pt idx="46">
                  <c:v>0.9941</c:v>
                </c:pt>
                <c:pt idx="47">
                  <c:v>0.9941</c:v>
                </c:pt>
                <c:pt idx="48">
                  <c:v>0.9941</c:v>
                </c:pt>
                <c:pt idx="49">
                  <c:v>0.9941</c:v>
                </c:pt>
                <c:pt idx="50">
                  <c:v>0.9941</c:v>
                </c:pt>
                <c:pt idx="51">
                  <c:v>0.9941</c:v>
                </c:pt>
                <c:pt idx="52">
                  <c:v>0.9941</c:v>
                </c:pt>
                <c:pt idx="53">
                  <c:v>0.9941</c:v>
                </c:pt>
                <c:pt idx="54">
                  <c:v>0.9941</c:v>
                </c:pt>
                <c:pt idx="55">
                  <c:v>0.9941</c:v>
                </c:pt>
                <c:pt idx="56">
                  <c:v>0.9941</c:v>
                </c:pt>
                <c:pt idx="57">
                  <c:v>0.9941</c:v>
                </c:pt>
                <c:pt idx="58">
                  <c:v>0.9941</c:v>
                </c:pt>
                <c:pt idx="59">
                  <c:v>0.9941</c:v>
                </c:pt>
                <c:pt idx="60">
                  <c:v>0.9941</c:v>
                </c:pt>
                <c:pt idx="61">
                  <c:v>0.9941</c:v>
                </c:pt>
                <c:pt idx="62">
                  <c:v>0.9941</c:v>
                </c:pt>
                <c:pt idx="63">
                  <c:v>0.9941</c:v>
                </c:pt>
                <c:pt idx="64">
                  <c:v>0.9941</c:v>
                </c:pt>
                <c:pt idx="65">
                  <c:v>0.9971</c:v>
                </c:pt>
                <c:pt idx="66">
                  <c:v>0.9971</c:v>
                </c:pt>
                <c:pt idx="67">
                  <c:v>0.9971</c:v>
                </c:pt>
                <c:pt idx="68">
                  <c:v>0.9971</c:v>
                </c:pt>
                <c:pt idx="69">
                  <c:v>1</c:v>
                </c:pt>
                <c:pt idx="70">
                  <c:v>1</c:v>
                </c:pt>
                <c:pt idx="71">
                  <c:v>1</c:v>
                </c:pt>
                <c:pt idx="72">
                  <c:v>1</c:v>
                </c:pt>
                <c:pt idx="73">
                  <c:v>1</c:v>
                </c:pt>
              </c:numCache>
            </c:numRef>
          </c:yVal>
          <c:smooth val="0"/>
        </c:ser>
        <c:ser>
          <c:idx val="2"/>
          <c:order val="2"/>
          <c:tx>
            <c:strRef>
              <c:f>Sheet1!$D$1</c:f>
              <c:strCache>
                <c:ptCount val="1"/>
                <c:pt idx="0">
                  <c:v>Logistic Regression  (0.918)</c:v>
                </c:pt>
              </c:strCache>
            </c:strRef>
          </c:tx>
          <c:spPr>
            <a:solidFill>
              <a:srgbClr val="2A78D6"/>
            </a:solidFill>
            <a:ln w="31750" cap="flat">
              <a:solidFill>
                <a:srgbClr val="2A78D6"/>
              </a:solidFill>
              <a:prstDash val="solid"/>
              <a:round/>
            </a:ln>
            <a:effectLst/>
          </c:spPr>
          <c:marker>
            <c:symbol val="none"/>
            <c:size val="6"/>
            <c:spPr>
              <a:solidFill>
                <a:srgbClr val="2A78D6"/>
              </a:solidFill>
              <a:ln w="9525" cap="flat">
                <a:solidFill>
                  <a:srgbClr val="2A78D6"/>
                </a:solidFill>
                <a:prstDash val="solid"/>
                <a:round/>
              </a:ln>
              <a:effectLst/>
            </c:spPr>
          </c:marker>
          <c:xVal>
            <c:numRef>
              <c:f>Sheet1!$A$2:$A$75</c:f>
              <c:numCache>
                <c:formatCode>General</c:formatCode>
                <c:ptCount val="74"/>
                <c:pt idx="0">
                  <c:v>0</c:v>
                </c:pt>
                <c:pt idx="1">
                  <c:v>0.002</c:v>
                </c:pt>
                <c:pt idx="2">
                  <c:v>0.004</c:v>
                </c:pt>
                <c:pt idx="3">
                  <c:v>0.006</c:v>
                </c:pt>
                <c:pt idx="4">
                  <c:v>0.008</c:v>
                </c:pt>
                <c:pt idx="5">
                  <c:v>0.01</c:v>
                </c:pt>
                <c:pt idx="6">
                  <c:v>0.012</c:v>
                </c:pt>
                <c:pt idx="7">
                  <c:v>0.014</c:v>
                </c:pt>
                <c:pt idx="8">
                  <c:v>0.016</c:v>
                </c:pt>
                <c:pt idx="9">
                  <c:v>0.018</c:v>
                </c:pt>
                <c:pt idx="10">
                  <c:v>0.02</c:v>
                </c:pt>
                <c:pt idx="11">
                  <c:v>0.022</c:v>
                </c:pt>
                <c:pt idx="12">
                  <c:v>0.024</c:v>
                </c:pt>
                <c:pt idx="13">
                  <c:v>0.026</c:v>
                </c:pt>
                <c:pt idx="14">
                  <c:v>0.028</c:v>
                </c:pt>
                <c:pt idx="15">
                  <c:v>0.03</c:v>
                </c:pt>
                <c:pt idx="16">
                  <c:v>0.032</c:v>
                </c:pt>
                <c:pt idx="17">
                  <c:v>0.034</c:v>
                </c:pt>
                <c:pt idx="18">
                  <c:v>0.036</c:v>
                </c:pt>
                <c:pt idx="19">
                  <c:v>0.038</c:v>
                </c:pt>
                <c:pt idx="20">
                  <c:v>0.04</c:v>
                </c:pt>
                <c:pt idx="21">
                  <c:v>0.042</c:v>
                </c:pt>
                <c:pt idx="22">
                  <c:v>0.044</c:v>
                </c:pt>
                <c:pt idx="23">
                  <c:v>0.046</c:v>
                </c:pt>
                <c:pt idx="24">
                  <c:v>0.048</c:v>
                </c:pt>
                <c:pt idx="25">
                  <c:v>0.05</c:v>
                </c:pt>
                <c:pt idx="26">
                  <c:v>0.06</c:v>
                </c:pt>
                <c:pt idx="27">
                  <c:v>0.08</c:v>
                </c:pt>
                <c:pt idx="28">
                  <c:v>0.1</c:v>
                </c:pt>
                <c:pt idx="29">
                  <c:v>0.12</c:v>
                </c:pt>
                <c:pt idx="30">
                  <c:v>0.14</c:v>
                </c:pt>
                <c:pt idx="31">
                  <c:v>0.16</c:v>
                </c:pt>
                <c:pt idx="32">
                  <c:v>0.18</c:v>
                </c:pt>
                <c:pt idx="33">
                  <c:v>0.2</c:v>
                </c:pt>
                <c:pt idx="34">
                  <c:v>0.22</c:v>
                </c:pt>
                <c:pt idx="35">
                  <c:v>0.24</c:v>
                </c:pt>
                <c:pt idx="36">
                  <c:v>0.26</c:v>
                </c:pt>
                <c:pt idx="37">
                  <c:v>0.28</c:v>
                </c:pt>
                <c:pt idx="38">
                  <c:v>0.3</c:v>
                </c:pt>
                <c:pt idx="39">
                  <c:v>0.32</c:v>
                </c:pt>
                <c:pt idx="40">
                  <c:v>0.34</c:v>
                </c:pt>
                <c:pt idx="41">
                  <c:v>0.36</c:v>
                </c:pt>
                <c:pt idx="42">
                  <c:v>0.38</c:v>
                </c:pt>
                <c:pt idx="43">
                  <c:v>0.4</c:v>
                </c:pt>
                <c:pt idx="44">
                  <c:v>0.42</c:v>
                </c:pt>
                <c:pt idx="45">
                  <c:v>0.44</c:v>
                </c:pt>
                <c:pt idx="46">
                  <c:v>0.46</c:v>
                </c:pt>
                <c:pt idx="47">
                  <c:v>0.48</c:v>
                </c:pt>
                <c:pt idx="48">
                  <c:v>0.5</c:v>
                </c:pt>
                <c:pt idx="49">
                  <c:v>0.52</c:v>
                </c:pt>
                <c:pt idx="50">
                  <c:v>0.54</c:v>
                </c:pt>
                <c:pt idx="51">
                  <c:v>0.56</c:v>
                </c:pt>
                <c:pt idx="52">
                  <c:v>0.58</c:v>
                </c:pt>
                <c:pt idx="53">
                  <c:v>0.6</c:v>
                </c:pt>
                <c:pt idx="54">
                  <c:v>0.62</c:v>
                </c:pt>
                <c:pt idx="55">
                  <c:v>0.64</c:v>
                </c:pt>
                <c:pt idx="56">
                  <c:v>0.66</c:v>
                </c:pt>
                <c:pt idx="57">
                  <c:v>0.68</c:v>
                </c:pt>
                <c:pt idx="58">
                  <c:v>0.7</c:v>
                </c:pt>
                <c:pt idx="59">
                  <c:v>0.72</c:v>
                </c:pt>
                <c:pt idx="60">
                  <c:v>0.74</c:v>
                </c:pt>
                <c:pt idx="61">
                  <c:v>0.76</c:v>
                </c:pt>
                <c:pt idx="62">
                  <c:v>0.78</c:v>
                </c:pt>
                <c:pt idx="63">
                  <c:v>0.8</c:v>
                </c:pt>
                <c:pt idx="64">
                  <c:v>0.82</c:v>
                </c:pt>
                <c:pt idx="65">
                  <c:v>0.84</c:v>
                </c:pt>
                <c:pt idx="66">
                  <c:v>0.86</c:v>
                </c:pt>
                <c:pt idx="67">
                  <c:v>0.88</c:v>
                </c:pt>
                <c:pt idx="68">
                  <c:v>0.9</c:v>
                </c:pt>
                <c:pt idx="69">
                  <c:v>0.92</c:v>
                </c:pt>
                <c:pt idx="70">
                  <c:v>0.94</c:v>
                </c:pt>
                <c:pt idx="71">
                  <c:v>0.96</c:v>
                </c:pt>
                <c:pt idx="72">
                  <c:v>0.98</c:v>
                </c:pt>
                <c:pt idx="73">
                  <c:v>1</c:v>
                </c:pt>
              </c:numCache>
            </c:numRef>
          </c:xVal>
          <c:yVal>
            <c:numRef>
              <c:f>Sheet1!$D$2:$D$75</c:f>
              <c:numCache>
                <c:formatCode>General</c:formatCode>
                <c:ptCount val="74"/>
                <c:pt idx="0">
                  <c:v>0.0295</c:v>
                </c:pt>
                <c:pt idx="1">
                  <c:v>0.2094</c:v>
                </c:pt>
                <c:pt idx="2">
                  <c:v>0.2625</c:v>
                </c:pt>
                <c:pt idx="3">
                  <c:v>0.3097</c:v>
                </c:pt>
                <c:pt idx="4">
                  <c:v>0.354</c:v>
                </c:pt>
                <c:pt idx="5">
                  <c:v>0.3805</c:v>
                </c:pt>
                <c:pt idx="6">
                  <c:v>0.413</c:v>
                </c:pt>
                <c:pt idx="7">
                  <c:v>0.4484</c:v>
                </c:pt>
                <c:pt idx="8">
                  <c:v>0.4838</c:v>
                </c:pt>
                <c:pt idx="9">
                  <c:v>0.4926</c:v>
                </c:pt>
                <c:pt idx="10">
                  <c:v>0.4985</c:v>
                </c:pt>
                <c:pt idx="11">
                  <c:v>0.5162</c:v>
                </c:pt>
                <c:pt idx="12">
                  <c:v>0.531</c:v>
                </c:pt>
                <c:pt idx="13">
                  <c:v>0.5457</c:v>
                </c:pt>
                <c:pt idx="14">
                  <c:v>0.5575</c:v>
                </c:pt>
                <c:pt idx="15">
                  <c:v>0.5693</c:v>
                </c:pt>
                <c:pt idx="16">
                  <c:v>0.5723</c:v>
                </c:pt>
                <c:pt idx="17">
                  <c:v>0.5841</c:v>
                </c:pt>
                <c:pt idx="18">
                  <c:v>0.5988</c:v>
                </c:pt>
                <c:pt idx="19">
                  <c:v>0.6136</c:v>
                </c:pt>
                <c:pt idx="20">
                  <c:v>0.6165</c:v>
                </c:pt>
                <c:pt idx="21">
                  <c:v>0.6254</c:v>
                </c:pt>
                <c:pt idx="22">
                  <c:v>0.6401</c:v>
                </c:pt>
                <c:pt idx="23">
                  <c:v>0.6401</c:v>
                </c:pt>
                <c:pt idx="24">
                  <c:v>0.646</c:v>
                </c:pt>
                <c:pt idx="25">
                  <c:v>0.649</c:v>
                </c:pt>
                <c:pt idx="26">
                  <c:v>0.6844</c:v>
                </c:pt>
                <c:pt idx="27">
                  <c:v>0.7257</c:v>
                </c:pt>
                <c:pt idx="28">
                  <c:v>0.767</c:v>
                </c:pt>
                <c:pt idx="29">
                  <c:v>0.7935</c:v>
                </c:pt>
                <c:pt idx="30">
                  <c:v>0.8201</c:v>
                </c:pt>
                <c:pt idx="31">
                  <c:v>0.8437</c:v>
                </c:pt>
                <c:pt idx="32">
                  <c:v>0.8643</c:v>
                </c:pt>
                <c:pt idx="33">
                  <c:v>0.8702</c:v>
                </c:pt>
                <c:pt idx="34">
                  <c:v>0.8909</c:v>
                </c:pt>
                <c:pt idx="35">
                  <c:v>0.9027</c:v>
                </c:pt>
                <c:pt idx="36">
                  <c:v>0.9086</c:v>
                </c:pt>
                <c:pt idx="37">
                  <c:v>0.9145</c:v>
                </c:pt>
                <c:pt idx="38">
                  <c:v>0.9204</c:v>
                </c:pt>
                <c:pt idx="39">
                  <c:v>0.9233</c:v>
                </c:pt>
                <c:pt idx="40">
                  <c:v>0.9292</c:v>
                </c:pt>
                <c:pt idx="41">
                  <c:v>0.9322</c:v>
                </c:pt>
                <c:pt idx="42">
                  <c:v>0.9381</c:v>
                </c:pt>
                <c:pt idx="43">
                  <c:v>0.944</c:v>
                </c:pt>
                <c:pt idx="44">
                  <c:v>0.9528</c:v>
                </c:pt>
                <c:pt idx="45">
                  <c:v>0.9587</c:v>
                </c:pt>
                <c:pt idx="46">
                  <c:v>0.9617</c:v>
                </c:pt>
                <c:pt idx="47">
                  <c:v>0.9676</c:v>
                </c:pt>
                <c:pt idx="48">
                  <c:v>0.9705</c:v>
                </c:pt>
                <c:pt idx="49">
                  <c:v>0.9764</c:v>
                </c:pt>
                <c:pt idx="50">
                  <c:v>0.9823</c:v>
                </c:pt>
                <c:pt idx="51">
                  <c:v>0.9823</c:v>
                </c:pt>
                <c:pt idx="52">
                  <c:v>0.9823</c:v>
                </c:pt>
                <c:pt idx="53">
                  <c:v>0.9823</c:v>
                </c:pt>
                <c:pt idx="54">
                  <c:v>0.9823</c:v>
                </c:pt>
                <c:pt idx="55">
                  <c:v>0.9853</c:v>
                </c:pt>
                <c:pt idx="56">
                  <c:v>0.9882</c:v>
                </c:pt>
                <c:pt idx="57">
                  <c:v>0.9882</c:v>
                </c:pt>
                <c:pt idx="58">
                  <c:v>0.9882</c:v>
                </c:pt>
                <c:pt idx="59">
                  <c:v>0.9882</c:v>
                </c:pt>
                <c:pt idx="60">
                  <c:v>0.9912</c:v>
                </c:pt>
                <c:pt idx="61">
                  <c:v>0.9941</c:v>
                </c:pt>
                <c:pt idx="62">
                  <c:v>0.9941</c:v>
                </c:pt>
                <c:pt idx="63">
                  <c:v>0.9971</c:v>
                </c:pt>
                <c:pt idx="64">
                  <c:v>0.9971</c:v>
                </c:pt>
                <c:pt idx="65">
                  <c:v>0.9971</c:v>
                </c:pt>
                <c:pt idx="66">
                  <c:v>1</c:v>
                </c:pt>
                <c:pt idx="67">
                  <c:v>1</c:v>
                </c:pt>
                <c:pt idx="68">
                  <c:v>1</c:v>
                </c:pt>
                <c:pt idx="69">
                  <c:v>1</c:v>
                </c:pt>
                <c:pt idx="70">
                  <c:v>1</c:v>
                </c:pt>
                <c:pt idx="71">
                  <c:v>1</c:v>
                </c:pt>
                <c:pt idx="72">
                  <c:v>1</c:v>
                </c:pt>
                <c:pt idx="73">
                  <c:v>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majorGridlines>
          <c:spPr>
            <a:ln w="6350" cap="flat">
              <a:solidFill>
                <a:srgbClr val="E1E0D9"/>
              </a:solidFill>
              <a:prstDash val="solid"/>
              <a:round/>
            </a:ln>
          </c:spPr>
        </c:majorGridlines>
        <c:title>
          <c:tx>
            <c:rich>
              <a:bodyPr/>
              <a:lstStyle/>
              <a:p>
                <a:pPr>
                  <a:defRPr sz="1200" b="0" i="0" u="none" strike="noStrike">
                    <a:solidFill>
                      <a:srgbClr val="5E6B7A"/>
                    </a:solidFill>
                    <a:latin typeface="+mn-lt"/>
                  </a:defRPr>
                </a:pPr>
                <a:r>
                  <a:rPr sz="1200" b="0" i="0" u="none" strike="noStrike">
                    <a:solidFill>
                      <a:srgbClr val="5E6B7A"/>
                    </a:solidFill>
                    <a:latin typeface="+mn-lt"/>
                  </a:rPr>
                  <a:t>False-alarm rate</a:t>
                </a:r>
              </a:p>
            </c:rich>
          </c:tx>
          <c:layout/>
          <c:overlay val="0"/>
        </c:title>
        <c:numFmt formatCode="0.0"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5E6B7A"/>
                </a:solidFill>
                <a:latin typeface="+mn-lt"/>
              </a:defRPr>
            </a:pPr>
            <a:endParaRPr lang="en-US"/>
          </a:p>
        </c:txPr>
        <c:crossAx val="2094734552"/>
        <c:crosses val="autoZero"/>
        <c:auto val="1"/>
        <c:lblAlgn val="ctr"/>
        <c:noMultiLvlLbl val="1"/>
        <c:majorUnit val="0.2"/>
      </c:valAx>
      <c:valAx>
        <c:axId val="2094734552"/>
        <c:scaling>
          <c:orientation val="minMax"/>
          <c:max val="1"/>
          <c:min val="0"/>
        </c:scaling>
        <c:delete val="0"/>
        <c:axPos val="l"/>
        <c:majorGridlines>
          <c:spPr>
            <a:ln w="6350" cap="flat">
              <a:solidFill>
                <a:srgbClr val="E1E0D9"/>
              </a:solidFill>
              <a:prstDash val="solid"/>
              <a:round/>
            </a:ln>
          </c:spPr>
        </c:majorGridlines>
        <c:title>
          <c:tx>
            <c:rich>
              <a:bodyPr/>
              <a:lstStyle/>
              <a:p>
                <a:pPr>
                  <a:defRPr sz="1200" b="0" i="0" u="none" strike="noStrike">
                    <a:solidFill>
                      <a:srgbClr val="5E6B7A"/>
                    </a:solidFill>
                    <a:latin typeface="+mn-lt"/>
                  </a:defRPr>
                </a:pPr>
                <a:r>
                  <a:rPr sz="1200" b="0" i="0" u="none" strike="noStrike">
                    <a:solidFill>
                      <a:srgbClr val="5E6B7A"/>
                    </a:solidFill>
                    <a:latin typeface="+mn-lt"/>
                  </a:rPr>
                  <a:t>Failures caught</a:t>
                </a:r>
              </a:p>
            </c:rich>
          </c:tx>
          <c:layout/>
          <c:overlay val="0"/>
        </c:title>
        <c:numFmt formatCode="0.0"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5E6B7A"/>
                </a:solidFill>
                <a:latin typeface="+mn-lt"/>
              </a:defRPr>
            </a:pPr>
            <a:endParaRPr lang="en-US"/>
          </a:p>
        </c:txPr>
        <c:crossAx val="2094734554"/>
        <c:crosses val="autoZero"/>
        <c:crossBetween val="midCat"/>
        <c:majorUnit val="0.2"/>
      </c:valAx>
      <c:spPr>
        <a:noFill/>
        <a:ln>
          <a:noFill/>
        </a:ln>
        <a:effectLst/>
      </c:spPr>
    </c:plotArea>
    <c:legend>
      <c:legendPos val="b"/>
      <c:overlay val="0"/>
      <c:txPr>
        <a:bodyPr/>
        <a:lstStyle/>
        <a:p>
          <a:pPr>
            <a:defRPr sz="1100">
              <a:solidFill>
                <a:srgbClr val="0E1A2B"/>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(~20s)
Good morning, sir, and everyone. We are Group 11. I'm [your name], and with me are [names].
Our project is called “Predicting Machine Failure from Process Parameters”. In simple words: can a machine's own readings warn us before it breaks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(~120s)
Imagine a factory machine that suddenly breaks in the middle of a shift. The production line stops, the parts it was making are wasted, and the repair has to happen in a hurry. That is expensive.
But a machine gives us clues all the time: how fast it spins, how much twisting force it uses, how hot it runs, and how worn its cutting tool is. Our idea was to use these clues to spot danger early. This idea is called predictive maintenance: fixing a machine just before it fails, instead of after it breaks, or on a fixed schedule that may be far too early.
We set three goals. First, predict: for every run of the machine, estimate the chance that it will fail. Second, explain: show which settings push that risk up. Third, recommend: give safe settings for each product type, so the operator knows how to run the machine safely.
[point right] This is why it matters in a real plant. One, maintenance can happen before a breakdown, not after it. Two, smarter tool changes: we found the risk jumps about forty times once a tool has been used for around two hundred minutes, so tool changes can be planned. Three, safe operating windows: a range of power and force where the risk stays low.
To do all this we needed data, and [Speaker 2] will now show you what our data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(~70s)
Thank you. We used a public dataset called AI4I 2020. It records ten thousand runs of a milling machine. For each run we know six things: the product's quality type, two temperatures, the speed, the torque, which is the twisting force, and how worn the tool is. And we know whether it failed.
Here is the catch: only 339 runs failed. That is just 3.4 percent, about one failure for every 28 healthy runs. [point to chart] The chart shows the five types of failure.
This creates two traps. [point to cards] First, five columns record which type of failure happened. They give the answer away, like reading the answer key during an exam, so we removed them. This mistake is called data leakage. Second, because failures are rare, a lazy model that always says “no failure” is 96.6 percent accurate, and still useless. So instead of accuracy, we use a score called PR-AUC, which measures how well the real failures are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(~70s)
Here is how we built the solution, in six steps.
One, we checked the data and removed the columns that give the answer away. Two, we added three features from physics: power, the temperature gap, and tool wear times torque, because these are what actually break machines.
Three, failures are rare, so we created extra failure examples for the model to learn from, with a method called SMOTE, and only from the training data, never from the test data.
Four, we compared three models. Each was tested five times on data it had never seen. This is called cross-validation, and it makes the results trustworthy.
Five, we fine-tuned the best model and set its alarm so it catches about nine out of ten failures. Six, we explained its decisions and turned them into safe settings.
[Speaker 3] will now show you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(~70s)
Thanks. The winner was the Random Forest, with a score of 0.915 out of 1. For comparison, random guessing would score only 0.034.
[point to left chart] This chart shows the key trade-off. Moving right means catching more failures; staying high means fewer false alarms. The orange line, our Random Forest, stays at the top the longest, so it is the best. The score we use is simply the area under each line: the bigger, the better. The blue line, the simplest model, drops quickly, because machine failures don't follow straight-line rules.
[point to middle chart] This second chart is a popular way to compare models, but notice that all three look good on it. That is exactly why we did not rely on it.
[point to cards] In practice, our model catches 89 percent of failures before they happen, and about half of its alarms are real. The other half are cheap extra inspections, a fair price for catching nine out of ten breakdowns.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(~60s)
To sum up, four points. Our predictions are reliable. Adding features from physics made a big difference. Our testing was honest: a careless setup could have shown a fake, near-perfect score of 0.999. And the model can explain itself: its reasons match the machine's real failure rules, even though we never told it those rules.
[point right] For a factory, this becomes simple advice: keep power between 4.75 and 8 kilowatts, change the tool before 200 minutes of use, keep torque below 54 newton-metres, and when the temperature gap gets small, keep the speed above 1,390 rpm.
We also built an interactive dashboard, where anyone can move these settings and instantly see the risk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(~10s)
Thank you for listening. We're happy to take your questions, and [console person] can show you the live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Light-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losing-Dark-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188720"/>
            <a:ext cx="768096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Group 11  ·  Predicting Machine Failure from Process Parameters</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2011680"/>
            <a:ext cx="7315200" cy="128016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5" Type="http://schemas.openxmlformats.org/officeDocument/2006/relationships/hyperlink" Target="https://ai4i-machine-failure-prediction.streamlit.app/" TargetMode="Externa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i4i-machine-failure-prediction.streamlit.app/" TargetMode="Externa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685800" y="640080"/>
            <a:ext cx="7315200" cy="365760"/>
          </a:xfrm>
          <a:prstGeom prst="rect">
            <a:avLst/>
          </a:prstGeom>
          <a:noFill/>
          <a:ln/>
        </p:spPr>
        <p:txBody>
          <a:bodyPr wrap="square" lIns="0" tIns="0" rIns="0" bIns="0" rtlCol="0" anchor="ctr"/>
          <a:lstStyle/>
          <a:p>
            <a:pPr indent="0" marL="0">
              <a:buNone/>
            </a:pPr>
            <a:r>
              <a:rPr lang="en-US" sz="1300" b="1" spc="400" kern="0" dirty="0">
                <a:solidFill>
                  <a:schemeClr val="accent2"/>
                </a:solidFill>
              </a:rPr>
              <a:t>AI IN MANUFACTURING  ·  COURSE PROJECT</a:t>
            </a:r>
            <a:endParaRPr lang="en-US" sz="1300" dirty="0"/>
          </a:p>
        </p:txBody>
      </p:sp>
      <p:sp>
        <p:nvSpPr>
          <p:cNvPr id="3" name="Text 0"/>
          <p:cNvSpPr/>
          <p:nvPr>
            <p:ph idx="100" type="title" hasCustomPrompt="1"/>
          </p:nvPr>
        </p:nvSpPr>
        <p:spPr>
          <a:xfrm>
            <a:off x="685800" y="1188720"/>
            <a:ext cx="7680960" cy="1828800"/>
          </a:xfrm>
          <a:prstGeom prst="rect">
            <a:avLst/>
          </a:prstGeom>
          <a:noFill/>
          <a:ln/>
        </p:spPr>
        <p:txBody>
          <a:bodyPr wrap="square" lIns="0" tIns="0" rIns="0" bIns="0" rtlCol="0" anchor="t"/>
          <a:lstStyle/>
          <a:p>
            <a:pPr algn="l" indent="0" marL="0">
              <a:buNone/>
            </a:pPr>
            <a:r>
              <a:rPr lang="en-US" sz="4400" b="1" dirty="0">
                <a:solidFill>
                  <a:schemeClr val="bg1"/>
                </a:solidFill>
              </a:rPr>
              <a:t>Predicting Machine Failure from Process Parameters</a:t>
            </a:r>
            <a:endParaRPr lang="en-US" sz="4400" dirty="0"/>
          </a:p>
        </p:txBody>
      </p:sp>
      <p:sp>
        <p:nvSpPr>
          <p:cNvPr id="4" name="Subtitle"/>
          <p:cNvSpPr txBox="1"/>
          <p:nvPr/>
        </p:nvSpPr>
        <p:spPr>
          <a:xfrm>
            <a:off x="685800" y="3063240"/>
            <a:ext cx="7498080" cy="731520"/>
          </a:xfrm>
          <a:prstGeom prst="rect">
            <a:avLst/>
          </a:prstGeom>
          <a:noFill/>
          <a:ln/>
        </p:spPr>
        <p:txBody>
          <a:bodyPr wrap="square" lIns="0" tIns="0" rIns="0" bIns="0" rtlCol="0" anchor="ctr"/>
          <a:lstStyle/>
          <a:p>
            <a:pPr indent="0" marL="0">
              <a:buNone/>
            </a:pPr>
            <a:r>
              <a:rPr lang="en-US" sz="1800" dirty="0">
                <a:solidFill>
                  <a:schemeClr val="accent5"/>
                </a:solidFill>
              </a:rPr>
              <a:t>Failure prediction, explanation and safe operating ranges on the AI4I 2020 predictive-maintenance dataset</a:t>
            </a:r>
            <a:endParaRPr lang="en-US" sz="1800" dirty="0"/>
          </a:p>
        </p:txBody>
      </p:sp>
      <p:sp>
        <p:nvSpPr>
          <p:cNvPr id="5" name="Group card"/>
          <p:cNvSpPr/>
          <p:nvPr/>
        </p:nvSpPr>
        <p:spPr>
          <a:xfrm>
            <a:off x="685800" y="4114800"/>
            <a:ext cx="7680960" cy="2103120"/>
          </a:xfrm>
          <a:prstGeom prst="roundRect">
            <a:avLst>
              <a:gd name="adj" fmla="val 6087"/>
            </a:avLst>
          </a:prstGeom>
          <a:solidFill>
            <a:schemeClr val="bg1">
              <a:alpha val="8000"/>
            </a:schemeClr>
          </a:solidFill>
          <a:ln w="9525">
            <a:solidFill>
              <a:srgbClr val="6FA8EC">
                <a:alpha val="40000"/>
              </a:srgbClr>
            </a:solidFill>
            <a:prstDash val="solid"/>
          </a:ln>
        </p:spPr>
      </p:sp>
      <p:sp>
        <p:nvSpPr>
          <p:cNvPr id="6" name="Group label"/>
          <p:cNvSpPr txBox="1"/>
          <p:nvPr/>
        </p:nvSpPr>
        <p:spPr>
          <a:xfrm>
            <a:off x="1005840" y="4315968"/>
            <a:ext cx="2743200" cy="320040"/>
          </a:xfrm>
          <a:prstGeom prst="rect">
            <a:avLst/>
          </a:prstGeom>
          <a:noFill/>
          <a:ln/>
        </p:spPr>
        <p:txBody>
          <a:bodyPr wrap="square" lIns="0" tIns="0" rIns="0" bIns="0" rtlCol="0" anchor="ctr"/>
          <a:lstStyle/>
          <a:p>
            <a:pPr indent="0" marL="0">
              <a:buNone/>
            </a:pPr>
            <a:r>
              <a:rPr lang="en-US" sz="1400" b="1" spc="300" kern="0" dirty="0">
                <a:solidFill>
                  <a:schemeClr val="accent2"/>
                </a:solidFill>
              </a:rPr>
              <a:t>GROUP 11</a:t>
            </a:r>
            <a:endParaRPr lang="en-US" sz="1400" dirty="0"/>
          </a:p>
        </p:txBody>
      </p:sp>
      <p:sp>
        <p:nvSpPr>
          <p:cNvPr id="7" name="Member 1"/>
          <p:cNvSpPr txBox="1"/>
          <p:nvPr/>
        </p:nvSpPr>
        <p:spPr>
          <a:xfrm>
            <a:off x="1005840" y="4754880"/>
            <a:ext cx="3520440" cy="566928"/>
          </a:xfrm>
          <a:prstGeom prst="rect">
            <a:avLst/>
          </a:prstGeom>
          <a:noFill/>
          <a:ln/>
        </p:spPr>
        <p:txBody>
          <a:bodyPr wrap="square" lIns="0" tIns="0" rIns="0" bIns="0" rtlCol="0" anchor="t"/>
          <a:lstStyle/>
          <a:p>
            <a:pPr indent="0" marL="0">
              <a:buNone/>
            </a:pPr>
            <a:r>
              <a:rPr lang="en-US" sz="1600" b="1" dirty="0">
                <a:solidFill>
                  <a:schemeClr val="bg1"/>
                </a:solidFill>
              </a:rPr>
              <a:t>Muhammed Muhyudheen</a:t>
            </a:r>
            <a:endParaRPr lang="en-US" sz="1600" dirty="0"/>
          </a:p>
          <a:p>
            <a:pPr indent="0" marL="0">
              <a:buNone/>
            </a:pPr>
            <a:r>
              <a:rPr lang="en-US" sz="1200" dirty="0">
                <a:solidFill>
                  <a:schemeClr val="accent5"/>
                </a:solidFill>
              </a:rPr>
              <a:t>B250355ME</a:t>
            </a:r>
            <a:endParaRPr lang="en-US" sz="1600" dirty="0"/>
          </a:p>
        </p:txBody>
      </p:sp>
      <p:sp>
        <p:nvSpPr>
          <p:cNvPr id="8" name="Member 2"/>
          <p:cNvSpPr txBox="1"/>
          <p:nvPr/>
        </p:nvSpPr>
        <p:spPr>
          <a:xfrm>
            <a:off x="4663440" y="4754880"/>
            <a:ext cx="3520440" cy="566928"/>
          </a:xfrm>
          <a:prstGeom prst="rect">
            <a:avLst/>
          </a:prstGeom>
          <a:noFill/>
          <a:ln/>
        </p:spPr>
        <p:txBody>
          <a:bodyPr wrap="square" lIns="0" tIns="0" rIns="0" bIns="0" rtlCol="0" anchor="t"/>
          <a:lstStyle/>
          <a:p>
            <a:pPr indent="0" marL="0">
              <a:buNone/>
            </a:pPr>
            <a:r>
              <a:rPr lang="en-US" sz="1600" b="1" dirty="0">
                <a:solidFill>
                  <a:schemeClr val="bg1"/>
                </a:solidFill>
              </a:rPr>
              <a:t>Mohammed Hisham Kavumpurath</a:t>
            </a:r>
            <a:endParaRPr lang="en-US" sz="1600" dirty="0"/>
          </a:p>
          <a:p>
            <a:pPr indent="0" marL="0">
              <a:buNone/>
            </a:pPr>
            <a:r>
              <a:rPr lang="en-US" sz="1200" dirty="0">
                <a:solidFill>
                  <a:schemeClr val="accent5"/>
                </a:solidFill>
              </a:rPr>
              <a:t>B251001ME</a:t>
            </a:r>
            <a:endParaRPr lang="en-US" sz="1600" dirty="0"/>
          </a:p>
        </p:txBody>
      </p:sp>
      <p:sp>
        <p:nvSpPr>
          <p:cNvPr id="9" name="Member 3"/>
          <p:cNvSpPr txBox="1"/>
          <p:nvPr/>
        </p:nvSpPr>
        <p:spPr>
          <a:xfrm>
            <a:off x="1005840" y="5413248"/>
            <a:ext cx="3520440" cy="566928"/>
          </a:xfrm>
          <a:prstGeom prst="rect">
            <a:avLst/>
          </a:prstGeom>
          <a:noFill/>
          <a:ln/>
        </p:spPr>
        <p:txBody>
          <a:bodyPr wrap="square" lIns="0" tIns="0" rIns="0" bIns="0" rtlCol="0" anchor="t"/>
          <a:lstStyle/>
          <a:p>
            <a:pPr indent="0" marL="0">
              <a:buNone/>
            </a:pPr>
            <a:r>
              <a:rPr lang="en-US" sz="1600" b="1" dirty="0">
                <a:solidFill>
                  <a:schemeClr val="bg1"/>
                </a:solidFill>
              </a:rPr>
              <a:t>Athira T B</a:t>
            </a:r>
            <a:endParaRPr lang="en-US" sz="1600" dirty="0"/>
          </a:p>
          <a:p>
            <a:pPr indent="0" marL="0">
              <a:buNone/>
            </a:pPr>
            <a:r>
              <a:rPr lang="en-US" sz="1200" dirty="0">
                <a:solidFill>
                  <a:schemeClr val="accent5"/>
                </a:solidFill>
              </a:rPr>
              <a:t>B250718ME</a:t>
            </a:r>
            <a:endParaRPr lang="en-US" sz="1600" dirty="0"/>
          </a:p>
        </p:txBody>
      </p:sp>
      <p:sp>
        <p:nvSpPr>
          <p:cNvPr id="10" name="Member 4"/>
          <p:cNvSpPr txBox="1"/>
          <p:nvPr/>
        </p:nvSpPr>
        <p:spPr>
          <a:xfrm>
            <a:off x="4663440" y="5413248"/>
            <a:ext cx="3520440" cy="566928"/>
          </a:xfrm>
          <a:prstGeom prst="rect">
            <a:avLst/>
          </a:prstGeom>
          <a:noFill/>
          <a:ln/>
        </p:spPr>
        <p:txBody>
          <a:bodyPr wrap="square" lIns="0" tIns="0" rIns="0" bIns="0" rtlCol="0" anchor="t"/>
          <a:lstStyle/>
          <a:p>
            <a:pPr indent="0" marL="0">
              <a:buNone/>
            </a:pPr>
            <a:r>
              <a:rPr lang="en-US" sz="1600" b="1" dirty="0">
                <a:solidFill>
                  <a:schemeClr val="bg1"/>
                </a:solidFill>
              </a:rPr>
              <a:t>Aradhana SK</a:t>
            </a:r>
            <a:endParaRPr lang="en-US" sz="1600" dirty="0"/>
          </a:p>
          <a:p>
            <a:pPr indent="0" marL="0">
              <a:buNone/>
            </a:pPr>
            <a:r>
              <a:rPr lang="en-US" sz="1200" dirty="0">
                <a:solidFill>
                  <a:schemeClr val="accent5"/>
                </a:solidFill>
              </a:rPr>
              <a:t>B250689ME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Why predict machine failure?</a:t>
            </a:r>
            <a:endParaRPr lang="en-US" sz="3200" dirty="0"/>
          </a:p>
        </p:txBody>
      </p:sp>
      <p:sp>
        <p:nvSpPr>
          <p:cNvPr id="3" name="Problem statement"/>
          <p:cNvSpPr txBox="1"/>
          <p:nvPr/>
        </p:nvSpPr>
        <p:spPr>
          <a:xfrm>
            <a:off x="548640" y="1325880"/>
            <a:ext cx="5394960" cy="1143000"/>
          </a:xfrm>
          <a:prstGeom prst="rect">
            <a:avLst/>
          </a:prstGeom>
          <a:noFill/>
          <a:ln/>
        </p:spPr>
        <p:txBody>
          <a:bodyPr wrap="square" lIns="0" tIns="0" rIns="0" bIns="0" rtlCol="0" anchor="t"/>
          <a:lstStyle/>
          <a:p>
            <a:pPr indent="0" marL="0">
              <a:buNone/>
            </a:pPr>
            <a:r>
              <a:rPr lang="en-US" sz="1800" dirty="0">
                <a:solidFill>
                  <a:schemeClr val="tx1"/>
                </a:solidFill>
              </a:rPr>
              <a:t>An unplanned breakdown stops the line, scraps parts and forces urgent repairs. If a machine's own settings reveal rising risk, the team can act before it fails.</a:t>
            </a:r>
            <a:endParaRPr lang="en-US" sz="1800" dirty="0"/>
          </a:p>
        </p:txBody>
      </p:sp>
      <p:sp>
        <p:nvSpPr>
          <p:cNvPr id="4" name="Goals header"/>
          <p:cNvSpPr txBox="1"/>
          <p:nvPr/>
        </p:nvSpPr>
        <p:spPr>
          <a:xfrm>
            <a:off x="548640" y="2697480"/>
            <a:ext cx="5394960" cy="365760"/>
          </a:xfrm>
          <a:prstGeom prst="rect">
            <a:avLst/>
          </a:prstGeom>
          <a:noFill/>
          <a:ln/>
        </p:spPr>
        <p:txBody>
          <a:bodyPr wrap="square" lIns="0" tIns="0" rIns="0" bIns="0" rtlCol="0" anchor="ctr"/>
          <a:lstStyle/>
          <a:p>
            <a:pPr indent="0" marL="0">
              <a:buNone/>
            </a:pPr>
            <a:r>
              <a:rPr lang="en-US" sz="1600" b="1" dirty="0">
                <a:solidFill>
                  <a:schemeClr val="accent6"/>
                </a:solidFill>
              </a:rPr>
              <a:t>Our three goals</a:t>
            </a:r>
            <a:endParaRPr lang="en-US" sz="1600" dirty="0"/>
          </a:p>
        </p:txBody>
      </p:sp>
      <p:sp>
        <p:nvSpPr>
          <p:cNvPr id="5" name="Goal 1 card"/>
          <p:cNvSpPr/>
          <p:nvPr/>
        </p:nvSpPr>
        <p:spPr>
          <a:xfrm>
            <a:off x="548640" y="3200400"/>
            <a:ext cx="5394960" cy="804672"/>
          </a:xfrm>
          <a:prstGeom prst="roundRect">
            <a:avLst>
              <a:gd name="adj" fmla="val 13636"/>
            </a:avLst>
          </a:prstGeom>
          <a:solidFill>
            <a:schemeClr val="bg1"/>
          </a:solidFill>
          <a:ln w="9525">
            <a:solidFill>
              <a:srgbClr val="DCE3EC"/>
            </a:solidFill>
            <a:prstDash val="solid"/>
          </a:ln>
          <a:effectLst>
            <a:outerShdw sx="100000" sy="100000" kx="0" ky="0" algn="bl" rotWithShape="0" blurRad="127000" dist="25400" dir="5400000">
              <a:srgbClr val="0E1A2B">
                <a:alpha val="12000"/>
              </a:srgbClr>
            </a:outerShdw>
          </a:effectLst>
        </p:spPr>
      </p:sp>
      <p:sp>
        <p:nvSpPr>
          <p:cNvPr id="6" name="Goal 1 circle"/>
          <p:cNvSpPr/>
          <p:nvPr/>
        </p:nvSpPr>
        <p:spPr>
          <a:xfrm>
            <a:off x="749808" y="3374136"/>
            <a:ext cx="457200" cy="457200"/>
          </a:xfrm>
          <a:prstGeom prst="ellipse">
            <a:avLst/>
          </a:prstGeom>
          <a:solidFill>
            <a:schemeClr val="accent2"/>
          </a:solidFill>
          <a:ln/>
        </p:spPr>
      </p:sp>
      <p:sp>
        <p:nvSpPr>
          <p:cNvPr id="7" name="Goal 1 circle number"/>
          <p:cNvSpPr txBox="1"/>
          <p:nvPr/>
        </p:nvSpPr>
        <p:spPr>
          <a:xfrm>
            <a:off x="749808" y="337413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Goal 1 text"/>
          <p:cNvSpPr txBox="1"/>
          <p:nvPr/>
        </p:nvSpPr>
        <p:spPr>
          <a:xfrm>
            <a:off x="1417320" y="3200400"/>
            <a:ext cx="4389120" cy="804672"/>
          </a:xfrm>
          <a:prstGeom prst="rect">
            <a:avLst/>
          </a:prstGeom>
          <a:noFill/>
          <a:ln/>
        </p:spPr>
        <p:txBody>
          <a:bodyPr wrap="square" lIns="0" tIns="0" rIns="0" bIns="0" rtlCol="0" anchor="ctr"/>
          <a:lstStyle/>
          <a:p>
            <a:pPr indent="0" marL="0">
              <a:buNone/>
            </a:pPr>
            <a:r>
              <a:rPr lang="en-US" sz="1600" b="1" dirty="0">
                <a:solidFill>
                  <a:schemeClr val="tx1"/>
                </a:solidFill>
              </a:rPr>
              <a:t>Predict  </a:t>
            </a:r>
            <a:pPr indent="0" marL="0">
              <a:buNone/>
            </a:pPr>
            <a:r>
              <a:rPr lang="en-US" sz="1600" dirty="0">
                <a:solidFill>
                  <a:schemeClr val="accent6"/>
                </a:solidFill>
              </a:rPr>
              <a:t>the probability that a run will fail</a:t>
            </a:r>
            <a:endParaRPr lang="en-US" sz="1600" dirty="0"/>
          </a:p>
        </p:txBody>
      </p:sp>
      <p:sp>
        <p:nvSpPr>
          <p:cNvPr id="9" name="Goal 2 card"/>
          <p:cNvSpPr/>
          <p:nvPr/>
        </p:nvSpPr>
        <p:spPr>
          <a:xfrm>
            <a:off x="548640" y="4187952"/>
            <a:ext cx="5394960" cy="804672"/>
          </a:xfrm>
          <a:prstGeom prst="roundRect">
            <a:avLst>
              <a:gd name="adj" fmla="val 13636"/>
            </a:avLst>
          </a:prstGeom>
          <a:solidFill>
            <a:schemeClr val="bg1"/>
          </a:solidFill>
          <a:ln w="9525">
            <a:solidFill>
              <a:srgbClr val="DCE3EC"/>
            </a:solidFill>
            <a:prstDash val="solid"/>
          </a:ln>
          <a:effectLst>
            <a:outerShdw sx="100000" sy="100000" kx="0" ky="0" algn="bl" rotWithShape="0" blurRad="127000" dist="25400" dir="5400000">
              <a:srgbClr val="0E1A2B">
                <a:alpha val="12000"/>
              </a:srgbClr>
            </a:outerShdw>
          </a:effectLst>
        </p:spPr>
      </p:sp>
      <p:sp>
        <p:nvSpPr>
          <p:cNvPr id="10" name="Goal 2 circle"/>
          <p:cNvSpPr/>
          <p:nvPr/>
        </p:nvSpPr>
        <p:spPr>
          <a:xfrm>
            <a:off x="749808" y="4361688"/>
            <a:ext cx="457200" cy="457200"/>
          </a:xfrm>
          <a:prstGeom prst="ellipse">
            <a:avLst/>
          </a:prstGeom>
          <a:solidFill>
            <a:schemeClr val="accent2"/>
          </a:solidFill>
          <a:ln/>
        </p:spPr>
      </p:sp>
      <p:sp>
        <p:nvSpPr>
          <p:cNvPr id="11" name="Goal 2 circle number"/>
          <p:cNvSpPr txBox="1"/>
          <p:nvPr/>
        </p:nvSpPr>
        <p:spPr>
          <a:xfrm>
            <a:off x="749808" y="436168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Goal 2 text"/>
          <p:cNvSpPr txBox="1"/>
          <p:nvPr/>
        </p:nvSpPr>
        <p:spPr>
          <a:xfrm>
            <a:off x="1417320" y="4187952"/>
            <a:ext cx="4389120" cy="804672"/>
          </a:xfrm>
          <a:prstGeom prst="rect">
            <a:avLst/>
          </a:prstGeom>
          <a:noFill/>
          <a:ln/>
        </p:spPr>
        <p:txBody>
          <a:bodyPr wrap="square" lIns="0" tIns="0" rIns="0" bIns="0" rtlCol="0" anchor="ctr"/>
          <a:lstStyle/>
          <a:p>
            <a:pPr indent="0" marL="0">
              <a:buNone/>
            </a:pPr>
            <a:r>
              <a:rPr lang="en-US" sz="1600" b="1" dirty="0">
                <a:solidFill>
                  <a:schemeClr val="tx1"/>
                </a:solidFill>
              </a:rPr>
              <a:t>Explain  </a:t>
            </a:r>
            <a:pPr indent="0" marL="0">
              <a:buNone/>
            </a:pPr>
            <a:r>
              <a:rPr lang="en-US" sz="1600" dirty="0">
                <a:solidFill>
                  <a:schemeClr val="accent6"/>
                </a:solidFill>
              </a:rPr>
              <a:t>which settings drive that risk</a:t>
            </a:r>
            <a:endParaRPr lang="en-US" sz="1600" dirty="0"/>
          </a:p>
        </p:txBody>
      </p:sp>
      <p:sp>
        <p:nvSpPr>
          <p:cNvPr id="13" name="Goal 3 card"/>
          <p:cNvSpPr/>
          <p:nvPr/>
        </p:nvSpPr>
        <p:spPr>
          <a:xfrm>
            <a:off x="548640" y="5175504"/>
            <a:ext cx="5394960" cy="804672"/>
          </a:xfrm>
          <a:prstGeom prst="roundRect">
            <a:avLst>
              <a:gd name="adj" fmla="val 13636"/>
            </a:avLst>
          </a:prstGeom>
          <a:solidFill>
            <a:schemeClr val="bg1"/>
          </a:solidFill>
          <a:ln w="9525">
            <a:solidFill>
              <a:srgbClr val="DCE3EC"/>
            </a:solidFill>
            <a:prstDash val="solid"/>
          </a:ln>
          <a:effectLst>
            <a:outerShdw sx="100000" sy="100000" kx="0" ky="0" algn="bl" rotWithShape="0" blurRad="127000" dist="25400" dir="5400000">
              <a:srgbClr val="0E1A2B">
                <a:alpha val="12000"/>
              </a:srgbClr>
            </a:outerShdw>
          </a:effectLst>
        </p:spPr>
      </p:sp>
      <p:sp>
        <p:nvSpPr>
          <p:cNvPr id="14" name="Goal 3 circle"/>
          <p:cNvSpPr/>
          <p:nvPr/>
        </p:nvSpPr>
        <p:spPr>
          <a:xfrm>
            <a:off x="749808" y="5349240"/>
            <a:ext cx="457200" cy="457200"/>
          </a:xfrm>
          <a:prstGeom prst="ellipse">
            <a:avLst/>
          </a:prstGeom>
          <a:solidFill>
            <a:schemeClr val="accent2"/>
          </a:solidFill>
          <a:ln/>
        </p:spPr>
      </p:sp>
      <p:sp>
        <p:nvSpPr>
          <p:cNvPr id="15" name="Goal 3 circle number"/>
          <p:cNvSpPr txBox="1"/>
          <p:nvPr/>
        </p:nvSpPr>
        <p:spPr>
          <a:xfrm>
            <a:off x="749808" y="5349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Goal 3 text"/>
          <p:cNvSpPr txBox="1"/>
          <p:nvPr/>
        </p:nvSpPr>
        <p:spPr>
          <a:xfrm>
            <a:off x="1417320" y="5175504"/>
            <a:ext cx="4389120" cy="804672"/>
          </a:xfrm>
          <a:prstGeom prst="rect">
            <a:avLst/>
          </a:prstGeom>
          <a:noFill/>
          <a:ln/>
        </p:spPr>
        <p:txBody>
          <a:bodyPr wrap="square" lIns="0" tIns="0" rIns="0" bIns="0" rtlCol="0" anchor="ctr"/>
          <a:lstStyle/>
          <a:p>
            <a:pPr indent="0" marL="0">
              <a:buNone/>
            </a:pPr>
            <a:r>
              <a:rPr lang="en-US" sz="1600" b="1" dirty="0">
                <a:solidFill>
                  <a:schemeClr val="tx1"/>
                </a:solidFill>
              </a:rPr>
              <a:t>Recommend  </a:t>
            </a:r>
            <a:pPr indent="0" marL="0">
              <a:buNone/>
            </a:pPr>
            <a:r>
              <a:rPr lang="en-US" sz="1600" dirty="0">
                <a:solidFill>
                  <a:schemeClr val="accent6"/>
                </a:solidFill>
              </a:rPr>
              <a:t>safe operating ranges per product type</a:t>
            </a:r>
            <a:endParaRPr lang="en-US" sz="1600" dirty="0"/>
          </a:p>
        </p:txBody>
      </p:sp>
      <p:sp>
        <p:nvSpPr>
          <p:cNvPr id="17" name="Real-world card"/>
          <p:cNvSpPr/>
          <p:nvPr/>
        </p:nvSpPr>
        <p:spPr>
          <a:xfrm>
            <a:off x="6355080" y="1325880"/>
            <a:ext cx="5303520" cy="4800600"/>
          </a:xfrm>
          <a:prstGeom prst="roundRect">
            <a:avLst>
              <a:gd name="adj" fmla="val 2286"/>
            </a:avLst>
          </a:prstGeom>
          <a:solidFill>
            <a:schemeClr val="bg1"/>
          </a:solidFill>
          <a:ln w="9525">
            <a:solidFill>
              <a:srgbClr val="DCE3EC"/>
            </a:solidFill>
            <a:prstDash val="solid"/>
          </a:ln>
          <a:effectLst>
            <a:outerShdw sx="100000" sy="100000" kx="0" ky="0" algn="bl" rotWithShape="0" blurRad="127000" dist="25400" dir="5400000">
              <a:srgbClr val="0E1A2B">
                <a:alpha val="12000"/>
              </a:srgbClr>
            </a:outerShdw>
          </a:effectLst>
        </p:spPr>
      </p:sp>
      <p:sp>
        <p:nvSpPr>
          <p:cNvPr id="18" name="Real-world header"/>
          <p:cNvSpPr txBox="1"/>
          <p:nvPr/>
        </p:nvSpPr>
        <p:spPr>
          <a:xfrm>
            <a:off x="6675120" y="1554480"/>
            <a:ext cx="4754880" cy="411480"/>
          </a:xfrm>
          <a:prstGeom prst="rect">
            <a:avLst/>
          </a:prstGeom>
          <a:noFill/>
          <a:ln/>
        </p:spPr>
        <p:txBody>
          <a:bodyPr wrap="square" lIns="0" tIns="0" rIns="0" bIns="0" rtlCol="0" anchor="ctr"/>
          <a:lstStyle/>
          <a:p>
            <a:pPr indent="0" marL="0">
              <a:buNone/>
            </a:pPr>
            <a:r>
              <a:rPr lang="en-US" sz="2000" b="1" dirty="0">
                <a:solidFill>
                  <a:schemeClr val="tx1"/>
                </a:solidFill>
              </a:rPr>
              <a:t>How it helps in a real plant</a:t>
            </a:r>
            <a:endParaRPr lang="en-US" sz="2000" dirty="0"/>
          </a:p>
        </p:txBody>
      </p:sp>
      <p:sp>
        <p:nvSpPr>
          <p:cNvPr id="19" name="Use 1 circle"/>
          <p:cNvSpPr/>
          <p:nvPr/>
        </p:nvSpPr>
        <p:spPr>
          <a:xfrm>
            <a:off x="6675120" y="2240280"/>
            <a:ext cx="658368" cy="658368"/>
          </a:xfrm>
          <a:prstGeom prst="ellipse">
            <a:avLst/>
          </a:prstGeom>
          <a:solidFill>
            <a:schemeClr val="accent1"/>
          </a:solidFill>
          <a:ln/>
        </p:spPr>
      </p:sp>
      <p:pic>
        <p:nvPicPr>
          <p:cNvPr id="20" name="Use 1 icon" descr="preencoded.png">    </p:cNvPr>
          <p:cNvPicPr>
            <a:picLocks noChangeAspect="1"/>
          </p:cNvPicPr>
          <p:nvPr/>
        </p:nvPicPr>
        <p:blipFill>
          <a:blip r:embed="rId1"/>
          <a:stretch>
            <a:fillRect/>
          </a:stretch>
        </p:blipFill>
        <p:spPr>
          <a:xfrm>
            <a:off x="6846296" y="2411456"/>
            <a:ext cx="316017" cy="316017"/>
          </a:xfrm>
          <a:prstGeom prst="rect">
            <a:avLst/>
          </a:prstGeom>
        </p:spPr>
      </p:pic>
      <p:sp>
        <p:nvSpPr>
          <p:cNvPr id="21" name="Use 1 text"/>
          <p:cNvSpPr txBox="1"/>
          <p:nvPr/>
        </p:nvSpPr>
        <p:spPr>
          <a:xfrm>
            <a:off x="7543800" y="2194560"/>
            <a:ext cx="3886200" cy="1097280"/>
          </a:xfrm>
          <a:prstGeom prst="rect">
            <a:avLst/>
          </a:prstGeom>
          <a:noFill/>
          <a:ln/>
        </p:spPr>
        <p:txBody>
          <a:bodyPr wrap="square" lIns="0" tIns="0" rIns="0" bIns="0" rtlCol="0" anchor="t"/>
          <a:lstStyle/>
          <a:p>
            <a:pPr indent="0" marL="0">
              <a:buNone/>
            </a:pPr>
            <a:r>
              <a:rPr lang="en-US" sz="1600" b="1" dirty="0">
                <a:solidFill>
                  <a:schemeClr val="tx1"/>
                </a:solidFill>
              </a:rPr>
              <a:t>Maintenance before breakdown</a:t>
            </a:r>
            <a:endParaRPr lang="en-US" sz="1600" dirty="0"/>
          </a:p>
          <a:p>
            <a:pPr indent="0" marL="0">
              <a:buNone/>
            </a:pPr>
            <a:r>
              <a:rPr lang="en-US" sz="1400" dirty="0">
                <a:solidFill>
                  <a:schemeClr val="accent6"/>
                </a:solidFill>
              </a:rPr>
              <a:t>Flag high-risk runs so inspections happen before a failure, not after it.</a:t>
            </a:r>
            <a:endParaRPr lang="en-US" sz="1600" dirty="0"/>
          </a:p>
        </p:txBody>
      </p:sp>
      <p:sp>
        <p:nvSpPr>
          <p:cNvPr id="22" name="Use 2 circle"/>
          <p:cNvSpPr/>
          <p:nvPr/>
        </p:nvSpPr>
        <p:spPr>
          <a:xfrm>
            <a:off x="6675120" y="3502152"/>
            <a:ext cx="658368" cy="658368"/>
          </a:xfrm>
          <a:prstGeom prst="ellipse">
            <a:avLst/>
          </a:prstGeom>
          <a:solidFill>
            <a:schemeClr val="accent1"/>
          </a:solidFill>
          <a:ln/>
        </p:spPr>
      </p:sp>
      <p:pic>
        <p:nvPicPr>
          <p:cNvPr id="23" name="Use 2 icon" descr="preencoded.png">    </p:cNvPr>
          <p:cNvPicPr>
            <a:picLocks noChangeAspect="1"/>
          </p:cNvPicPr>
          <p:nvPr/>
        </p:nvPicPr>
        <p:blipFill>
          <a:blip r:embed="rId2"/>
          <a:stretch>
            <a:fillRect/>
          </a:stretch>
        </p:blipFill>
        <p:spPr>
          <a:xfrm>
            <a:off x="6846296" y="3673328"/>
            <a:ext cx="316017" cy="316017"/>
          </a:xfrm>
          <a:prstGeom prst="rect">
            <a:avLst/>
          </a:prstGeom>
        </p:spPr>
      </p:pic>
      <p:sp>
        <p:nvSpPr>
          <p:cNvPr id="24" name="Use 2 text"/>
          <p:cNvSpPr txBox="1"/>
          <p:nvPr/>
        </p:nvSpPr>
        <p:spPr>
          <a:xfrm>
            <a:off x="7543800" y="3456432"/>
            <a:ext cx="3886200" cy="1097280"/>
          </a:xfrm>
          <a:prstGeom prst="rect">
            <a:avLst/>
          </a:prstGeom>
          <a:noFill/>
          <a:ln/>
        </p:spPr>
        <p:txBody>
          <a:bodyPr wrap="square" lIns="0" tIns="0" rIns="0" bIns="0" rtlCol="0" anchor="t"/>
          <a:lstStyle/>
          <a:p>
            <a:pPr indent="0" marL="0">
              <a:buNone/>
            </a:pPr>
            <a:r>
              <a:rPr lang="en-US" sz="1600" b="1" dirty="0">
                <a:solidFill>
                  <a:schemeClr val="tx1"/>
                </a:solidFill>
              </a:rPr>
              <a:t>Smarter tool changes</a:t>
            </a:r>
            <a:endParaRPr lang="en-US" sz="1600" dirty="0"/>
          </a:p>
          <a:p>
            <a:pPr indent="0" marL="0">
              <a:buNone/>
            </a:pPr>
            <a:r>
              <a:rPr lang="en-US" sz="1400" dirty="0">
                <a:solidFill>
                  <a:schemeClr val="accent6"/>
                </a:solidFill>
              </a:rPr>
              <a:t>Risk rises about 40× once tool wear passes ~200 min, so tools can be changed on schedule.</a:t>
            </a:r>
            <a:endParaRPr lang="en-US" sz="1600" dirty="0"/>
          </a:p>
        </p:txBody>
      </p:sp>
      <p:sp>
        <p:nvSpPr>
          <p:cNvPr id="25" name="Use 3 circle"/>
          <p:cNvSpPr/>
          <p:nvPr/>
        </p:nvSpPr>
        <p:spPr>
          <a:xfrm>
            <a:off x="6675120" y="4764024"/>
            <a:ext cx="658368" cy="658368"/>
          </a:xfrm>
          <a:prstGeom prst="ellipse">
            <a:avLst/>
          </a:prstGeom>
          <a:solidFill>
            <a:schemeClr val="accent1"/>
          </a:solidFill>
          <a:ln/>
        </p:spPr>
      </p:sp>
      <p:pic>
        <p:nvPicPr>
          <p:cNvPr id="26" name="Use 3 icon" descr="preencoded.png">    </p:cNvPr>
          <p:cNvPicPr>
            <a:picLocks noChangeAspect="1"/>
          </p:cNvPicPr>
          <p:nvPr/>
        </p:nvPicPr>
        <p:blipFill>
          <a:blip r:embed="rId3"/>
          <a:stretch>
            <a:fillRect/>
          </a:stretch>
        </p:blipFill>
        <p:spPr>
          <a:xfrm>
            <a:off x="6846296" y="4935200"/>
            <a:ext cx="316017" cy="316017"/>
          </a:xfrm>
          <a:prstGeom prst="rect">
            <a:avLst/>
          </a:prstGeom>
        </p:spPr>
      </p:pic>
      <p:sp>
        <p:nvSpPr>
          <p:cNvPr id="27" name="Use 3 text"/>
          <p:cNvSpPr txBox="1"/>
          <p:nvPr/>
        </p:nvSpPr>
        <p:spPr>
          <a:xfrm>
            <a:off x="7543800" y="4718304"/>
            <a:ext cx="3886200" cy="1097280"/>
          </a:xfrm>
          <a:prstGeom prst="rect">
            <a:avLst/>
          </a:prstGeom>
          <a:noFill/>
          <a:ln/>
        </p:spPr>
        <p:txBody>
          <a:bodyPr wrap="square" lIns="0" tIns="0" rIns="0" bIns="0" rtlCol="0" anchor="t"/>
          <a:lstStyle/>
          <a:p>
            <a:pPr indent="0" marL="0">
              <a:buNone/>
            </a:pPr>
            <a:r>
              <a:rPr lang="en-US" sz="1600" b="1" dirty="0">
                <a:solidFill>
                  <a:schemeClr val="tx1"/>
                </a:solidFill>
              </a:rPr>
              <a:t>Safe operating windows</a:t>
            </a:r>
            <a:endParaRPr lang="en-US" sz="1600" dirty="0"/>
          </a:p>
          <a:p>
            <a:pPr indent="0" marL="0">
              <a:buNone/>
            </a:pPr>
            <a:r>
              <a:rPr lang="en-US" sz="1400" dirty="0">
                <a:solidFill>
                  <a:schemeClr val="accent6"/>
                </a:solidFill>
              </a:rPr>
              <a:t>Keep power and torque inside the band where the model and the physics agree risk is low.</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AI4I 2020: 10,000 machining runs, only 3.4% fail</a:t>
            </a:r>
            <a:endParaRPr lang="en-US" sz="3200" dirty="0"/>
          </a:p>
        </p:txBody>
      </p:sp>
      <p:sp>
        <p:nvSpPr>
          <p:cNvPr id="3" name="Stat 1 card"/>
          <p:cNvSpPr/>
          <p:nvPr/>
        </p:nvSpPr>
        <p:spPr>
          <a:xfrm>
            <a:off x="548640" y="1325880"/>
            <a:ext cx="2606040" cy="1417320"/>
          </a:xfrm>
          <a:prstGeom prst="roundRect">
            <a:avLst>
              <a:gd name="adj" fmla="val 7742"/>
            </a:avLst>
          </a:prstGeom>
          <a:solidFill>
            <a:schemeClr val="bg1"/>
          </a:solidFill>
          <a:ln w="9525">
            <a:solidFill>
              <a:srgbClr val="DCE3EC"/>
            </a:solidFill>
            <a:prstDash val="solid"/>
          </a:ln>
          <a:effectLst>
            <a:outerShdw sx="100000" sy="100000" kx="0" ky="0" algn="bl" rotWithShape="0" blurRad="127000" dist="25400" dir="5400000">
              <a:srgbClr val="0E1A2B">
                <a:alpha val="12000"/>
              </a:srgbClr>
            </a:outerShdw>
          </a:effectLst>
        </p:spPr>
      </p:sp>
      <p:sp>
        <p:nvSpPr>
          <p:cNvPr id="4" name="Stat 1 value"/>
          <p:cNvSpPr txBox="1"/>
          <p:nvPr/>
        </p:nvSpPr>
        <p:spPr>
          <a:xfrm>
            <a:off x="777240" y="1444752"/>
            <a:ext cx="2194560" cy="640080"/>
          </a:xfrm>
          <a:prstGeom prst="rect">
            <a:avLst/>
          </a:prstGeom>
          <a:noFill/>
          <a:ln/>
        </p:spPr>
        <p:txBody>
          <a:bodyPr wrap="square" lIns="0" tIns="0" rIns="0" bIns="0" rtlCol="0" anchor="ctr"/>
          <a:lstStyle/>
          <a:p>
            <a:pPr indent="0" marL="0">
              <a:buNone/>
            </a:pPr>
            <a:r>
              <a:rPr lang="en-US" sz="3600" b="1" dirty="0">
                <a:solidFill>
                  <a:schemeClr val="tx1"/>
                </a:solidFill>
              </a:rPr>
              <a:t>10,000</a:t>
            </a:r>
            <a:endParaRPr lang="en-US" sz="3600" dirty="0"/>
          </a:p>
        </p:txBody>
      </p:sp>
      <p:sp>
        <p:nvSpPr>
          <p:cNvPr id="5" name="Stat 1 label"/>
          <p:cNvSpPr txBox="1"/>
          <p:nvPr/>
        </p:nvSpPr>
        <p:spPr>
          <a:xfrm>
            <a:off x="777240" y="2103120"/>
            <a:ext cx="2240280" cy="548640"/>
          </a:xfrm>
          <a:prstGeom prst="rect">
            <a:avLst/>
          </a:prstGeom>
          <a:noFill/>
          <a:ln/>
        </p:spPr>
        <p:txBody>
          <a:bodyPr wrap="square" lIns="0" tIns="0" rIns="0" bIns="0" rtlCol="0" anchor="t"/>
          <a:lstStyle/>
          <a:p>
            <a:pPr indent="0" marL="0">
              <a:buNone/>
            </a:pPr>
            <a:r>
              <a:rPr lang="en-US" sz="1200" dirty="0">
                <a:solidFill>
                  <a:schemeClr val="accent6"/>
                </a:solidFill>
              </a:rPr>
              <a:t>machining runs, no missing values</a:t>
            </a:r>
            <a:endParaRPr lang="en-US" sz="1200" dirty="0"/>
          </a:p>
        </p:txBody>
      </p:sp>
      <p:sp>
        <p:nvSpPr>
          <p:cNvPr id="6" name="Stat 2 card"/>
          <p:cNvSpPr/>
          <p:nvPr/>
        </p:nvSpPr>
        <p:spPr>
          <a:xfrm>
            <a:off x="3383280" y="1325880"/>
            <a:ext cx="2606040" cy="1417320"/>
          </a:xfrm>
          <a:prstGeom prst="roundRect">
            <a:avLst>
              <a:gd name="adj" fmla="val 7742"/>
            </a:avLst>
          </a:prstGeom>
          <a:solidFill>
            <a:schemeClr val="bg1"/>
          </a:solidFill>
          <a:ln w="9525">
            <a:solidFill>
              <a:srgbClr val="DCE3EC"/>
            </a:solidFill>
            <a:prstDash val="solid"/>
          </a:ln>
          <a:effectLst>
            <a:outerShdw sx="100000" sy="100000" kx="0" ky="0" algn="bl" rotWithShape="0" blurRad="127000" dist="25400" dir="5400000">
              <a:srgbClr val="0E1A2B">
                <a:alpha val="12000"/>
              </a:srgbClr>
            </a:outerShdw>
          </a:effectLst>
        </p:spPr>
      </p:sp>
      <p:sp>
        <p:nvSpPr>
          <p:cNvPr id="7" name="Stat 2 value"/>
          <p:cNvSpPr txBox="1"/>
          <p:nvPr/>
        </p:nvSpPr>
        <p:spPr>
          <a:xfrm>
            <a:off x="3611880" y="1444752"/>
            <a:ext cx="2194560" cy="640080"/>
          </a:xfrm>
          <a:prstGeom prst="rect">
            <a:avLst/>
          </a:prstGeom>
          <a:noFill/>
          <a:ln/>
        </p:spPr>
        <p:txBody>
          <a:bodyPr wrap="square" lIns="0" tIns="0" rIns="0" bIns="0" rtlCol="0" anchor="ctr"/>
          <a:lstStyle/>
          <a:p>
            <a:pPr indent="0" marL="0">
              <a:buNone/>
            </a:pPr>
            <a:r>
              <a:rPr lang="en-US" sz="3600" b="1" dirty="0">
                <a:solidFill>
                  <a:schemeClr val="tx1"/>
                </a:solidFill>
              </a:rPr>
              <a:t>6</a:t>
            </a:r>
            <a:endParaRPr lang="en-US" sz="3600" dirty="0"/>
          </a:p>
        </p:txBody>
      </p:sp>
      <p:sp>
        <p:nvSpPr>
          <p:cNvPr id="8" name="Stat 2 label"/>
          <p:cNvSpPr txBox="1"/>
          <p:nvPr/>
        </p:nvSpPr>
        <p:spPr>
          <a:xfrm>
            <a:off x="3611880" y="2103120"/>
            <a:ext cx="2240280" cy="548640"/>
          </a:xfrm>
          <a:prstGeom prst="rect">
            <a:avLst/>
          </a:prstGeom>
          <a:noFill/>
          <a:ln/>
        </p:spPr>
        <p:txBody>
          <a:bodyPr wrap="square" lIns="0" tIns="0" rIns="0" bIns="0" rtlCol="0" anchor="t"/>
          <a:lstStyle/>
          <a:p>
            <a:pPr indent="0" marL="0">
              <a:buNone/>
            </a:pPr>
            <a:r>
              <a:rPr lang="en-US" sz="1200" dirty="0">
                <a:solidFill>
                  <a:schemeClr val="accent6"/>
                </a:solidFill>
              </a:rPr>
              <a:t>inputs: product type + 5 process readings</a:t>
            </a:r>
            <a:endParaRPr lang="en-US" sz="1200" dirty="0"/>
          </a:p>
        </p:txBody>
      </p:sp>
      <p:sp>
        <p:nvSpPr>
          <p:cNvPr id="9" name="Stat 3 card"/>
          <p:cNvSpPr/>
          <p:nvPr/>
        </p:nvSpPr>
        <p:spPr>
          <a:xfrm>
            <a:off x="6217920" y="1325880"/>
            <a:ext cx="2606040" cy="1417320"/>
          </a:xfrm>
          <a:prstGeom prst="roundRect">
            <a:avLst>
              <a:gd name="adj" fmla="val 7742"/>
            </a:avLst>
          </a:prstGeom>
          <a:solidFill>
            <a:schemeClr val="bg1"/>
          </a:solidFill>
          <a:ln w="9525">
            <a:solidFill>
              <a:srgbClr val="DCE3EC"/>
            </a:solidFill>
            <a:prstDash val="solid"/>
          </a:ln>
          <a:effectLst>
            <a:outerShdw sx="100000" sy="100000" kx="0" ky="0" algn="bl" rotWithShape="0" blurRad="127000" dist="25400" dir="5400000">
              <a:srgbClr val="0E1A2B">
                <a:alpha val="12000"/>
              </a:srgbClr>
            </a:outerShdw>
          </a:effectLst>
        </p:spPr>
      </p:sp>
      <p:sp>
        <p:nvSpPr>
          <p:cNvPr id="10" name="Stat 3 value"/>
          <p:cNvSpPr txBox="1"/>
          <p:nvPr/>
        </p:nvSpPr>
        <p:spPr>
          <a:xfrm>
            <a:off x="6446520" y="1444752"/>
            <a:ext cx="2194560" cy="640080"/>
          </a:xfrm>
          <a:prstGeom prst="rect">
            <a:avLst/>
          </a:prstGeom>
          <a:noFill/>
          <a:ln/>
        </p:spPr>
        <p:txBody>
          <a:bodyPr wrap="square" lIns="0" tIns="0" rIns="0" bIns="0" rtlCol="0" anchor="ctr"/>
          <a:lstStyle/>
          <a:p>
            <a:pPr indent="0" marL="0">
              <a:buNone/>
            </a:pPr>
            <a:r>
              <a:rPr lang="en-US" sz="3600" b="1" dirty="0">
                <a:solidFill>
                  <a:schemeClr val="accent2"/>
                </a:solidFill>
              </a:rPr>
              <a:t>3.39%</a:t>
            </a:r>
            <a:endParaRPr lang="en-US" sz="3600" dirty="0"/>
          </a:p>
        </p:txBody>
      </p:sp>
      <p:sp>
        <p:nvSpPr>
          <p:cNvPr id="11" name="Stat 3 label"/>
          <p:cNvSpPr txBox="1"/>
          <p:nvPr/>
        </p:nvSpPr>
        <p:spPr>
          <a:xfrm>
            <a:off x="6446520" y="2103120"/>
            <a:ext cx="2240280" cy="548640"/>
          </a:xfrm>
          <a:prstGeom prst="rect">
            <a:avLst/>
          </a:prstGeom>
          <a:noFill/>
          <a:ln/>
        </p:spPr>
        <p:txBody>
          <a:bodyPr wrap="square" lIns="0" tIns="0" rIns="0" bIns="0" rtlCol="0" anchor="t"/>
          <a:lstStyle/>
          <a:p>
            <a:pPr indent="0" marL="0">
              <a:buNone/>
            </a:pPr>
            <a:r>
              <a:rPr lang="en-US" sz="1200" dirty="0">
                <a:solidFill>
                  <a:schemeClr val="accent6"/>
                </a:solidFill>
              </a:rPr>
              <a:t>of runs fail (339 failures)</a:t>
            </a:r>
            <a:endParaRPr lang="en-US" sz="1200" dirty="0"/>
          </a:p>
        </p:txBody>
      </p:sp>
      <p:sp>
        <p:nvSpPr>
          <p:cNvPr id="12" name="Stat 4 card"/>
          <p:cNvSpPr/>
          <p:nvPr/>
        </p:nvSpPr>
        <p:spPr>
          <a:xfrm>
            <a:off x="9052560" y="1325880"/>
            <a:ext cx="2606040" cy="1417320"/>
          </a:xfrm>
          <a:prstGeom prst="roundRect">
            <a:avLst>
              <a:gd name="adj" fmla="val 7742"/>
            </a:avLst>
          </a:prstGeom>
          <a:solidFill>
            <a:schemeClr val="bg1"/>
          </a:solidFill>
          <a:ln w="9525">
            <a:solidFill>
              <a:srgbClr val="DCE3EC"/>
            </a:solidFill>
            <a:prstDash val="solid"/>
          </a:ln>
          <a:effectLst>
            <a:outerShdw sx="100000" sy="100000" kx="0" ky="0" algn="bl" rotWithShape="0" blurRad="127000" dist="25400" dir="5400000">
              <a:srgbClr val="0E1A2B">
                <a:alpha val="12000"/>
              </a:srgbClr>
            </a:outerShdw>
          </a:effectLst>
        </p:spPr>
      </p:sp>
      <p:sp>
        <p:nvSpPr>
          <p:cNvPr id="13" name="Stat 4 value"/>
          <p:cNvSpPr txBox="1"/>
          <p:nvPr/>
        </p:nvSpPr>
        <p:spPr>
          <a:xfrm>
            <a:off x="9281160" y="1444752"/>
            <a:ext cx="2194560" cy="640080"/>
          </a:xfrm>
          <a:prstGeom prst="rect">
            <a:avLst/>
          </a:prstGeom>
          <a:noFill/>
          <a:ln/>
        </p:spPr>
        <p:txBody>
          <a:bodyPr wrap="square" lIns="0" tIns="0" rIns="0" bIns="0" rtlCol="0" anchor="ctr"/>
          <a:lstStyle/>
          <a:p>
            <a:pPr indent="0" marL="0">
              <a:buNone/>
            </a:pPr>
            <a:r>
              <a:rPr lang="en-US" sz="3600" b="1" dirty="0">
                <a:solidFill>
                  <a:schemeClr val="accent2"/>
                </a:solidFill>
              </a:rPr>
              <a:t>28.5 : 1</a:t>
            </a:r>
            <a:endParaRPr lang="en-US" sz="3600" dirty="0"/>
          </a:p>
        </p:txBody>
      </p:sp>
      <p:sp>
        <p:nvSpPr>
          <p:cNvPr id="14" name="Stat 4 label"/>
          <p:cNvSpPr txBox="1"/>
          <p:nvPr/>
        </p:nvSpPr>
        <p:spPr>
          <a:xfrm>
            <a:off x="9281160" y="2103120"/>
            <a:ext cx="2240280" cy="548640"/>
          </a:xfrm>
          <a:prstGeom prst="rect">
            <a:avLst/>
          </a:prstGeom>
          <a:noFill/>
          <a:ln/>
        </p:spPr>
        <p:txBody>
          <a:bodyPr wrap="square" lIns="0" tIns="0" rIns="0" bIns="0" rtlCol="0" anchor="t"/>
          <a:lstStyle/>
          <a:p>
            <a:pPr indent="0" marL="0">
              <a:buNone/>
            </a:pPr>
            <a:r>
              <a:rPr lang="en-US" sz="1200" dirty="0">
                <a:solidFill>
                  <a:schemeClr val="accent6"/>
                </a:solidFill>
              </a:rPr>
              <a:t>healthy-to-failure ratio</a:t>
            </a:r>
            <a:endParaRPr lang="en-US" sz="1200" dirty="0"/>
          </a:p>
        </p:txBody>
      </p:sp>
      <p:sp>
        <p:nvSpPr>
          <p:cNvPr id="15" name="Failure types card"/>
          <p:cNvSpPr/>
          <p:nvPr/>
        </p:nvSpPr>
        <p:spPr>
          <a:xfrm>
            <a:off x="548640" y="3017520"/>
            <a:ext cx="6172200" cy="3154680"/>
          </a:xfrm>
          <a:prstGeom prst="roundRect">
            <a:avLst>
              <a:gd name="adj" fmla="val 3478"/>
            </a:avLst>
          </a:prstGeom>
          <a:solidFill>
            <a:schemeClr val="bg1"/>
          </a:solidFill>
          <a:ln w="9525">
            <a:solidFill>
              <a:srgbClr val="DCE3EC"/>
            </a:solidFill>
            <a:prstDash val="solid"/>
          </a:ln>
          <a:effectLst>
            <a:outerShdw sx="100000" sy="100000" kx="0" ky="0" algn="bl" rotWithShape="0" blurRad="127000" dist="25400" dir="5400000">
              <a:srgbClr val="0E1A2B">
                <a:alpha val="12000"/>
              </a:srgbClr>
            </a:outerShdw>
          </a:effectLst>
        </p:spPr>
      </p:sp>
      <p:graphicFrame>
        <p:nvGraphicFramePr>
          <p:cNvPr id="16" name="Failure types chart" descr=""/>
          <p:cNvGraphicFramePr/>
          <p:nvPr/>
        </p:nvGraphicFramePr>
        <p:xfrm>
          <a:off x="685800" y="3108960"/>
          <a:ext cx="5897880" cy="2971800"/>
        </p:xfrm>
        <a:graphic xmlns:a="http://schemas.openxmlformats.org/drawingml/2006/main">
          <a:graphicData uri="http://schemas.openxmlformats.org/drawingml/2006/chart">
            <c:chart xmlns:c="http://schemas.openxmlformats.org/drawingml/2006/chart" r:id="rId1"/>
          </a:graphicData>
        </a:graphic>
      </p:graphicFrame>
      <p:sp>
        <p:nvSpPr>
          <p:cNvPr id="17" name="Trap 1 card"/>
          <p:cNvSpPr/>
          <p:nvPr/>
        </p:nvSpPr>
        <p:spPr>
          <a:xfrm>
            <a:off x="6995160" y="3017520"/>
            <a:ext cx="4663440" cy="1481328"/>
          </a:xfrm>
          <a:prstGeom prst="roundRect">
            <a:avLst>
              <a:gd name="adj" fmla="val 7407"/>
            </a:avLst>
          </a:prstGeom>
          <a:solidFill>
            <a:schemeClr val="bg1"/>
          </a:solidFill>
          <a:ln w="9525">
            <a:solidFill>
              <a:srgbClr val="DCE3EC"/>
            </a:solidFill>
            <a:prstDash val="solid"/>
          </a:ln>
          <a:effectLst>
            <a:outerShdw sx="100000" sy="100000" kx="0" ky="0" algn="bl" rotWithShape="0" blurRad="127000" dist="25400" dir="5400000">
              <a:srgbClr val="0E1A2B">
                <a:alpha val="12000"/>
              </a:srgbClr>
            </a:outerShdw>
          </a:effectLst>
        </p:spPr>
      </p:sp>
      <p:sp>
        <p:nvSpPr>
          <p:cNvPr id="18" name="Trap 1 circle"/>
          <p:cNvSpPr/>
          <p:nvPr/>
        </p:nvSpPr>
        <p:spPr>
          <a:xfrm>
            <a:off x="7223760" y="3273552"/>
            <a:ext cx="603504" cy="603504"/>
          </a:xfrm>
          <a:prstGeom prst="ellipse">
            <a:avLst/>
          </a:prstGeom>
          <a:solidFill>
            <a:schemeClr val="accent2"/>
          </a:solidFill>
          <a:ln/>
        </p:spPr>
      </p:sp>
      <p:pic>
        <p:nvPicPr>
          <p:cNvPr id="19" name="Trap 1 icon" descr="preencoded.png">    </p:cNvPr>
          <p:cNvPicPr>
            <a:picLocks noChangeAspect="1"/>
          </p:cNvPicPr>
          <p:nvPr/>
        </p:nvPicPr>
        <p:blipFill>
          <a:blip r:embed="rId2"/>
          <a:stretch>
            <a:fillRect/>
          </a:stretch>
        </p:blipFill>
        <p:spPr>
          <a:xfrm>
            <a:off x="7380671" y="3430463"/>
            <a:ext cx="289682" cy="289682"/>
          </a:xfrm>
          <a:prstGeom prst="rect">
            <a:avLst/>
          </a:prstGeom>
        </p:spPr>
      </p:pic>
      <p:sp>
        <p:nvSpPr>
          <p:cNvPr id="20" name="Trap 1 text"/>
          <p:cNvSpPr txBox="1"/>
          <p:nvPr/>
        </p:nvSpPr>
        <p:spPr>
          <a:xfrm>
            <a:off x="8046720" y="3182112"/>
            <a:ext cx="3474720" cy="1188720"/>
          </a:xfrm>
          <a:prstGeom prst="rect">
            <a:avLst/>
          </a:prstGeom>
          <a:noFill/>
          <a:ln/>
        </p:spPr>
        <p:txBody>
          <a:bodyPr wrap="square" lIns="0" tIns="0" rIns="0" bIns="0" rtlCol="0" anchor="t"/>
          <a:lstStyle/>
          <a:p>
            <a:pPr indent="0" marL="0">
              <a:buNone/>
            </a:pPr>
            <a:r>
              <a:rPr lang="en-US" sz="1600" b="1" dirty="0">
                <a:solidFill>
                  <a:schemeClr val="tx1"/>
                </a:solidFill>
              </a:rPr>
              <a:t>Answer-giving columns removed</a:t>
            </a:r>
            <a:endParaRPr lang="en-US" sz="1600" dirty="0"/>
          </a:p>
          <a:p>
            <a:pPr indent="0" marL="0">
              <a:buNone/>
            </a:pPr>
            <a:r>
              <a:rPr lang="en-US" sz="1400" dirty="0">
                <a:solidFill>
                  <a:schemeClr val="accent6"/>
                </a:solidFill>
              </a:rPr>
              <a:t>Five columns record which failure happened. They give the answer away (data leakage), so the model never sees them.</a:t>
            </a:r>
            <a:endParaRPr lang="en-US" sz="1600" dirty="0"/>
          </a:p>
        </p:txBody>
      </p:sp>
      <p:sp>
        <p:nvSpPr>
          <p:cNvPr id="21" name="Trap 2 card"/>
          <p:cNvSpPr/>
          <p:nvPr/>
        </p:nvSpPr>
        <p:spPr>
          <a:xfrm>
            <a:off x="6995160" y="4663440"/>
            <a:ext cx="4663440" cy="1481328"/>
          </a:xfrm>
          <a:prstGeom prst="roundRect">
            <a:avLst>
              <a:gd name="adj" fmla="val 7407"/>
            </a:avLst>
          </a:prstGeom>
          <a:solidFill>
            <a:schemeClr val="bg1"/>
          </a:solidFill>
          <a:ln w="9525">
            <a:solidFill>
              <a:srgbClr val="DCE3EC"/>
            </a:solidFill>
            <a:prstDash val="solid"/>
          </a:ln>
          <a:effectLst>
            <a:outerShdw sx="100000" sy="100000" kx="0" ky="0" algn="bl" rotWithShape="0" blurRad="127000" dist="25400" dir="5400000">
              <a:srgbClr val="0E1A2B">
                <a:alpha val="12000"/>
              </a:srgbClr>
            </a:outerShdw>
          </a:effectLst>
        </p:spPr>
      </p:sp>
      <p:sp>
        <p:nvSpPr>
          <p:cNvPr id="22" name="Trap 2 circle"/>
          <p:cNvSpPr/>
          <p:nvPr/>
        </p:nvSpPr>
        <p:spPr>
          <a:xfrm>
            <a:off x="7223760" y="4919472"/>
            <a:ext cx="603504" cy="603504"/>
          </a:xfrm>
          <a:prstGeom prst="ellipse">
            <a:avLst/>
          </a:prstGeom>
          <a:solidFill>
            <a:schemeClr val="accent1"/>
          </a:solidFill>
          <a:ln/>
        </p:spPr>
      </p:sp>
      <p:pic>
        <p:nvPicPr>
          <p:cNvPr id="23" name="Trap 2 icon" descr="preencoded.png">    </p:cNvPr>
          <p:cNvPicPr>
            <a:picLocks noChangeAspect="1"/>
          </p:cNvPicPr>
          <p:nvPr/>
        </p:nvPicPr>
        <p:blipFill>
          <a:blip r:embed="rId3"/>
          <a:stretch>
            <a:fillRect/>
          </a:stretch>
        </p:blipFill>
        <p:spPr>
          <a:xfrm>
            <a:off x="7380671" y="5076383"/>
            <a:ext cx="289682" cy="289682"/>
          </a:xfrm>
          <a:prstGeom prst="rect">
            <a:avLst/>
          </a:prstGeom>
        </p:spPr>
      </p:pic>
      <p:sp>
        <p:nvSpPr>
          <p:cNvPr id="24" name="Trap 2 text"/>
          <p:cNvSpPr txBox="1"/>
          <p:nvPr/>
        </p:nvSpPr>
        <p:spPr>
          <a:xfrm>
            <a:off x="8046720" y="4828032"/>
            <a:ext cx="3474720" cy="1188720"/>
          </a:xfrm>
          <a:prstGeom prst="rect">
            <a:avLst/>
          </a:prstGeom>
          <a:noFill/>
          <a:ln/>
        </p:spPr>
        <p:txBody>
          <a:bodyPr wrap="square" lIns="0" tIns="0" rIns="0" bIns="0" rtlCol="0" anchor="t"/>
          <a:lstStyle/>
          <a:p>
            <a:pPr indent="0" marL="0">
              <a:buNone/>
            </a:pPr>
            <a:r>
              <a:rPr lang="en-US" sz="1600" b="1" dirty="0">
                <a:solidFill>
                  <a:schemeClr val="tx1"/>
                </a:solidFill>
              </a:rPr>
              <a:t>Rare failures handled</a:t>
            </a:r>
            <a:endParaRPr lang="en-US" sz="1600" dirty="0"/>
          </a:p>
          <a:p>
            <a:pPr indent="0" marL="0">
              <a:buNone/>
            </a:pPr>
            <a:r>
              <a:rPr lang="en-US" sz="1400" dirty="0">
                <a:solidFill>
                  <a:schemeClr val="accent6"/>
                </a:solidFill>
              </a:rPr>
              <a:t>Always saying “no failure” is 96.6% accurate but useless, so we score how well failures are found (PR-AUC).</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Workflow: from raw data to safe operating ranges</a:t>
            </a:r>
            <a:endParaRPr lang="en-US" sz="3200" dirty="0"/>
          </a:p>
        </p:txBody>
      </p:sp>
      <p:sp>
        <p:nvSpPr>
          <p:cNvPr id="3" name="Step 1 card"/>
          <p:cNvSpPr/>
          <p:nvPr/>
        </p:nvSpPr>
        <p:spPr>
          <a:xfrm>
            <a:off x="548640" y="1371600"/>
            <a:ext cx="3429000" cy="2011680"/>
          </a:xfrm>
          <a:prstGeom prst="roundRect">
            <a:avLst>
              <a:gd name="adj" fmla="val 5455"/>
            </a:avLst>
          </a:prstGeom>
          <a:solidFill>
            <a:schemeClr val="bg1"/>
          </a:solidFill>
          <a:ln w="9525">
            <a:solidFill>
              <a:srgbClr val="DCE3EC"/>
            </a:solidFill>
            <a:prstDash val="solid"/>
          </a:ln>
          <a:effectLst>
            <a:outerShdw sx="100000" sy="100000" kx="0" ky="0" algn="bl" rotWithShape="0" blurRad="127000" dist="25400" dir="5400000">
              <a:srgbClr val="0E1A2B">
                <a:alpha val="12000"/>
              </a:srgbClr>
            </a:outerShdw>
          </a:effectLst>
        </p:spPr>
      </p:sp>
      <p:sp>
        <p:nvSpPr>
          <p:cNvPr id="4" name="Step 1 number"/>
          <p:cNvSpPr/>
          <p:nvPr/>
        </p:nvSpPr>
        <p:spPr>
          <a:xfrm>
            <a:off x="777240" y="1600200"/>
            <a:ext cx="457200" cy="457200"/>
          </a:xfrm>
          <a:prstGeom prst="ellipse">
            <a:avLst/>
          </a:prstGeom>
          <a:solidFill>
            <a:schemeClr val="accent2"/>
          </a:solidFill>
          <a:ln/>
        </p:spPr>
      </p:sp>
      <p:sp>
        <p:nvSpPr>
          <p:cNvPr id="5" name="Step 1 number number"/>
          <p:cNvSpPr txBox="1"/>
          <p:nvPr/>
        </p:nvSpPr>
        <p:spPr>
          <a:xfrm>
            <a:off x="77724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Step 1 circle"/>
          <p:cNvSpPr/>
          <p:nvPr/>
        </p:nvSpPr>
        <p:spPr>
          <a:xfrm>
            <a:off x="3291840" y="1572768"/>
            <a:ext cx="512064" cy="512064"/>
          </a:xfrm>
          <a:prstGeom prst="ellipse">
            <a:avLst/>
          </a:prstGeom>
          <a:solidFill>
            <a:schemeClr val="bg2"/>
          </a:solidFill>
          <a:ln/>
        </p:spPr>
      </p:sp>
      <p:pic>
        <p:nvPicPr>
          <p:cNvPr id="7" name="Step 1 icon" descr="preencoded.png">    </p:cNvPr>
          <p:cNvPicPr>
            <a:picLocks noChangeAspect="1"/>
          </p:cNvPicPr>
          <p:nvPr/>
        </p:nvPicPr>
        <p:blipFill>
          <a:blip r:embed="rId1"/>
          <a:stretch>
            <a:fillRect/>
          </a:stretch>
        </p:blipFill>
        <p:spPr>
          <a:xfrm>
            <a:off x="3424977" y="1705905"/>
            <a:ext cx="245791" cy="245791"/>
          </a:xfrm>
          <a:prstGeom prst="rect">
            <a:avLst/>
          </a:prstGeom>
        </p:spPr>
      </p:pic>
      <p:sp>
        <p:nvSpPr>
          <p:cNvPr id="8" name="Step 1 text"/>
          <p:cNvSpPr txBox="1"/>
          <p:nvPr/>
        </p:nvSpPr>
        <p:spPr>
          <a:xfrm>
            <a:off x="777240" y="2212848"/>
            <a:ext cx="3017520" cy="1097280"/>
          </a:xfrm>
          <a:prstGeom prst="rect">
            <a:avLst/>
          </a:prstGeom>
          <a:noFill/>
          <a:ln/>
        </p:spPr>
        <p:txBody>
          <a:bodyPr wrap="square" lIns="0" tIns="0" rIns="0" bIns="0" rtlCol="0" anchor="t"/>
          <a:lstStyle/>
          <a:p>
            <a:pPr indent="0" marL="0">
              <a:buNone/>
            </a:pPr>
            <a:r>
              <a:rPr lang="en-US" sz="1800" b="1" dirty="0">
                <a:solidFill>
                  <a:schemeClr val="tx1"/>
                </a:solidFill>
              </a:rPr>
              <a:t>Check the data</a:t>
            </a:r>
            <a:endParaRPr lang="en-US" sz="1800" dirty="0"/>
          </a:p>
          <a:p>
            <a:pPr indent="0" marL="0">
              <a:buNone/>
            </a:pPr>
            <a:r>
              <a:rPr lang="en-US" sz="1400" dirty="0">
                <a:solidFill>
                  <a:schemeClr val="accent6"/>
                </a:solidFill>
              </a:rPr>
              <a:t>Explore it, and remove the columns that give the answer away</a:t>
            </a:r>
            <a:endParaRPr lang="en-US" sz="1800" dirty="0"/>
          </a:p>
        </p:txBody>
      </p:sp>
      <p:sp>
        <p:nvSpPr>
          <p:cNvPr id="9" name="Arrow 1"/>
          <p:cNvSpPr/>
          <p:nvPr/>
        </p:nvSpPr>
        <p:spPr>
          <a:xfrm>
            <a:off x="4041648" y="2240280"/>
            <a:ext cx="274320" cy="274320"/>
          </a:xfrm>
          <a:prstGeom prst="rightArrow">
            <a:avLst/>
          </a:prstGeom>
          <a:solidFill>
            <a:schemeClr val="accent2"/>
          </a:solidFill>
          <a:ln/>
        </p:spPr>
      </p:sp>
      <p:sp>
        <p:nvSpPr>
          <p:cNvPr id="10" name="Step 2 card"/>
          <p:cNvSpPr/>
          <p:nvPr/>
        </p:nvSpPr>
        <p:spPr>
          <a:xfrm>
            <a:off x="4361688" y="1371600"/>
            <a:ext cx="3429000" cy="2011680"/>
          </a:xfrm>
          <a:prstGeom prst="roundRect">
            <a:avLst>
              <a:gd name="adj" fmla="val 5455"/>
            </a:avLst>
          </a:prstGeom>
          <a:solidFill>
            <a:schemeClr val="bg1"/>
          </a:solidFill>
          <a:ln w="9525">
            <a:solidFill>
              <a:srgbClr val="DCE3EC"/>
            </a:solidFill>
            <a:prstDash val="solid"/>
          </a:ln>
          <a:effectLst>
            <a:outerShdw sx="100000" sy="100000" kx="0" ky="0" algn="bl" rotWithShape="0" blurRad="127000" dist="25400" dir="5400000">
              <a:srgbClr val="0E1A2B">
                <a:alpha val="12000"/>
              </a:srgbClr>
            </a:outerShdw>
          </a:effectLst>
        </p:spPr>
      </p:sp>
      <p:sp>
        <p:nvSpPr>
          <p:cNvPr id="11" name="Step 2 number"/>
          <p:cNvSpPr/>
          <p:nvPr/>
        </p:nvSpPr>
        <p:spPr>
          <a:xfrm>
            <a:off x="4590288" y="1600200"/>
            <a:ext cx="457200" cy="457200"/>
          </a:xfrm>
          <a:prstGeom prst="ellipse">
            <a:avLst/>
          </a:prstGeom>
          <a:solidFill>
            <a:schemeClr val="accent2"/>
          </a:solidFill>
          <a:ln/>
        </p:spPr>
      </p:sp>
      <p:sp>
        <p:nvSpPr>
          <p:cNvPr id="12" name="Step 2 number number"/>
          <p:cNvSpPr txBox="1"/>
          <p:nvPr/>
        </p:nvSpPr>
        <p:spPr>
          <a:xfrm>
            <a:off x="4590288"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Step 2 circle"/>
          <p:cNvSpPr/>
          <p:nvPr/>
        </p:nvSpPr>
        <p:spPr>
          <a:xfrm>
            <a:off x="7104888" y="1572768"/>
            <a:ext cx="512064" cy="512064"/>
          </a:xfrm>
          <a:prstGeom prst="ellipse">
            <a:avLst/>
          </a:prstGeom>
          <a:solidFill>
            <a:schemeClr val="bg2"/>
          </a:solidFill>
          <a:ln/>
        </p:spPr>
      </p:sp>
      <p:pic>
        <p:nvPicPr>
          <p:cNvPr id="14" name="Step 2 icon" descr="preencoded.png">    </p:cNvPr>
          <p:cNvPicPr>
            <a:picLocks noChangeAspect="1"/>
          </p:cNvPicPr>
          <p:nvPr/>
        </p:nvPicPr>
        <p:blipFill>
          <a:blip r:embed="rId2"/>
          <a:stretch>
            <a:fillRect/>
          </a:stretch>
        </p:blipFill>
        <p:spPr>
          <a:xfrm>
            <a:off x="7238025" y="1705905"/>
            <a:ext cx="245791" cy="245791"/>
          </a:xfrm>
          <a:prstGeom prst="rect">
            <a:avLst/>
          </a:prstGeom>
        </p:spPr>
      </p:pic>
      <p:sp>
        <p:nvSpPr>
          <p:cNvPr id="15" name="Step 2 text"/>
          <p:cNvSpPr txBox="1"/>
          <p:nvPr/>
        </p:nvSpPr>
        <p:spPr>
          <a:xfrm>
            <a:off x="4590288" y="2212848"/>
            <a:ext cx="3017520" cy="1097280"/>
          </a:xfrm>
          <a:prstGeom prst="rect">
            <a:avLst/>
          </a:prstGeom>
          <a:noFill/>
          <a:ln/>
        </p:spPr>
        <p:txBody>
          <a:bodyPr wrap="square" lIns="0" tIns="0" rIns="0" bIns="0" rtlCol="0" anchor="t"/>
          <a:lstStyle/>
          <a:p>
            <a:pPr indent="0" marL="0">
              <a:buNone/>
            </a:pPr>
            <a:r>
              <a:rPr lang="en-US" sz="1800" b="1" dirty="0">
                <a:solidFill>
                  <a:schemeClr val="tx1"/>
                </a:solidFill>
              </a:rPr>
              <a:t>Add physics features</a:t>
            </a:r>
            <a:endParaRPr lang="en-US" sz="1800" dirty="0"/>
          </a:p>
          <a:p>
            <a:pPr indent="0" marL="0">
              <a:buNone/>
            </a:pPr>
            <a:r>
              <a:rPr lang="en-US" sz="1400" dirty="0">
                <a:solidFill>
                  <a:schemeClr val="accent6"/>
                </a:solidFill>
              </a:rPr>
              <a:t>Power, temperature gap, and wear × torque</a:t>
            </a:r>
            <a:endParaRPr lang="en-US" sz="1800" dirty="0"/>
          </a:p>
        </p:txBody>
      </p:sp>
      <p:sp>
        <p:nvSpPr>
          <p:cNvPr id="16" name="Arrow 2"/>
          <p:cNvSpPr/>
          <p:nvPr/>
        </p:nvSpPr>
        <p:spPr>
          <a:xfrm>
            <a:off x="7854696" y="2240280"/>
            <a:ext cx="274320" cy="274320"/>
          </a:xfrm>
          <a:prstGeom prst="rightArrow">
            <a:avLst/>
          </a:prstGeom>
          <a:solidFill>
            <a:schemeClr val="accent2"/>
          </a:solidFill>
          <a:ln/>
        </p:spPr>
      </p:sp>
      <p:sp>
        <p:nvSpPr>
          <p:cNvPr id="17" name="Step 3 card"/>
          <p:cNvSpPr/>
          <p:nvPr/>
        </p:nvSpPr>
        <p:spPr>
          <a:xfrm>
            <a:off x="8174736" y="1371600"/>
            <a:ext cx="3429000" cy="2011680"/>
          </a:xfrm>
          <a:prstGeom prst="roundRect">
            <a:avLst>
              <a:gd name="adj" fmla="val 5455"/>
            </a:avLst>
          </a:prstGeom>
          <a:solidFill>
            <a:schemeClr val="bg1"/>
          </a:solidFill>
          <a:ln w="9525">
            <a:solidFill>
              <a:srgbClr val="DCE3EC"/>
            </a:solidFill>
            <a:prstDash val="solid"/>
          </a:ln>
          <a:effectLst>
            <a:outerShdw sx="100000" sy="100000" kx="0" ky="0" algn="bl" rotWithShape="0" blurRad="127000" dist="25400" dir="5400000">
              <a:srgbClr val="0E1A2B">
                <a:alpha val="12000"/>
              </a:srgbClr>
            </a:outerShdw>
          </a:effectLst>
        </p:spPr>
      </p:sp>
      <p:sp>
        <p:nvSpPr>
          <p:cNvPr id="18" name="Step 3 number"/>
          <p:cNvSpPr/>
          <p:nvPr/>
        </p:nvSpPr>
        <p:spPr>
          <a:xfrm>
            <a:off x="8403336" y="1600200"/>
            <a:ext cx="457200" cy="457200"/>
          </a:xfrm>
          <a:prstGeom prst="ellipse">
            <a:avLst/>
          </a:prstGeom>
          <a:solidFill>
            <a:schemeClr val="accent2"/>
          </a:solidFill>
          <a:ln/>
        </p:spPr>
      </p:sp>
      <p:sp>
        <p:nvSpPr>
          <p:cNvPr id="19" name="Step 3 number number"/>
          <p:cNvSpPr txBox="1"/>
          <p:nvPr/>
        </p:nvSpPr>
        <p:spPr>
          <a:xfrm>
            <a:off x="8403336"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0" name="Step 3 circle"/>
          <p:cNvSpPr/>
          <p:nvPr/>
        </p:nvSpPr>
        <p:spPr>
          <a:xfrm>
            <a:off x="10917936" y="1572768"/>
            <a:ext cx="512064" cy="512064"/>
          </a:xfrm>
          <a:prstGeom prst="ellipse">
            <a:avLst/>
          </a:prstGeom>
          <a:solidFill>
            <a:schemeClr val="bg2"/>
          </a:solidFill>
          <a:ln/>
        </p:spPr>
      </p:sp>
      <p:pic>
        <p:nvPicPr>
          <p:cNvPr id="21" name="Step 3 icon" descr="preencoded.png">    </p:cNvPr>
          <p:cNvPicPr>
            <a:picLocks noChangeAspect="1"/>
          </p:cNvPicPr>
          <p:nvPr/>
        </p:nvPicPr>
        <p:blipFill>
          <a:blip r:embed="rId3"/>
          <a:stretch>
            <a:fillRect/>
          </a:stretch>
        </p:blipFill>
        <p:spPr>
          <a:xfrm>
            <a:off x="11051073" y="1705905"/>
            <a:ext cx="245791" cy="245791"/>
          </a:xfrm>
          <a:prstGeom prst="rect">
            <a:avLst/>
          </a:prstGeom>
        </p:spPr>
      </p:pic>
      <p:sp>
        <p:nvSpPr>
          <p:cNvPr id="22" name="Step 3 text"/>
          <p:cNvSpPr txBox="1"/>
          <p:nvPr/>
        </p:nvSpPr>
        <p:spPr>
          <a:xfrm>
            <a:off x="8403336" y="2212848"/>
            <a:ext cx="3017520" cy="1097280"/>
          </a:xfrm>
          <a:prstGeom prst="rect">
            <a:avLst/>
          </a:prstGeom>
          <a:noFill/>
          <a:ln/>
        </p:spPr>
        <p:txBody>
          <a:bodyPr wrap="square" lIns="0" tIns="0" rIns="0" bIns="0" rtlCol="0" anchor="t"/>
          <a:lstStyle/>
          <a:p>
            <a:pPr indent="0" marL="0">
              <a:buNone/>
            </a:pPr>
            <a:r>
              <a:rPr lang="en-US" sz="1800" b="1" dirty="0">
                <a:solidFill>
                  <a:schemeClr val="tx1"/>
                </a:solidFill>
              </a:rPr>
              <a:t>Balance the data</a:t>
            </a:r>
            <a:endParaRPr lang="en-US" sz="1800" dirty="0"/>
          </a:p>
          <a:p>
            <a:pPr indent="0" marL="0">
              <a:buNone/>
            </a:pPr>
            <a:r>
              <a:rPr lang="en-US" sz="1400" dirty="0">
                <a:solidFill>
                  <a:schemeClr val="accent6"/>
                </a:solidFill>
              </a:rPr>
              <a:t>Create extra failure examples (SMOTE), only from training data</a:t>
            </a:r>
            <a:endParaRPr lang="en-US" sz="1800" dirty="0"/>
          </a:p>
        </p:txBody>
      </p:sp>
      <p:sp>
        <p:nvSpPr>
          <p:cNvPr id="23" name="Step 4 card"/>
          <p:cNvSpPr/>
          <p:nvPr/>
        </p:nvSpPr>
        <p:spPr>
          <a:xfrm>
            <a:off x="548640" y="3749040"/>
            <a:ext cx="3429000" cy="2011680"/>
          </a:xfrm>
          <a:prstGeom prst="roundRect">
            <a:avLst>
              <a:gd name="adj" fmla="val 5455"/>
            </a:avLst>
          </a:prstGeom>
          <a:solidFill>
            <a:schemeClr val="bg1"/>
          </a:solidFill>
          <a:ln w="9525">
            <a:solidFill>
              <a:srgbClr val="DCE3EC"/>
            </a:solidFill>
            <a:prstDash val="solid"/>
          </a:ln>
          <a:effectLst>
            <a:outerShdw sx="100000" sy="100000" kx="0" ky="0" algn="bl" rotWithShape="0" blurRad="127000" dist="25400" dir="5400000">
              <a:srgbClr val="0E1A2B">
                <a:alpha val="12000"/>
              </a:srgbClr>
            </a:outerShdw>
          </a:effectLst>
        </p:spPr>
      </p:sp>
      <p:sp>
        <p:nvSpPr>
          <p:cNvPr id="24" name="Step 4 number"/>
          <p:cNvSpPr/>
          <p:nvPr/>
        </p:nvSpPr>
        <p:spPr>
          <a:xfrm>
            <a:off x="777240" y="3977640"/>
            <a:ext cx="457200" cy="457200"/>
          </a:xfrm>
          <a:prstGeom prst="ellipse">
            <a:avLst/>
          </a:prstGeom>
          <a:solidFill>
            <a:schemeClr val="accent2"/>
          </a:solidFill>
          <a:ln/>
        </p:spPr>
      </p:sp>
      <p:sp>
        <p:nvSpPr>
          <p:cNvPr id="25" name="Step 4 number number"/>
          <p:cNvSpPr txBox="1"/>
          <p:nvPr/>
        </p:nvSpPr>
        <p:spPr>
          <a:xfrm>
            <a:off x="777240" y="3977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6" name="Step 4 circle"/>
          <p:cNvSpPr/>
          <p:nvPr/>
        </p:nvSpPr>
        <p:spPr>
          <a:xfrm>
            <a:off x="3291840" y="3950208"/>
            <a:ext cx="512064" cy="512064"/>
          </a:xfrm>
          <a:prstGeom prst="ellipse">
            <a:avLst/>
          </a:prstGeom>
          <a:solidFill>
            <a:schemeClr val="bg2"/>
          </a:solidFill>
          <a:ln/>
        </p:spPr>
      </p:sp>
      <p:pic>
        <p:nvPicPr>
          <p:cNvPr id="27" name="Step 4 icon" descr="preencoded.png">    </p:cNvPr>
          <p:cNvPicPr>
            <a:picLocks noChangeAspect="1"/>
          </p:cNvPicPr>
          <p:nvPr/>
        </p:nvPicPr>
        <p:blipFill>
          <a:blip r:embed="rId4"/>
          <a:stretch>
            <a:fillRect/>
          </a:stretch>
        </p:blipFill>
        <p:spPr>
          <a:xfrm>
            <a:off x="3424977" y="4083345"/>
            <a:ext cx="245791" cy="245791"/>
          </a:xfrm>
          <a:prstGeom prst="rect">
            <a:avLst/>
          </a:prstGeom>
        </p:spPr>
      </p:pic>
      <p:sp>
        <p:nvSpPr>
          <p:cNvPr id="28" name="Step 4 text"/>
          <p:cNvSpPr txBox="1"/>
          <p:nvPr/>
        </p:nvSpPr>
        <p:spPr>
          <a:xfrm>
            <a:off x="777240" y="4590288"/>
            <a:ext cx="3017520" cy="1097280"/>
          </a:xfrm>
          <a:prstGeom prst="rect">
            <a:avLst/>
          </a:prstGeom>
          <a:noFill/>
          <a:ln/>
        </p:spPr>
        <p:txBody>
          <a:bodyPr wrap="square" lIns="0" tIns="0" rIns="0" bIns="0" rtlCol="0" anchor="t"/>
          <a:lstStyle/>
          <a:p>
            <a:pPr indent="0" marL="0">
              <a:buNone/>
            </a:pPr>
            <a:r>
              <a:rPr lang="en-US" sz="1800" b="1" dirty="0">
                <a:solidFill>
                  <a:schemeClr val="tx1"/>
                </a:solidFill>
              </a:rPr>
              <a:t>Compare 3 models</a:t>
            </a:r>
            <a:endParaRPr lang="en-US" sz="1800" dirty="0"/>
          </a:p>
          <a:p>
            <a:pPr indent="0" marL="0">
              <a:buNone/>
            </a:pPr>
            <a:r>
              <a:rPr lang="en-US" sz="1400" dirty="0">
                <a:solidFill>
                  <a:schemeClr val="accent6"/>
                </a:solidFill>
              </a:rPr>
              <a:t>Each tested 5 times on data it never saw (cross-validation)</a:t>
            </a:r>
            <a:endParaRPr lang="en-US" sz="1800" dirty="0"/>
          </a:p>
        </p:txBody>
      </p:sp>
      <p:sp>
        <p:nvSpPr>
          <p:cNvPr id="29" name="Arrow 4"/>
          <p:cNvSpPr/>
          <p:nvPr/>
        </p:nvSpPr>
        <p:spPr>
          <a:xfrm>
            <a:off x="4041648" y="4617720"/>
            <a:ext cx="274320" cy="274320"/>
          </a:xfrm>
          <a:prstGeom prst="rightArrow">
            <a:avLst/>
          </a:prstGeom>
          <a:solidFill>
            <a:schemeClr val="accent2"/>
          </a:solidFill>
          <a:ln/>
        </p:spPr>
      </p:sp>
      <p:sp>
        <p:nvSpPr>
          <p:cNvPr id="30" name="Step 5 card"/>
          <p:cNvSpPr/>
          <p:nvPr/>
        </p:nvSpPr>
        <p:spPr>
          <a:xfrm>
            <a:off x="4361688" y="3749040"/>
            <a:ext cx="3429000" cy="2011680"/>
          </a:xfrm>
          <a:prstGeom prst="roundRect">
            <a:avLst>
              <a:gd name="adj" fmla="val 5455"/>
            </a:avLst>
          </a:prstGeom>
          <a:solidFill>
            <a:schemeClr val="bg1"/>
          </a:solidFill>
          <a:ln w="9525">
            <a:solidFill>
              <a:srgbClr val="DCE3EC"/>
            </a:solidFill>
            <a:prstDash val="solid"/>
          </a:ln>
          <a:effectLst>
            <a:outerShdw sx="100000" sy="100000" kx="0" ky="0" algn="bl" rotWithShape="0" blurRad="127000" dist="25400" dir="5400000">
              <a:srgbClr val="0E1A2B">
                <a:alpha val="12000"/>
              </a:srgbClr>
            </a:outerShdw>
          </a:effectLst>
        </p:spPr>
      </p:sp>
      <p:sp>
        <p:nvSpPr>
          <p:cNvPr id="31" name="Step 5 number"/>
          <p:cNvSpPr/>
          <p:nvPr/>
        </p:nvSpPr>
        <p:spPr>
          <a:xfrm>
            <a:off x="4590288" y="3977640"/>
            <a:ext cx="457200" cy="457200"/>
          </a:xfrm>
          <a:prstGeom prst="ellipse">
            <a:avLst/>
          </a:prstGeom>
          <a:solidFill>
            <a:schemeClr val="accent2"/>
          </a:solidFill>
          <a:ln/>
        </p:spPr>
      </p:sp>
      <p:sp>
        <p:nvSpPr>
          <p:cNvPr id="32" name="Step 5 number number"/>
          <p:cNvSpPr txBox="1"/>
          <p:nvPr/>
        </p:nvSpPr>
        <p:spPr>
          <a:xfrm>
            <a:off x="4590288" y="3977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3" name="Step 5 circle"/>
          <p:cNvSpPr/>
          <p:nvPr/>
        </p:nvSpPr>
        <p:spPr>
          <a:xfrm>
            <a:off x="7104888" y="3950208"/>
            <a:ext cx="512064" cy="512064"/>
          </a:xfrm>
          <a:prstGeom prst="ellipse">
            <a:avLst/>
          </a:prstGeom>
          <a:solidFill>
            <a:schemeClr val="bg2"/>
          </a:solidFill>
          <a:ln/>
        </p:spPr>
      </p:sp>
      <p:pic>
        <p:nvPicPr>
          <p:cNvPr id="34" name="Step 5 icon" descr="preencoded.png">    </p:cNvPr>
          <p:cNvPicPr>
            <a:picLocks noChangeAspect="1"/>
          </p:cNvPicPr>
          <p:nvPr/>
        </p:nvPicPr>
        <p:blipFill>
          <a:blip r:embed="rId5"/>
          <a:stretch>
            <a:fillRect/>
          </a:stretch>
        </p:blipFill>
        <p:spPr>
          <a:xfrm>
            <a:off x="7238025" y="4083345"/>
            <a:ext cx="245791" cy="245791"/>
          </a:xfrm>
          <a:prstGeom prst="rect">
            <a:avLst/>
          </a:prstGeom>
        </p:spPr>
      </p:pic>
      <p:sp>
        <p:nvSpPr>
          <p:cNvPr id="35" name="Step 5 text"/>
          <p:cNvSpPr txBox="1"/>
          <p:nvPr/>
        </p:nvSpPr>
        <p:spPr>
          <a:xfrm>
            <a:off x="4590288" y="4590288"/>
            <a:ext cx="3017520" cy="1097280"/>
          </a:xfrm>
          <a:prstGeom prst="rect">
            <a:avLst/>
          </a:prstGeom>
          <a:noFill/>
          <a:ln/>
        </p:spPr>
        <p:txBody>
          <a:bodyPr wrap="square" lIns="0" tIns="0" rIns="0" bIns="0" rtlCol="0" anchor="t"/>
          <a:lstStyle/>
          <a:p>
            <a:pPr indent="0" marL="0">
              <a:buNone/>
            </a:pPr>
            <a:r>
              <a:rPr lang="en-US" sz="1800" b="1" dirty="0">
                <a:solidFill>
                  <a:schemeClr val="tx1"/>
                </a:solidFill>
              </a:rPr>
              <a:t>Tune and set the alarm</a:t>
            </a:r>
            <a:endParaRPr lang="en-US" sz="1800" dirty="0"/>
          </a:p>
          <a:p>
            <a:pPr indent="0" marL="0">
              <a:buNone/>
            </a:pPr>
            <a:r>
              <a:rPr lang="en-US" sz="1400" dirty="0">
                <a:solidFill>
                  <a:schemeClr val="accent6"/>
                </a:solidFill>
              </a:rPr>
              <a:t>Best settings found; alarm set to catch about 9 in 10 failures</a:t>
            </a:r>
            <a:endParaRPr lang="en-US" sz="1800" dirty="0"/>
          </a:p>
        </p:txBody>
      </p:sp>
      <p:sp>
        <p:nvSpPr>
          <p:cNvPr id="36" name="Arrow 5"/>
          <p:cNvSpPr/>
          <p:nvPr/>
        </p:nvSpPr>
        <p:spPr>
          <a:xfrm>
            <a:off x="7854696" y="4617720"/>
            <a:ext cx="274320" cy="274320"/>
          </a:xfrm>
          <a:prstGeom prst="rightArrow">
            <a:avLst/>
          </a:prstGeom>
          <a:solidFill>
            <a:schemeClr val="accent2"/>
          </a:solidFill>
          <a:ln/>
        </p:spPr>
      </p:sp>
      <p:sp>
        <p:nvSpPr>
          <p:cNvPr id="37" name="Step 6 card"/>
          <p:cNvSpPr/>
          <p:nvPr/>
        </p:nvSpPr>
        <p:spPr>
          <a:xfrm>
            <a:off x="8174736" y="3749040"/>
            <a:ext cx="3429000" cy="2011680"/>
          </a:xfrm>
          <a:prstGeom prst="roundRect">
            <a:avLst>
              <a:gd name="adj" fmla="val 5455"/>
            </a:avLst>
          </a:prstGeom>
          <a:solidFill>
            <a:schemeClr val="bg1"/>
          </a:solidFill>
          <a:ln w="9525">
            <a:solidFill>
              <a:srgbClr val="DCE3EC"/>
            </a:solidFill>
            <a:prstDash val="solid"/>
          </a:ln>
          <a:effectLst>
            <a:outerShdw sx="100000" sy="100000" kx="0" ky="0" algn="bl" rotWithShape="0" blurRad="127000" dist="25400" dir="5400000">
              <a:srgbClr val="0E1A2B">
                <a:alpha val="12000"/>
              </a:srgbClr>
            </a:outerShdw>
          </a:effectLst>
        </p:spPr>
      </p:sp>
      <p:sp>
        <p:nvSpPr>
          <p:cNvPr id="38" name="Step 6 number"/>
          <p:cNvSpPr/>
          <p:nvPr/>
        </p:nvSpPr>
        <p:spPr>
          <a:xfrm>
            <a:off x="8403336" y="3977640"/>
            <a:ext cx="457200" cy="457200"/>
          </a:xfrm>
          <a:prstGeom prst="ellipse">
            <a:avLst/>
          </a:prstGeom>
          <a:solidFill>
            <a:schemeClr val="accent2"/>
          </a:solidFill>
          <a:ln/>
        </p:spPr>
      </p:sp>
      <p:sp>
        <p:nvSpPr>
          <p:cNvPr id="39" name="Step 6 number number"/>
          <p:cNvSpPr txBox="1"/>
          <p:nvPr/>
        </p:nvSpPr>
        <p:spPr>
          <a:xfrm>
            <a:off x="8403336" y="3977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40" name="Step 6 circle"/>
          <p:cNvSpPr/>
          <p:nvPr/>
        </p:nvSpPr>
        <p:spPr>
          <a:xfrm>
            <a:off x="10917936" y="3950208"/>
            <a:ext cx="512064" cy="512064"/>
          </a:xfrm>
          <a:prstGeom prst="ellipse">
            <a:avLst/>
          </a:prstGeom>
          <a:solidFill>
            <a:schemeClr val="bg2"/>
          </a:solidFill>
          <a:ln/>
        </p:spPr>
      </p:sp>
      <p:pic>
        <p:nvPicPr>
          <p:cNvPr id="41" name="Step 6 icon" descr="preencoded.png">    </p:cNvPr>
          <p:cNvPicPr>
            <a:picLocks noChangeAspect="1"/>
          </p:cNvPicPr>
          <p:nvPr/>
        </p:nvPicPr>
        <p:blipFill>
          <a:blip r:embed="rId6"/>
          <a:stretch>
            <a:fillRect/>
          </a:stretch>
        </p:blipFill>
        <p:spPr>
          <a:xfrm>
            <a:off x="11051073" y="4083345"/>
            <a:ext cx="245791" cy="245791"/>
          </a:xfrm>
          <a:prstGeom prst="rect">
            <a:avLst/>
          </a:prstGeom>
        </p:spPr>
      </p:pic>
      <p:sp>
        <p:nvSpPr>
          <p:cNvPr id="42" name="Step 6 text"/>
          <p:cNvSpPr txBox="1"/>
          <p:nvPr/>
        </p:nvSpPr>
        <p:spPr>
          <a:xfrm>
            <a:off x="8403336" y="4590288"/>
            <a:ext cx="3017520" cy="1097280"/>
          </a:xfrm>
          <a:prstGeom prst="rect">
            <a:avLst/>
          </a:prstGeom>
          <a:noFill/>
          <a:ln/>
        </p:spPr>
        <p:txBody>
          <a:bodyPr wrap="square" lIns="0" tIns="0" rIns="0" bIns="0" rtlCol="0" anchor="t"/>
          <a:lstStyle/>
          <a:p>
            <a:pPr indent="0" marL="0">
              <a:buNone/>
            </a:pPr>
            <a:r>
              <a:rPr lang="en-US" sz="1800" b="1" dirty="0">
                <a:solidFill>
                  <a:schemeClr val="tx1"/>
                </a:solidFill>
              </a:rPr>
              <a:t>Explain and recommend</a:t>
            </a:r>
            <a:endParaRPr lang="en-US" sz="1800" dirty="0"/>
          </a:p>
          <a:p>
            <a:pPr indent="0" marL="0">
              <a:buNone/>
            </a:pPr>
            <a:r>
              <a:rPr lang="en-US" sz="1400" dirty="0">
                <a:solidFill>
                  <a:schemeClr val="accent6"/>
                </a:solidFill>
              </a:rPr>
              <a:t>Show why each prediction was made (SHAP), then find safe settings</a:t>
            </a:r>
            <a:endParaRPr lang="en-US" sz="1800" dirty="0"/>
          </a:p>
        </p:txBody>
      </p:sp>
      <p:sp>
        <p:nvSpPr>
          <p:cNvPr id="43" name="Method note"/>
          <p:cNvSpPr txBox="1"/>
          <p:nvPr/>
        </p:nvSpPr>
        <p:spPr>
          <a:xfrm>
            <a:off x="548640" y="5943600"/>
            <a:ext cx="11064240" cy="320040"/>
          </a:xfrm>
          <a:prstGeom prst="rect">
            <a:avLst/>
          </a:prstGeom>
          <a:noFill/>
          <a:ln/>
        </p:spPr>
        <p:txBody>
          <a:bodyPr wrap="square" lIns="0" tIns="0" rIns="0" bIns="0" rtlCol="0" anchor="ctr"/>
          <a:lstStyle/>
          <a:p>
            <a:pPr indent="0" marL="0">
              <a:buNone/>
            </a:pPr>
            <a:r>
              <a:rPr lang="en-US" sz="1300" i="1" dirty="0">
                <a:solidFill>
                  <a:schemeClr val="accent6"/>
                </a:solidFill>
              </a:rPr>
              <a:t>Main score: PR-AUC, how well real failures are found   ·   every result is averaged over 5 tests   ·   fully repeatable</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Results: Random Forest finds failures best (PR-AUC 0.915)</a:t>
            </a:r>
            <a:endParaRPr lang="en-US" sz="3200" dirty="0"/>
          </a:p>
        </p:txBody>
      </p:sp>
      <p:sp>
        <p:nvSpPr>
          <p:cNvPr id="3" name="PR card"/>
          <p:cNvSpPr/>
          <p:nvPr/>
        </p:nvSpPr>
        <p:spPr>
          <a:xfrm>
            <a:off x="548640" y="1325880"/>
            <a:ext cx="4343400" cy="4434840"/>
          </a:xfrm>
          <a:prstGeom prst="roundRect">
            <a:avLst>
              <a:gd name="adj" fmla="val 2526"/>
            </a:avLst>
          </a:prstGeom>
          <a:solidFill>
            <a:schemeClr val="bg1"/>
          </a:solidFill>
          <a:ln w="9525">
            <a:solidFill>
              <a:srgbClr val="DCE3EC"/>
            </a:solidFill>
            <a:prstDash val="solid"/>
          </a:ln>
          <a:effectLst>
            <a:outerShdw sx="100000" sy="100000" kx="0" ky="0" algn="bl" rotWithShape="0" blurRad="127000" dist="25400" dir="5400000">
              <a:srgbClr val="0E1A2B">
                <a:alpha val="12000"/>
              </a:srgbClr>
            </a:outerShdw>
          </a:effectLst>
        </p:spPr>
      </p:sp>
      <p:graphicFrame>
        <p:nvGraphicFramePr>
          <p:cNvPr id="4" name="PR curve chart" descr=""/>
          <p:cNvGraphicFramePr/>
          <p:nvPr/>
        </p:nvGraphicFramePr>
        <p:xfrm>
          <a:off x="640080" y="1417320"/>
          <a:ext cx="4160520" cy="4251960"/>
        </p:xfrm>
        <a:graphic xmlns:a="http://schemas.openxmlformats.org/drawingml/2006/main">
          <a:graphicData uri="http://schemas.openxmlformats.org/drawingml/2006/chart">
            <c:chart xmlns:c="http://schemas.openxmlformats.org/drawingml/2006/chart" r:id="rId1"/>
          </a:graphicData>
        </a:graphic>
      </p:graphicFrame>
      <p:sp>
        <p:nvSpPr>
          <p:cNvPr id="5" name="ROC card"/>
          <p:cNvSpPr/>
          <p:nvPr/>
        </p:nvSpPr>
        <p:spPr>
          <a:xfrm>
            <a:off x="5120640" y="1325880"/>
            <a:ext cx="3886200" cy="4434840"/>
          </a:xfrm>
          <a:prstGeom prst="roundRect">
            <a:avLst>
              <a:gd name="adj" fmla="val 2824"/>
            </a:avLst>
          </a:prstGeom>
          <a:solidFill>
            <a:schemeClr val="bg1"/>
          </a:solidFill>
          <a:ln w="9525">
            <a:solidFill>
              <a:srgbClr val="DCE3EC"/>
            </a:solidFill>
            <a:prstDash val="solid"/>
          </a:ln>
          <a:effectLst>
            <a:outerShdw sx="100000" sy="100000" kx="0" ky="0" algn="bl" rotWithShape="0" blurRad="127000" dist="25400" dir="5400000">
              <a:srgbClr val="0E1A2B">
                <a:alpha val="12000"/>
              </a:srgbClr>
            </a:outerShdw>
          </a:effectLst>
        </p:spPr>
      </p:sp>
      <p:graphicFrame>
        <p:nvGraphicFramePr>
          <p:cNvPr id="6" name="ROC curve chart" descr=""/>
          <p:cNvGraphicFramePr/>
          <p:nvPr/>
        </p:nvGraphicFramePr>
        <p:xfrm>
          <a:off x="5212080" y="1417320"/>
          <a:ext cx="3703320" cy="4251960"/>
        </p:xfrm>
        <a:graphic xmlns:a="http://schemas.openxmlformats.org/drawingml/2006/main">
          <a:graphicData uri="http://schemas.openxmlformats.org/drawingml/2006/chart">
            <c:chart xmlns:c="http://schemas.openxmlformats.org/drawingml/2006/chart" r:id="rId2"/>
          </a:graphicData>
        </a:graphic>
      </p:graphicFrame>
      <p:sp>
        <p:nvSpPr>
          <p:cNvPr id="7" name="KPI 1 card"/>
          <p:cNvSpPr/>
          <p:nvPr/>
        </p:nvSpPr>
        <p:spPr>
          <a:xfrm>
            <a:off x="9235440" y="1325880"/>
            <a:ext cx="2423160" cy="1371600"/>
          </a:xfrm>
          <a:prstGeom prst="roundRect">
            <a:avLst>
              <a:gd name="adj" fmla="val 8000"/>
            </a:avLst>
          </a:prstGeom>
          <a:solidFill>
            <a:schemeClr val="bg1"/>
          </a:solidFill>
          <a:ln w="9525">
            <a:solidFill>
              <a:srgbClr val="DCE3EC"/>
            </a:solidFill>
            <a:prstDash val="solid"/>
          </a:ln>
          <a:effectLst>
            <a:outerShdw sx="100000" sy="100000" kx="0" ky="0" algn="bl" rotWithShape="0" blurRad="127000" dist="25400" dir="5400000">
              <a:srgbClr val="0E1A2B">
                <a:alpha val="12000"/>
              </a:srgbClr>
            </a:outerShdw>
          </a:effectLst>
        </p:spPr>
      </p:sp>
      <p:sp>
        <p:nvSpPr>
          <p:cNvPr id="8" name="KPI 1 value"/>
          <p:cNvSpPr txBox="1"/>
          <p:nvPr/>
        </p:nvSpPr>
        <p:spPr>
          <a:xfrm>
            <a:off x="9418320" y="1435608"/>
            <a:ext cx="2103120" cy="566928"/>
          </a:xfrm>
          <a:prstGeom prst="rect">
            <a:avLst/>
          </a:prstGeom>
          <a:noFill/>
          <a:ln/>
        </p:spPr>
        <p:txBody>
          <a:bodyPr wrap="square" lIns="0" tIns="0" rIns="0" bIns="0" rtlCol="0" anchor="ctr"/>
          <a:lstStyle/>
          <a:p>
            <a:pPr indent="0" marL="0">
              <a:buNone/>
            </a:pPr>
            <a:r>
              <a:rPr lang="en-US" sz="3200" b="1" dirty="0">
                <a:solidFill>
                  <a:schemeClr val="accent2"/>
                </a:solidFill>
              </a:rPr>
              <a:t>89.4%</a:t>
            </a:r>
            <a:endParaRPr lang="en-US" sz="3200" dirty="0"/>
          </a:p>
        </p:txBody>
      </p:sp>
      <p:sp>
        <p:nvSpPr>
          <p:cNvPr id="9" name="KPI 1 label"/>
          <p:cNvSpPr txBox="1"/>
          <p:nvPr/>
        </p:nvSpPr>
        <p:spPr>
          <a:xfrm>
            <a:off x="9418320" y="2020824"/>
            <a:ext cx="2148840" cy="603504"/>
          </a:xfrm>
          <a:prstGeom prst="rect">
            <a:avLst/>
          </a:prstGeom>
          <a:noFill/>
          <a:ln/>
        </p:spPr>
        <p:txBody>
          <a:bodyPr wrap="square" lIns="0" tIns="0" rIns="0" bIns="0" rtlCol="0" anchor="t"/>
          <a:lstStyle/>
          <a:p>
            <a:pPr indent="0" marL="0">
              <a:buNone/>
            </a:pPr>
            <a:r>
              <a:rPr lang="en-US" sz="1400" dirty="0">
                <a:solidFill>
                  <a:schemeClr val="tx1"/>
                </a:solidFill>
              </a:rPr>
              <a:t>of failures caught</a:t>
            </a:r>
            <a:endParaRPr lang="en-US" sz="1400" dirty="0"/>
          </a:p>
          <a:p>
            <a:pPr indent="0" marL="0">
              <a:buNone/>
            </a:pPr>
            <a:r>
              <a:rPr lang="en-US" sz="1100" dirty="0">
                <a:solidFill>
                  <a:schemeClr val="accent6"/>
                </a:solidFill>
              </a:rPr>
              <a:t>recall ± 1.6%</a:t>
            </a:r>
            <a:endParaRPr lang="en-US" sz="1400" dirty="0"/>
          </a:p>
        </p:txBody>
      </p:sp>
      <p:sp>
        <p:nvSpPr>
          <p:cNvPr id="10" name="KPI 2 card"/>
          <p:cNvSpPr/>
          <p:nvPr/>
        </p:nvSpPr>
        <p:spPr>
          <a:xfrm>
            <a:off x="9235440" y="2834640"/>
            <a:ext cx="2423160" cy="1371600"/>
          </a:xfrm>
          <a:prstGeom prst="roundRect">
            <a:avLst>
              <a:gd name="adj" fmla="val 8000"/>
            </a:avLst>
          </a:prstGeom>
          <a:solidFill>
            <a:schemeClr val="bg1"/>
          </a:solidFill>
          <a:ln w="9525">
            <a:solidFill>
              <a:srgbClr val="DCE3EC"/>
            </a:solidFill>
            <a:prstDash val="solid"/>
          </a:ln>
          <a:effectLst>
            <a:outerShdw sx="100000" sy="100000" kx="0" ky="0" algn="bl" rotWithShape="0" blurRad="127000" dist="25400" dir="5400000">
              <a:srgbClr val="0E1A2B">
                <a:alpha val="12000"/>
              </a:srgbClr>
            </a:outerShdw>
          </a:effectLst>
        </p:spPr>
      </p:sp>
      <p:sp>
        <p:nvSpPr>
          <p:cNvPr id="11" name="KPI 2 value"/>
          <p:cNvSpPr txBox="1"/>
          <p:nvPr/>
        </p:nvSpPr>
        <p:spPr>
          <a:xfrm>
            <a:off x="9418320" y="2944368"/>
            <a:ext cx="2103120" cy="566928"/>
          </a:xfrm>
          <a:prstGeom prst="rect">
            <a:avLst/>
          </a:prstGeom>
          <a:noFill/>
          <a:ln/>
        </p:spPr>
        <p:txBody>
          <a:bodyPr wrap="square" lIns="0" tIns="0" rIns="0" bIns="0" rtlCol="0" anchor="ctr"/>
          <a:lstStyle/>
          <a:p>
            <a:pPr indent="0" marL="0">
              <a:buNone/>
            </a:pPr>
            <a:r>
              <a:rPr lang="en-US" sz="3200" b="1" dirty="0">
                <a:solidFill>
                  <a:schemeClr val="tx1"/>
                </a:solidFill>
              </a:rPr>
              <a:t>52.2%</a:t>
            </a:r>
            <a:endParaRPr lang="en-US" sz="3200" dirty="0"/>
          </a:p>
        </p:txBody>
      </p:sp>
      <p:sp>
        <p:nvSpPr>
          <p:cNvPr id="12" name="KPI 2 label"/>
          <p:cNvSpPr txBox="1"/>
          <p:nvPr/>
        </p:nvSpPr>
        <p:spPr>
          <a:xfrm>
            <a:off x="9418320" y="3529584"/>
            <a:ext cx="2148840" cy="603504"/>
          </a:xfrm>
          <a:prstGeom prst="rect">
            <a:avLst/>
          </a:prstGeom>
          <a:noFill/>
          <a:ln/>
        </p:spPr>
        <p:txBody>
          <a:bodyPr wrap="square" lIns="0" tIns="0" rIns="0" bIns="0" rtlCol="0" anchor="t"/>
          <a:lstStyle/>
          <a:p>
            <a:pPr indent="0" marL="0">
              <a:buNone/>
            </a:pPr>
            <a:r>
              <a:rPr lang="en-US" sz="1400" dirty="0">
                <a:solidFill>
                  <a:schemeClr val="tx1"/>
                </a:solidFill>
              </a:rPr>
              <a:t>of alarms are real</a:t>
            </a:r>
            <a:endParaRPr lang="en-US" sz="1400" dirty="0"/>
          </a:p>
          <a:p>
            <a:pPr indent="0" marL="0">
              <a:buNone/>
            </a:pPr>
            <a:r>
              <a:rPr lang="en-US" sz="1100" dirty="0">
                <a:solidFill>
                  <a:schemeClr val="accent6"/>
                </a:solidFill>
              </a:rPr>
              <a:t>precision ± 3.6%</a:t>
            </a:r>
            <a:endParaRPr lang="en-US" sz="1400" dirty="0"/>
          </a:p>
        </p:txBody>
      </p:sp>
      <p:sp>
        <p:nvSpPr>
          <p:cNvPr id="13" name="KPI 3 card"/>
          <p:cNvSpPr/>
          <p:nvPr/>
        </p:nvSpPr>
        <p:spPr>
          <a:xfrm>
            <a:off x="9235440" y="4343400"/>
            <a:ext cx="2423160" cy="1371600"/>
          </a:xfrm>
          <a:prstGeom prst="roundRect">
            <a:avLst>
              <a:gd name="adj" fmla="val 8000"/>
            </a:avLst>
          </a:prstGeom>
          <a:solidFill>
            <a:schemeClr val="bg1"/>
          </a:solidFill>
          <a:ln w="9525">
            <a:solidFill>
              <a:srgbClr val="DCE3EC"/>
            </a:solidFill>
            <a:prstDash val="solid"/>
          </a:ln>
          <a:effectLst>
            <a:outerShdw sx="100000" sy="100000" kx="0" ky="0" algn="bl" rotWithShape="0" blurRad="127000" dist="25400" dir="5400000">
              <a:srgbClr val="0E1A2B">
                <a:alpha val="12000"/>
              </a:srgbClr>
            </a:outerShdw>
          </a:effectLst>
        </p:spPr>
      </p:sp>
      <p:sp>
        <p:nvSpPr>
          <p:cNvPr id="14" name="KPI 3 value"/>
          <p:cNvSpPr txBox="1"/>
          <p:nvPr/>
        </p:nvSpPr>
        <p:spPr>
          <a:xfrm>
            <a:off x="9418320" y="4453128"/>
            <a:ext cx="2103120" cy="566928"/>
          </a:xfrm>
          <a:prstGeom prst="rect">
            <a:avLst/>
          </a:prstGeom>
          <a:noFill/>
          <a:ln/>
        </p:spPr>
        <p:txBody>
          <a:bodyPr wrap="square" lIns="0" tIns="0" rIns="0" bIns="0" rtlCol="0" anchor="ctr"/>
          <a:lstStyle/>
          <a:p>
            <a:pPr indent="0" marL="0">
              <a:buNone/>
            </a:pPr>
            <a:r>
              <a:rPr lang="en-US" sz="3200" b="1" dirty="0">
                <a:solidFill>
                  <a:schemeClr val="accent3"/>
                </a:solidFill>
              </a:rPr>
              <a:t>+0.040</a:t>
            </a:r>
            <a:endParaRPr lang="en-US" sz="3200" dirty="0"/>
          </a:p>
        </p:txBody>
      </p:sp>
      <p:sp>
        <p:nvSpPr>
          <p:cNvPr id="15" name="KPI 3 label"/>
          <p:cNvSpPr txBox="1"/>
          <p:nvPr/>
        </p:nvSpPr>
        <p:spPr>
          <a:xfrm>
            <a:off x="9418320" y="5038344"/>
            <a:ext cx="2148840" cy="603504"/>
          </a:xfrm>
          <a:prstGeom prst="rect">
            <a:avLst/>
          </a:prstGeom>
          <a:noFill/>
          <a:ln/>
        </p:spPr>
        <p:txBody>
          <a:bodyPr wrap="square" lIns="0" tIns="0" rIns="0" bIns="0" rtlCol="0" anchor="t"/>
          <a:lstStyle/>
          <a:p>
            <a:pPr indent="0" marL="0">
              <a:buNone/>
            </a:pPr>
            <a:r>
              <a:rPr lang="en-US" sz="1400" dirty="0">
                <a:solidFill>
                  <a:schemeClr val="tx1"/>
                </a:solidFill>
              </a:rPr>
              <a:t>better than XGBoost</a:t>
            </a:r>
            <a:endParaRPr lang="en-US" sz="1400" dirty="0"/>
          </a:p>
          <a:p>
            <a:pPr indent="0" marL="0">
              <a:buNone/>
            </a:pPr>
            <a:r>
              <a:rPr lang="en-US" sz="1100" dirty="0">
                <a:solidFill>
                  <a:schemeClr val="accent6"/>
                </a:solidFill>
              </a:rPr>
              <a:t>won all 5 tests</a:t>
            </a:r>
            <a:endParaRPr lang="en-US" sz="1400" dirty="0"/>
          </a:p>
        </p:txBody>
      </p:sp>
      <p:sp>
        <p:nvSpPr>
          <p:cNvPr id="16" name="Results note"/>
          <p:cNvSpPr txBox="1"/>
          <p:nvPr/>
        </p:nvSpPr>
        <p:spPr>
          <a:xfrm>
            <a:off x="548640" y="5897880"/>
            <a:ext cx="11109960" cy="411480"/>
          </a:xfrm>
          <a:prstGeom prst="rect">
            <a:avLst/>
          </a:prstGeom>
          <a:noFill/>
          <a:ln/>
        </p:spPr>
        <p:txBody>
          <a:bodyPr wrap="square" lIns="0" tIns="0" rIns="0" bIns="0" rtlCol="0" anchor="t"/>
          <a:lstStyle/>
          <a:p>
            <a:pPr indent="0" marL="0">
              <a:buNone/>
            </a:pPr>
            <a:r>
              <a:rPr lang="en-US" sz="1100" dirty="0">
                <a:solidFill>
                  <a:schemeClr val="accent6"/>
                </a:solidFill>
              </a:rPr>
              <a:t>Higher is better on both charts. Every prediction comes from a model that never saw that run. Random guessing would score 0.034. Alarm level 0.056, set to catch about 9 in 10 failures.</a:t>
            </a:r>
            <a:endParaRPr lang="en-US" sz="11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Summary: accurate, explainable and physically sound</a:t>
            </a:r>
            <a:endParaRPr lang="en-US" sz="3200" dirty="0"/>
          </a:p>
        </p:txBody>
      </p:sp>
      <p:sp>
        <p:nvSpPr>
          <p:cNvPr id="3" name="Takeaway 1 circle"/>
          <p:cNvSpPr/>
          <p:nvPr/>
        </p:nvSpPr>
        <p:spPr>
          <a:xfrm>
            <a:off x="548640" y="1417320"/>
            <a:ext cx="621792" cy="621792"/>
          </a:xfrm>
          <a:prstGeom prst="ellipse">
            <a:avLst/>
          </a:prstGeom>
          <a:solidFill>
            <a:schemeClr val="accent2"/>
          </a:solidFill>
          <a:ln/>
        </p:spPr>
      </p:sp>
      <p:pic>
        <p:nvPicPr>
          <p:cNvPr id="4" name="Takeaway 1 icon" descr="preencoded.png">    </p:cNvPr>
          <p:cNvPicPr>
            <a:picLocks noChangeAspect="1"/>
          </p:cNvPicPr>
          <p:nvPr/>
        </p:nvPicPr>
        <p:blipFill>
          <a:blip r:embed="rId1"/>
          <a:stretch>
            <a:fillRect/>
          </a:stretch>
        </p:blipFill>
        <p:spPr>
          <a:xfrm>
            <a:off x="710306" y="1578986"/>
            <a:ext cx="298460" cy="298460"/>
          </a:xfrm>
          <a:prstGeom prst="rect">
            <a:avLst/>
          </a:prstGeom>
        </p:spPr>
      </p:pic>
      <p:sp>
        <p:nvSpPr>
          <p:cNvPr id="5" name="Takeaway 1 text"/>
          <p:cNvSpPr txBox="1"/>
          <p:nvPr/>
        </p:nvSpPr>
        <p:spPr>
          <a:xfrm>
            <a:off x="1417320" y="1371600"/>
            <a:ext cx="5486400" cy="1051560"/>
          </a:xfrm>
          <a:prstGeom prst="rect">
            <a:avLst/>
          </a:prstGeom>
          <a:noFill/>
          <a:ln/>
        </p:spPr>
        <p:txBody>
          <a:bodyPr wrap="square" lIns="0" tIns="0" rIns="0" bIns="0" rtlCol="0" anchor="t"/>
          <a:lstStyle/>
          <a:p>
            <a:pPr indent="0" marL="0">
              <a:buNone/>
            </a:pPr>
            <a:r>
              <a:rPr lang="en-US" sz="1700" b="1" dirty="0">
                <a:solidFill>
                  <a:schemeClr val="tx1"/>
                </a:solidFill>
              </a:rPr>
              <a:t>Reliable prediction</a:t>
            </a:r>
            <a:endParaRPr lang="en-US" sz="1700" dirty="0"/>
          </a:p>
          <a:p>
            <a:pPr indent="0" marL="0">
              <a:buNone/>
            </a:pPr>
            <a:r>
              <a:rPr lang="en-US" sz="1400" dirty="0">
                <a:solidFill>
                  <a:schemeClr val="accent6"/>
                </a:solidFill>
              </a:rPr>
              <a:t>Score 0.915 out of 1 (guessing: 0.034); catches about 9 in 10 failures.</a:t>
            </a:r>
            <a:endParaRPr lang="en-US" sz="1700" dirty="0"/>
          </a:p>
        </p:txBody>
      </p:sp>
      <p:sp>
        <p:nvSpPr>
          <p:cNvPr id="6" name="Takeaway 2 circle"/>
          <p:cNvSpPr/>
          <p:nvPr/>
        </p:nvSpPr>
        <p:spPr>
          <a:xfrm>
            <a:off x="548640" y="2606040"/>
            <a:ext cx="621792" cy="621792"/>
          </a:xfrm>
          <a:prstGeom prst="ellipse">
            <a:avLst/>
          </a:prstGeom>
          <a:solidFill>
            <a:schemeClr val="accent1"/>
          </a:solidFill>
          <a:ln/>
        </p:spPr>
      </p:sp>
      <p:pic>
        <p:nvPicPr>
          <p:cNvPr id="7" name="Takeaway 2 icon" descr="preencoded.png">    </p:cNvPr>
          <p:cNvPicPr>
            <a:picLocks noChangeAspect="1"/>
          </p:cNvPicPr>
          <p:nvPr/>
        </p:nvPicPr>
        <p:blipFill>
          <a:blip r:embed="rId2"/>
          <a:stretch>
            <a:fillRect/>
          </a:stretch>
        </p:blipFill>
        <p:spPr>
          <a:xfrm>
            <a:off x="710306" y="2767706"/>
            <a:ext cx="298460" cy="298460"/>
          </a:xfrm>
          <a:prstGeom prst="rect">
            <a:avLst/>
          </a:prstGeom>
        </p:spPr>
      </p:pic>
      <p:sp>
        <p:nvSpPr>
          <p:cNvPr id="8" name="Takeaway 2 text"/>
          <p:cNvSpPr txBox="1"/>
          <p:nvPr/>
        </p:nvSpPr>
        <p:spPr>
          <a:xfrm>
            <a:off x="1417320" y="2560320"/>
            <a:ext cx="5486400" cy="1051560"/>
          </a:xfrm>
          <a:prstGeom prst="rect">
            <a:avLst/>
          </a:prstGeom>
          <a:noFill/>
          <a:ln/>
        </p:spPr>
        <p:txBody>
          <a:bodyPr wrap="square" lIns="0" tIns="0" rIns="0" bIns="0" rtlCol="0" anchor="t"/>
          <a:lstStyle/>
          <a:p>
            <a:pPr indent="0" marL="0">
              <a:buNone/>
            </a:pPr>
            <a:r>
              <a:rPr lang="en-US" sz="1700" b="1" dirty="0">
                <a:solidFill>
                  <a:schemeClr val="tx1"/>
                </a:solidFill>
              </a:rPr>
              <a:t>Physics features matter</a:t>
            </a:r>
            <a:endParaRPr lang="en-US" sz="1700" dirty="0"/>
          </a:p>
          <a:p>
            <a:pPr indent="0" marL="0">
              <a:buNone/>
            </a:pPr>
            <a:r>
              <a:rPr lang="en-US" sz="1400" dirty="0">
                <a:solidFill>
                  <a:schemeClr val="accent6"/>
                </a:solidFill>
              </a:rPr>
              <a:t>Power, temperature gap and wear × torque raised the score by 0.08–0.14.</a:t>
            </a:r>
            <a:endParaRPr lang="en-US" sz="1700" dirty="0"/>
          </a:p>
        </p:txBody>
      </p:sp>
      <p:sp>
        <p:nvSpPr>
          <p:cNvPr id="9" name="Takeaway 3 circle"/>
          <p:cNvSpPr/>
          <p:nvPr/>
        </p:nvSpPr>
        <p:spPr>
          <a:xfrm>
            <a:off x="548640" y="3794760"/>
            <a:ext cx="621792" cy="621792"/>
          </a:xfrm>
          <a:prstGeom prst="ellipse">
            <a:avLst/>
          </a:prstGeom>
          <a:solidFill>
            <a:schemeClr val="accent3"/>
          </a:solidFill>
          <a:ln/>
        </p:spPr>
      </p:sp>
      <p:pic>
        <p:nvPicPr>
          <p:cNvPr id="10" name="Takeaway 3 icon" descr="preencoded.png">    </p:cNvPr>
          <p:cNvPicPr>
            <a:picLocks noChangeAspect="1"/>
          </p:cNvPicPr>
          <p:nvPr/>
        </p:nvPicPr>
        <p:blipFill>
          <a:blip r:embed="rId3"/>
          <a:stretch>
            <a:fillRect/>
          </a:stretch>
        </p:blipFill>
        <p:spPr>
          <a:xfrm>
            <a:off x="710306" y="3956426"/>
            <a:ext cx="298460" cy="298460"/>
          </a:xfrm>
          <a:prstGeom prst="rect">
            <a:avLst/>
          </a:prstGeom>
        </p:spPr>
      </p:pic>
      <p:sp>
        <p:nvSpPr>
          <p:cNvPr id="11" name="Takeaway 3 text"/>
          <p:cNvSpPr txBox="1"/>
          <p:nvPr/>
        </p:nvSpPr>
        <p:spPr>
          <a:xfrm>
            <a:off x="1417320" y="3749040"/>
            <a:ext cx="5486400" cy="1051560"/>
          </a:xfrm>
          <a:prstGeom prst="rect">
            <a:avLst/>
          </a:prstGeom>
          <a:noFill/>
          <a:ln/>
        </p:spPr>
        <p:txBody>
          <a:bodyPr wrap="square" lIns="0" tIns="0" rIns="0" bIns="0" rtlCol="0" anchor="t"/>
          <a:lstStyle/>
          <a:p>
            <a:pPr indent="0" marL="0">
              <a:buNone/>
            </a:pPr>
            <a:r>
              <a:rPr lang="en-US" sz="1700" b="1" dirty="0">
                <a:solidFill>
                  <a:schemeClr val="tx1"/>
                </a:solidFill>
              </a:rPr>
              <a:t>Honest evaluation</a:t>
            </a:r>
            <a:endParaRPr lang="en-US" sz="1700" dirty="0"/>
          </a:p>
          <a:p>
            <a:pPr indent="0" marL="0">
              <a:buNone/>
            </a:pPr>
            <a:r>
              <a:rPr lang="en-US" sz="1400" dirty="0">
                <a:solidFill>
                  <a:schemeClr val="accent6"/>
                </a:solidFill>
              </a:rPr>
              <a:t>Always tested on unseen data. A careless setup would have faked 0.999.</a:t>
            </a:r>
            <a:endParaRPr lang="en-US" sz="1700" dirty="0"/>
          </a:p>
        </p:txBody>
      </p:sp>
      <p:sp>
        <p:nvSpPr>
          <p:cNvPr id="12" name="Takeaway 4 circle"/>
          <p:cNvSpPr/>
          <p:nvPr/>
        </p:nvSpPr>
        <p:spPr>
          <a:xfrm>
            <a:off x="548640" y="4983480"/>
            <a:ext cx="621792" cy="621792"/>
          </a:xfrm>
          <a:prstGeom prst="ellipse">
            <a:avLst/>
          </a:prstGeom>
          <a:solidFill>
            <a:schemeClr val="accent6"/>
          </a:solidFill>
          <a:ln/>
        </p:spPr>
      </p:sp>
      <p:pic>
        <p:nvPicPr>
          <p:cNvPr id="13" name="Takeaway 4 icon" descr="preencoded.png">    </p:cNvPr>
          <p:cNvPicPr>
            <a:picLocks noChangeAspect="1"/>
          </p:cNvPicPr>
          <p:nvPr/>
        </p:nvPicPr>
        <p:blipFill>
          <a:blip r:embed="rId4"/>
          <a:stretch>
            <a:fillRect/>
          </a:stretch>
        </p:blipFill>
        <p:spPr>
          <a:xfrm>
            <a:off x="710306" y="5145146"/>
            <a:ext cx="298460" cy="298460"/>
          </a:xfrm>
          <a:prstGeom prst="rect">
            <a:avLst/>
          </a:prstGeom>
        </p:spPr>
      </p:pic>
      <p:sp>
        <p:nvSpPr>
          <p:cNvPr id="14" name="Takeaway 4 text"/>
          <p:cNvSpPr txBox="1"/>
          <p:nvPr/>
        </p:nvSpPr>
        <p:spPr>
          <a:xfrm>
            <a:off x="1417320" y="4937760"/>
            <a:ext cx="5486400" cy="1051560"/>
          </a:xfrm>
          <a:prstGeom prst="rect">
            <a:avLst/>
          </a:prstGeom>
          <a:noFill/>
          <a:ln/>
        </p:spPr>
        <p:txBody>
          <a:bodyPr wrap="square" lIns="0" tIns="0" rIns="0" bIns="0" rtlCol="0" anchor="t"/>
          <a:lstStyle/>
          <a:p>
            <a:pPr indent="0" marL="0">
              <a:buNone/>
            </a:pPr>
            <a:r>
              <a:rPr lang="en-US" sz="1700" b="1" dirty="0">
                <a:solidFill>
                  <a:schemeClr val="tx1"/>
                </a:solidFill>
              </a:rPr>
              <a:t>Explains itself</a:t>
            </a:r>
            <a:endParaRPr lang="en-US" sz="1700" dirty="0"/>
          </a:p>
          <a:p>
            <a:pPr indent="0" marL="0">
              <a:buNone/>
            </a:pPr>
            <a:r>
              <a:rPr lang="en-US" sz="1400" dirty="0">
                <a:solidFill>
                  <a:schemeClr val="accent6"/>
                </a:solidFill>
              </a:rPr>
              <a:t>Its explanations (SHAP) match the machine's real failure rules.</a:t>
            </a:r>
            <a:endParaRPr lang="en-US" sz="1700" dirty="0"/>
          </a:p>
        </p:txBody>
      </p:sp>
      <p:sp>
        <p:nvSpPr>
          <p:cNvPr id="15" name="Window card"/>
          <p:cNvSpPr/>
          <p:nvPr/>
        </p:nvSpPr>
        <p:spPr>
          <a:xfrm>
            <a:off x="7178040" y="1325880"/>
            <a:ext cx="4480560" cy="4846320"/>
          </a:xfrm>
          <a:prstGeom prst="roundRect">
            <a:avLst>
              <a:gd name="adj" fmla="val 2857"/>
            </a:avLst>
          </a:prstGeom>
          <a:solidFill>
            <a:schemeClr val="tx1"/>
          </a:solidFill>
          <a:ln/>
          <a:effectLst>
            <a:outerShdw sx="100000" sy="100000" kx="0" ky="0" algn="bl" rotWithShape="0" blurRad="127000" dist="25400" dir="5400000">
              <a:srgbClr val="0E1A2B">
                <a:alpha val="12000"/>
              </a:srgbClr>
            </a:outerShdw>
          </a:effectLst>
        </p:spPr>
      </p:sp>
      <p:sp>
        <p:nvSpPr>
          <p:cNvPr id="16" name="Window header"/>
          <p:cNvSpPr txBox="1"/>
          <p:nvPr/>
        </p:nvSpPr>
        <p:spPr>
          <a:xfrm>
            <a:off x="7498080" y="1554480"/>
            <a:ext cx="3931920" cy="411480"/>
          </a:xfrm>
          <a:prstGeom prst="rect">
            <a:avLst/>
          </a:prstGeom>
          <a:noFill/>
          <a:ln/>
        </p:spPr>
        <p:txBody>
          <a:bodyPr wrap="square" lIns="0" tIns="0" rIns="0" bIns="0" rtlCol="0" anchor="ctr"/>
          <a:lstStyle/>
          <a:p>
            <a:pPr indent="0" marL="0">
              <a:buNone/>
            </a:pPr>
            <a:r>
              <a:rPr lang="en-US" sz="1900" b="1" dirty="0">
                <a:solidFill>
                  <a:schemeClr val="bg1"/>
                </a:solidFill>
              </a:rPr>
              <a:t>Recommended operating window</a:t>
            </a:r>
            <a:endParaRPr lang="en-US" sz="1900" dirty="0"/>
          </a:p>
        </p:txBody>
      </p:sp>
      <p:sp>
        <p:nvSpPr>
          <p:cNvPr id="17" name="Window item 1"/>
          <p:cNvSpPr txBox="1"/>
          <p:nvPr/>
        </p:nvSpPr>
        <p:spPr>
          <a:xfrm>
            <a:off x="7498080" y="2148840"/>
            <a:ext cx="3931920" cy="822960"/>
          </a:xfrm>
          <a:prstGeom prst="rect">
            <a:avLst/>
          </a:prstGeom>
          <a:noFill/>
          <a:ln/>
        </p:spPr>
        <p:txBody>
          <a:bodyPr wrap="square" lIns="0" tIns="0" rIns="0" bIns="0" rtlCol="0" anchor="t"/>
          <a:lstStyle/>
          <a:p>
            <a:pPr indent="0" marL="0">
              <a:buNone/>
            </a:pPr>
            <a:r>
              <a:rPr lang="en-US" sz="2400" b="1" dirty="0">
                <a:solidFill>
                  <a:schemeClr val="accent2"/>
                </a:solidFill>
              </a:rPr>
              <a:t>4.75 – 8 kW</a:t>
            </a:r>
            <a:endParaRPr lang="en-US" sz="2400" dirty="0"/>
          </a:p>
          <a:p>
            <a:pPr indent="0" marL="0">
              <a:buNone/>
            </a:pPr>
            <a:r>
              <a:rPr lang="en-US" sz="1300" dirty="0">
                <a:solidFill>
                  <a:schemeClr val="accent5"/>
                </a:solidFill>
              </a:rPr>
              <a:t>power band to stay inside</a:t>
            </a:r>
            <a:endParaRPr lang="en-US" sz="2400" dirty="0"/>
          </a:p>
        </p:txBody>
      </p:sp>
      <p:sp>
        <p:nvSpPr>
          <p:cNvPr id="18" name="Window item 2"/>
          <p:cNvSpPr txBox="1"/>
          <p:nvPr/>
        </p:nvSpPr>
        <p:spPr>
          <a:xfrm>
            <a:off x="7498080" y="3044952"/>
            <a:ext cx="3931920" cy="822960"/>
          </a:xfrm>
          <a:prstGeom prst="rect">
            <a:avLst/>
          </a:prstGeom>
          <a:noFill/>
          <a:ln/>
        </p:spPr>
        <p:txBody>
          <a:bodyPr wrap="square" lIns="0" tIns="0" rIns="0" bIns="0" rtlCol="0" anchor="t"/>
          <a:lstStyle/>
          <a:p>
            <a:pPr indent="0" marL="0">
              <a:buNone/>
            </a:pPr>
            <a:r>
              <a:rPr lang="en-US" sz="2400" b="1" dirty="0">
                <a:solidFill>
                  <a:schemeClr val="accent2"/>
                </a:solidFill>
              </a:rPr>
              <a:t>&lt; 200 min</a:t>
            </a:r>
            <a:endParaRPr lang="en-US" sz="2400" dirty="0"/>
          </a:p>
          <a:p>
            <a:pPr indent="0" marL="0">
              <a:buNone/>
            </a:pPr>
            <a:r>
              <a:rPr lang="en-US" sz="1300" dirty="0">
                <a:solidFill>
                  <a:schemeClr val="accent5"/>
                </a:solidFill>
              </a:rPr>
              <a:t>tool wear: change the tool before this</a:t>
            </a:r>
            <a:endParaRPr lang="en-US" sz="2400" dirty="0"/>
          </a:p>
        </p:txBody>
      </p:sp>
      <p:sp>
        <p:nvSpPr>
          <p:cNvPr id="19" name="Window item 3"/>
          <p:cNvSpPr txBox="1"/>
          <p:nvPr/>
        </p:nvSpPr>
        <p:spPr>
          <a:xfrm>
            <a:off x="7498080" y="3941064"/>
            <a:ext cx="3931920" cy="822960"/>
          </a:xfrm>
          <a:prstGeom prst="rect">
            <a:avLst/>
          </a:prstGeom>
          <a:noFill/>
          <a:ln/>
        </p:spPr>
        <p:txBody>
          <a:bodyPr wrap="square" lIns="0" tIns="0" rIns="0" bIns="0" rtlCol="0" anchor="t"/>
          <a:lstStyle/>
          <a:p>
            <a:pPr indent="0" marL="0">
              <a:buNone/>
            </a:pPr>
            <a:r>
              <a:rPr lang="en-US" sz="2400" b="1" dirty="0">
                <a:solidFill>
                  <a:schemeClr val="accent2"/>
                </a:solidFill>
              </a:rPr>
              <a:t>≤ 54 Nm</a:t>
            </a:r>
            <a:endParaRPr lang="en-US" sz="2400" dirty="0"/>
          </a:p>
          <a:p>
            <a:pPr indent="0" marL="0">
              <a:buNone/>
            </a:pPr>
            <a:r>
              <a:rPr lang="en-US" sz="1300" dirty="0">
                <a:solidFill>
                  <a:schemeClr val="accent5"/>
                </a:solidFill>
              </a:rPr>
              <a:t>max torque (58.5 Nm for Type M)</a:t>
            </a:r>
            <a:endParaRPr lang="en-US" sz="2400" dirty="0"/>
          </a:p>
        </p:txBody>
      </p:sp>
      <p:sp>
        <p:nvSpPr>
          <p:cNvPr id="20" name="Window item 4"/>
          <p:cNvSpPr txBox="1"/>
          <p:nvPr/>
        </p:nvSpPr>
        <p:spPr>
          <a:xfrm>
            <a:off x="7498080" y="4837176"/>
            <a:ext cx="3931920" cy="822960"/>
          </a:xfrm>
          <a:prstGeom prst="rect">
            <a:avLst/>
          </a:prstGeom>
          <a:noFill/>
          <a:ln/>
        </p:spPr>
        <p:txBody>
          <a:bodyPr wrap="square" lIns="0" tIns="0" rIns="0" bIns="0" rtlCol="0" anchor="t"/>
          <a:lstStyle/>
          <a:p>
            <a:pPr indent="0" marL="0">
              <a:buNone/>
            </a:pPr>
            <a:r>
              <a:rPr lang="en-US" sz="2400" b="1" dirty="0">
                <a:solidFill>
                  <a:schemeClr val="accent2"/>
                </a:solidFill>
              </a:rPr>
              <a:t>≥ 1,390 rpm</a:t>
            </a:r>
            <a:endParaRPr lang="en-US" sz="2400" dirty="0"/>
          </a:p>
          <a:p>
            <a:pPr indent="0" marL="0">
              <a:buNone/>
            </a:pPr>
            <a:r>
              <a:rPr lang="en-US" sz="1300" dirty="0">
                <a:solidFill>
                  <a:schemeClr val="accent5"/>
                </a:solidFill>
              </a:rPr>
              <a:t>minimum speed when the temperature gap is below 8.6 K</a:t>
            </a:r>
            <a:endParaRPr lang="en-US" sz="2400" dirty="0"/>
          </a:p>
        </p:txBody>
      </p:sp>
      <p:sp>
        <p:nvSpPr>
          <p:cNvPr id="21" name="Dashboard link"/>
          <p:cNvSpPr txBox="1"/>
          <p:nvPr/>
        </p:nvSpPr>
        <p:spPr>
          <a:xfrm>
            <a:off x="7498080" y="5532120"/>
            <a:ext cx="4023360" cy="548640"/>
          </a:xfrm>
          <a:prstGeom prst="rect">
            <a:avLst/>
          </a:prstGeom>
          <a:noFill/>
          <a:ln/>
        </p:spPr>
        <p:txBody>
          <a:bodyPr wrap="square" lIns="0" tIns="0" rIns="0" bIns="0" rtlCol="0" anchor="t"/>
          <a:lstStyle/>
          <a:p>
            <a:pPr indent="0" marL="0">
              <a:buNone/>
            </a:pPr>
            <a:r>
              <a:rPr lang="en-US" sz="1200" i="1" dirty="0">
                <a:solidFill>
                  <a:schemeClr val="accent5"/>
                </a:solidFill>
              </a:rPr>
              <a:t>Try it live:</a:t>
            </a:r>
            <a:endParaRPr lang="en-US" sz="1200" dirty="0"/>
          </a:p>
          <a:p>
            <a:pPr indent="0" marL="0">
              <a:buNone/>
            </a:pPr>
            <a:r>
              <a:rPr lang="en-US" sz="1200" b="1" u="sng" dirty="0">
                <a:solidFill>
                  <a:schemeClr val="accent2"/>
                </a:solidFill>
                <a:hlinkClick r:id="rId5" invalidUrl="" action="" tgtFrame="" tooltip="Open the live dashboard" history="1" highlightClick="0" endSnd="0">
                  <a:extLst>
                    <a:ext uri="{A12FA001-AC4F-418D-AE19-62706E023703}">
                      <ahyp:hlinkClr xmlns:ahyp="http://schemas.microsoft.com/office/drawing/2018/hyperlinkcolor" val="tx"/>
                    </a:ext>
                  </a:extLst>
                </a:hlinkClick>
              </a:rPr>
              <a:t>ai4i-machine-failure-prediction.streamlit.app</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85800" y="2011680"/>
            <a:ext cx="7315200" cy="1280160"/>
          </a:xfrm>
          <a:prstGeom prst="rect">
            <a:avLst/>
          </a:prstGeom>
          <a:noFill/>
          <a:ln/>
        </p:spPr>
        <p:txBody>
          <a:bodyPr wrap="square" lIns="0" tIns="0" rIns="0" bIns="0" rtlCol="0" anchor="ctr"/>
          <a:lstStyle/>
          <a:p>
            <a:pPr algn="l" indent="0" marL="0">
              <a:buNone/>
            </a:pPr>
            <a:r>
              <a:rPr lang="en-US" sz="6600" b="1" dirty="0">
                <a:solidFill>
                  <a:schemeClr val="bg1"/>
                </a:solidFill>
              </a:rPr>
              <a:t>Thank you</a:t>
            </a:r>
            <a:endParaRPr lang="en-US" sz="6600" dirty="0"/>
          </a:p>
        </p:txBody>
      </p:sp>
      <p:sp>
        <p:nvSpPr>
          <p:cNvPr id="3" name="Questions"/>
          <p:cNvSpPr txBox="1"/>
          <p:nvPr/>
        </p:nvSpPr>
        <p:spPr>
          <a:xfrm>
            <a:off x="685800" y="3337560"/>
            <a:ext cx="7315200" cy="548640"/>
          </a:xfrm>
          <a:prstGeom prst="rect">
            <a:avLst/>
          </a:prstGeom>
          <a:noFill/>
          <a:ln/>
        </p:spPr>
        <p:txBody>
          <a:bodyPr wrap="square" lIns="0" tIns="0" rIns="0" bIns="0" rtlCol="0" anchor="ctr"/>
          <a:lstStyle/>
          <a:p>
            <a:pPr indent="0" marL="0">
              <a:buNone/>
            </a:pPr>
            <a:r>
              <a:rPr lang="en-US" sz="2600" dirty="0">
                <a:solidFill>
                  <a:schemeClr val="accent2"/>
                </a:solidFill>
              </a:rPr>
              <a:t>Questions?</a:t>
            </a:r>
            <a:endParaRPr lang="en-US" sz="2600" dirty="0"/>
          </a:p>
        </p:txBody>
      </p:sp>
      <p:sp>
        <p:nvSpPr>
          <p:cNvPr id="4" name="Dashboard link"/>
          <p:cNvSpPr txBox="1"/>
          <p:nvPr/>
        </p:nvSpPr>
        <p:spPr>
          <a:xfrm>
            <a:off x="685800" y="4069080"/>
            <a:ext cx="8229600" cy="411480"/>
          </a:xfrm>
          <a:prstGeom prst="rect">
            <a:avLst/>
          </a:prstGeom>
          <a:noFill/>
          <a:ln/>
        </p:spPr>
        <p:txBody>
          <a:bodyPr wrap="square" lIns="0" tIns="0" rIns="0" bIns="0" rtlCol="0" anchor="ctr"/>
          <a:lstStyle/>
          <a:p>
            <a:pPr indent="0" marL="0">
              <a:buNone/>
            </a:pPr>
            <a:r>
              <a:rPr lang="en-US" sz="1600" dirty="0">
                <a:solidFill>
                  <a:schemeClr val="accent5"/>
                </a:solidFill>
              </a:rPr>
              <a:t>Live dashboard   </a:t>
            </a:r>
            <a:pPr indent="0" marL="0">
              <a:buNone/>
            </a:pPr>
            <a:r>
              <a:rPr lang="en-US" sz="1600" b="1" u="sng" dirty="0">
                <a:solidFill>
                  <a:schemeClr val="bg1"/>
                </a:solidFill>
                <a:hlinkClick r:id="rId1" invalidUrl="" action="" tgtFrame="" tooltip="Open the live dashboard" history="1" highlightClick="0" endSnd="0">
                  <a:extLst>
                    <a:ext uri="{A12FA001-AC4F-418D-AE19-62706E023703}">
                      <ahyp:hlinkClr xmlns:ahyp="http://schemas.microsoft.com/office/drawing/2018/hyperlinkcolor" val="tx"/>
                    </a:ext>
                  </a:extLst>
                </a:hlinkClick>
              </a:rPr>
              <a:t>ai4i-machine-failure-prediction.streamlit.app</a:t>
            </a:r>
            <a:endParaRPr lang="en-US" sz="1600" dirty="0"/>
          </a:p>
        </p:txBody>
      </p:sp>
      <p:sp>
        <p:nvSpPr>
          <p:cNvPr id="5" name="Team line"/>
          <p:cNvSpPr txBox="1"/>
          <p:nvPr/>
        </p:nvSpPr>
        <p:spPr>
          <a:xfrm>
            <a:off x="685800" y="5120640"/>
            <a:ext cx="8686800" cy="731520"/>
          </a:xfrm>
          <a:prstGeom prst="rect">
            <a:avLst/>
          </a:prstGeom>
          <a:noFill/>
          <a:ln/>
        </p:spPr>
        <p:txBody>
          <a:bodyPr wrap="square" lIns="0" tIns="0" rIns="0" bIns="0" rtlCol="0" anchor="t"/>
          <a:lstStyle/>
          <a:p>
            <a:pPr indent="0" marL="0">
              <a:buNone/>
            </a:pPr>
            <a:r>
              <a:rPr lang="en-US" sz="1400" b="1" spc="300" kern="0" dirty="0">
                <a:solidFill>
                  <a:schemeClr val="accent2"/>
                </a:solidFill>
              </a:rPr>
              <a:t>GROUP 11</a:t>
            </a:r>
            <a:endParaRPr lang="en-US" sz="1400" dirty="0"/>
          </a:p>
          <a:p>
            <a:pPr indent="0" marL="0">
              <a:buNone/>
            </a:pPr>
            <a:r>
              <a:rPr lang="en-US" sz="1400" dirty="0">
                <a:solidFill>
                  <a:schemeClr val="accent5"/>
                </a:solidFill>
              </a:rPr>
              <a:t>Muhammed Muhyudheen  ·  Mohammed Hisham Kavumpurath  ·  Athira T B  ·  Aradhana SK</a:t>
            </a:r>
            <a:endParaRPr lang="en-US" sz="1400" dirty="0"/>
          </a:p>
        </p:txBody>
      </p:sp>
    </p:spTree>
  </p:cSld>
  <p:clrMapOvr>
    <a:masterClrMapping/>
  </p:clrMapOvr>
</p:sld>
</file>

<file path=ppt/theme/theme1.xml><?xml version="1.0" encoding="utf-8"?>
<a:theme xmlns:a="http://schemas.openxmlformats.org/drawingml/2006/main" name="Industrial Night">
  <a:themeElements>
    <a:clrScheme name="Industrial Night">
      <a:dk1>
        <a:srgbClr val="0E1A2B"/>
      </a:dk1>
      <a:lt1>
        <a:srgbClr val="FFFFFF"/>
      </a:lt1>
      <a:dk2>
        <a:srgbClr val="1F3B5C"/>
      </a:dk2>
      <a:lt2>
        <a:srgbClr val="EEF3F9"/>
      </a:lt2>
      <a:accent1>
        <a:srgbClr val="2A78D6"/>
      </a:accent1>
      <a:accent2>
        <a:srgbClr val="EB6834"/>
      </a:accent2>
      <a:accent3>
        <a:srgbClr val="1BAF7A"/>
      </a:accent3>
      <a:accent4>
        <a:srgbClr val="EDA100"/>
      </a:accent4>
      <a:accent5>
        <a:srgbClr val="CADCFC"/>
      </a:accent5>
      <a:accent6>
        <a:srgbClr val="5E6B7A"/>
      </a:accent6>
      <a:hlink>
        <a:srgbClr val="2A78D6"/>
      </a:hlink>
      <a:folHlink>
        <a:srgbClr val="6250D6"/>
      </a:folHlink>
    </a:clrScheme>
    <a:fontScheme name="Industrial Nigh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Machine Failure from Process Parameters</dc:title>
  <dc:subject>PptxGenJS Presentation</dc:subject>
  <dc:creator>Group 11</dc:creator>
  <cp:lastModifiedBy>Group 11</cp:lastModifiedBy>
  <cp:revision>1</cp:revision>
  <dcterms:created xsi:type="dcterms:W3CDTF">2026-10-27T18:15:25Z</dcterms:created>
  <dcterms:modified xsi:type="dcterms:W3CDTF">2026-10-27T18:15:25Z</dcterms:modified>
</cp:coreProperties>
</file>